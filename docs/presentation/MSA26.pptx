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52ea1745c_1_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g3f52ea1745c_1_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de" sz="1200" u="none" cap="none" strike="noStrike">
                <a:solidFill>
                  <a:schemeClr val="dk1"/>
                </a:solidFill>
                <a:latin typeface="Arial"/>
                <a:ea typeface="Arial"/>
                <a:cs typeface="Arial"/>
                <a:sym typeface="Arial"/>
              </a:rPr>
              <a:t>Begrüßung. TeamBoard ist unsere Kollaborationsplattform, umgesetzt als komponentenbasiertes Microservice-System. Gruppe D: Jan Soetebeer, Maximilian Cwik, Henry Müller.</a:t>
            </a:r>
            <a:endParaRPr/>
          </a:p>
        </p:txBody>
      </p:sp>
      <p:sp>
        <p:nvSpPr>
          <p:cNvPr id="55" name="Google Shape;55;g3f52ea1745c_1_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52ea1745c_1_3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g3f52ea1745c_1_3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Kurzer Überblick über den Aufbau des Vortrags. Am Ende führen wir das laufende System vor.</a:t>
            </a:r>
            <a:endParaRPr/>
          </a:p>
        </p:txBody>
      </p:sp>
      <p:sp>
        <p:nvSpPr>
          <p:cNvPr id="83" name="Google Shape;83;g3f52ea1745c_1_3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52ea1745c_1_6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g3f52ea1745c_1_6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Überleitung in die Einleitung.</a:t>
            </a:r>
            <a:endParaRPr/>
          </a:p>
        </p:txBody>
      </p:sp>
      <p:sp>
        <p:nvSpPr>
          <p:cNvPr id="114" name="Google Shape;114;g3f52ea1745c_1_6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52ea1745c_1_7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g3f52ea1745c_1_7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Der Auftrag aus dem Lastenheft: ein Kollaborationssystem in der Liga von Trello oder Notion. Links steht, was entstehen soll. Rechts die drei Architektur-Leitfragen, die die Aufgabenstellung stellt — sie sind der rote Faden des ganzen Vortrags, und im Fazit beantworten wir sie. Wie wir den Auftrag gedeutet haben, kommt gleich im nächsten Kapitel.</a:t>
            </a:r>
            <a:endParaRPr/>
          </a:p>
        </p:txBody>
      </p:sp>
      <p:sp>
        <p:nvSpPr>
          <p:cNvPr id="126" name="Google Shape;126;g3f52ea1745c_1_7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52ea1745c_1_19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g3f52ea1745c_1_19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Überleitung: Wie haben wir die Aufgabenstellung gelesen und in Anforderungen übersetzt?</a:t>
            </a:r>
            <a:endParaRPr/>
          </a:p>
        </p:txBody>
      </p:sp>
      <p:sp>
        <p:nvSpPr>
          <p:cNvPr id="151" name="Google Shape;151;g3f52ea1745c_1_19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52ea1745c_1_206: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g3f52ea1745c_1_206: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Diese Folie ist unsere Lesart des Lastenhefts. Links steht, was gefordert ist, rechts die Konsequenz, die wir daraus gezogen haben. Der Kernsatz unten trägt den ganzen Rest des Vortrags: Wir haben bewusst in die Architektur investiert und die Oberfläche schlank gehalten.</a:t>
            </a:r>
            <a:endParaRPr/>
          </a:p>
        </p:txBody>
      </p:sp>
      <p:sp>
        <p:nvSpPr>
          <p:cNvPr id="163" name="Google Shape;163;g3f52ea1745c_1_206: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52ea1745c_1_24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g3f52ea1745c_1_24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Die funktionalen Anforderungen sind entlang der Komponenten geschnitten — jede Zeile entspricht einem Service. Die UC-Zahlen sind keine Schätzung, sondern die tatsächlich in docs/services ausformulierten Use-Cases. Für die Board Registry sind die Board-Typen als Daten modelliert, daher keine klassische UC-Liste.</a:t>
            </a:r>
            <a:endParaRPr/>
          </a:p>
        </p:txBody>
      </p:sp>
      <p:sp>
        <p:nvSpPr>
          <p:cNvPr id="198" name="Google Shape;198;g3f52ea1745c_1_24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52ea1745c_1_28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g3f52ea1745c_1_28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Wichtig: Die nichtfunktionalen Anforderungen sind bei uns keine Wunschliste, sondern direkt an die 12 verbindlichen Architekturprinzipien gekoppelt. Der Chip unten in jeder Karte nennt das Prinzip. Wer davon abweichen will, braucht ein dokumentiertes ADR — das macht die NFAs überprüfbar statt dekorativ.</a:t>
            </a:r>
            <a:endParaRPr/>
          </a:p>
        </p:txBody>
      </p:sp>
      <p:sp>
        <p:nvSpPr>
          <p:cNvPr id="248" name="Google Shape;248;g3f52ea1745c_1_28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f52ea1745c_1_35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g3f52ea1745c_1_35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Sechs repräsentative Stories, bewusst über alle Rollen verteilt: Admin, Team-Mitglied, externes System und Nutzer. Die letzte Story ist unser Alleinstellungsmerkmal: Über den MCP-Connector lässt sich TeamBoard direkt aus Claude heraus abfragen. Jede Story hat unten einen Verweis auf den Use-Case, der sie umsetzt.</a:t>
            </a:r>
            <a:endParaRPr/>
          </a:p>
        </p:txBody>
      </p:sp>
      <p:sp>
        <p:nvSpPr>
          <p:cNvPr id="312" name="Google Shape;312;g3f52ea1745c_1_35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f52ea1745c_1_38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g3f52ea1745c_1_38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Überleitung in den Kern des Vortrags: die Architektur.</a:t>
            </a:r>
            <a:endParaRPr/>
          </a:p>
        </p:txBody>
      </p:sp>
      <p:sp>
        <p:nvSpPr>
          <p:cNvPr id="344" name="Google Shape;344;g3f52ea1745c_1_38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f52ea1745c_1_45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g3f52ea1745c_1_45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317500" lvl="0" marL="457200" marR="0" rtl="0" algn="l">
              <a:spcBef>
                <a:spcPts val="0"/>
              </a:spcBef>
              <a:spcAft>
                <a:spcPts val="0"/>
              </a:spcAft>
              <a:buSzPts val="1400"/>
              <a:buChar char="●"/>
            </a:pPr>
            <a:r>
              <a:rPr lang="de"/>
              <a:t>7 Services + ein MCP Gateway </a:t>
            </a:r>
            <a:endParaRPr/>
          </a:p>
          <a:p>
            <a:pPr indent="-317500" lvl="0" marL="457200" marR="0" rtl="0" algn="l">
              <a:spcBef>
                <a:spcPts val="0"/>
              </a:spcBef>
              <a:spcAft>
                <a:spcPts val="0"/>
              </a:spcAft>
              <a:buSzPts val="1400"/>
              <a:buChar char="●"/>
            </a:pPr>
            <a:r>
              <a:rPr lang="de"/>
              <a:t>Kommunikation über RabbitMQ </a:t>
            </a:r>
            <a:endParaRPr/>
          </a:p>
          <a:p>
            <a:pPr indent="-317500" lvl="0" marL="457200" marR="0" rtl="0" algn="l">
              <a:spcBef>
                <a:spcPts val="0"/>
              </a:spcBef>
              <a:spcAft>
                <a:spcPts val="0"/>
              </a:spcAft>
              <a:buSzPts val="1400"/>
              <a:buChar char="●"/>
            </a:pPr>
            <a:r>
              <a:rPr lang="de"/>
              <a:t>DB pro Service </a:t>
            </a:r>
            <a:endParaRPr/>
          </a:p>
          <a:p>
            <a:pPr indent="-317500" lvl="0" marL="457200" marR="0" rtl="0" algn="l">
              <a:spcBef>
                <a:spcPts val="0"/>
              </a:spcBef>
              <a:spcAft>
                <a:spcPts val="0"/>
              </a:spcAft>
              <a:buSzPts val="1400"/>
              <a:buChar char="●"/>
            </a:pPr>
            <a:r>
              <a:rPr lang="de"/>
              <a:t>Caching via Redis</a:t>
            </a:r>
            <a:endParaRPr/>
          </a:p>
          <a:p>
            <a:pPr indent="-317500" lvl="0" marL="457200" marR="0" rtl="0" algn="l">
              <a:spcBef>
                <a:spcPts val="0"/>
              </a:spcBef>
              <a:spcAft>
                <a:spcPts val="0"/>
              </a:spcAft>
              <a:buSzPts val="1400"/>
              <a:buChar char="●"/>
            </a:pPr>
            <a:r>
              <a:rPr lang="de"/>
              <a:t>Auth je Service (Zero-Trust) </a:t>
            </a:r>
            <a:endParaRPr/>
          </a:p>
        </p:txBody>
      </p:sp>
      <p:sp>
        <p:nvSpPr>
          <p:cNvPr id="356" name="Google Shape;356;g3f52ea1745c_1_45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f533a38a76_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g3f533a38a76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de"/>
              <a:t>Regel (Events, entkoppelt) </a:t>
            </a:r>
            <a:endParaRPr/>
          </a:p>
          <a:p>
            <a:pPr indent="-298450" lvl="0" marL="457200" rtl="0" algn="l">
              <a:lnSpc>
                <a:spcPct val="100000"/>
              </a:lnSpc>
              <a:spcBef>
                <a:spcPts val="0"/>
              </a:spcBef>
              <a:spcAft>
                <a:spcPts val="0"/>
              </a:spcAft>
              <a:buSzPts val="1100"/>
              <a:buChar char="●"/>
            </a:pPr>
            <a:r>
              <a:rPr lang="de"/>
              <a:t>sync = Ausnahme (Rechte-Check bei Project) </a:t>
            </a:r>
            <a:endParaRPr/>
          </a:p>
          <a:p>
            <a:pPr indent="-298450" lvl="0" marL="457200" rtl="0" algn="l">
              <a:lnSpc>
                <a:spcPct val="100000"/>
              </a:lnSpc>
              <a:spcBef>
                <a:spcPts val="0"/>
              </a:spcBef>
              <a:spcAft>
                <a:spcPts val="0"/>
              </a:spcAft>
              <a:buSzPts val="1100"/>
              <a:buChar char="●"/>
            </a:pPr>
            <a:r>
              <a:rPr lang="de"/>
              <a:t> Auth = Identität (Tokens)</a:t>
            </a:r>
            <a:endParaRPr/>
          </a:p>
          <a:p>
            <a:pPr indent="-298450" lvl="0" marL="457200" rtl="0" algn="l">
              <a:lnSpc>
                <a:spcPct val="100000"/>
              </a:lnSpc>
              <a:spcBef>
                <a:spcPts val="0"/>
              </a:spcBef>
              <a:spcAft>
                <a:spcPts val="0"/>
              </a:spcAft>
              <a:buSzPts val="1100"/>
              <a:buChar char="●"/>
            </a:pPr>
            <a:r>
              <a:rPr lang="de"/>
              <a:t>Berechtigungen werden bei Projekt abgefragt</a:t>
            </a:r>
            <a:endParaRPr/>
          </a:p>
          <a:p>
            <a:pPr indent="-298450" lvl="0" marL="457200" rtl="0" algn="l">
              <a:lnSpc>
                <a:spcPct val="100000"/>
              </a:lnSpc>
              <a:spcBef>
                <a:spcPts val="0"/>
              </a:spcBef>
              <a:spcAft>
                <a:spcPts val="0"/>
              </a:spcAft>
              <a:buSzPts val="1100"/>
              <a:buChar char="●"/>
            </a:pPr>
            <a:r>
              <a:rPr lang="de"/>
              <a:t> Notification pusht per WebSocket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f533a38a76_1_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0" name="Google Shape;470;g3f533a38a76_1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de"/>
              <a:t>Board-Typen können von Usern während der Laufzeit via Rest-API definiert werden</a:t>
            </a:r>
            <a:endParaRPr/>
          </a:p>
          <a:p>
            <a:pPr indent="-298450" lvl="0" marL="457200" rtl="0" algn="l">
              <a:lnSpc>
                <a:spcPct val="100000"/>
              </a:lnSpc>
              <a:spcBef>
                <a:spcPts val="0"/>
              </a:spcBef>
              <a:spcAft>
                <a:spcPts val="0"/>
              </a:spcAft>
              <a:buSzPts val="1100"/>
              <a:buChar char="●"/>
            </a:pPr>
            <a:r>
              <a:rPr lang="de"/>
              <a:t>Die Darstellung dieser kann über vordefinierten View Typen definiert werden. (Spalten, Kalender, Timeline)</a:t>
            </a:r>
            <a:endParaRPr/>
          </a:p>
          <a:p>
            <a:pPr indent="-298450" lvl="0" marL="457200" rtl="0" algn="l">
              <a:lnSpc>
                <a:spcPct val="100000"/>
              </a:lnSpc>
              <a:spcBef>
                <a:spcPts val="0"/>
              </a:spcBef>
              <a:spcAft>
                <a:spcPts val="0"/>
              </a:spcAft>
              <a:buSzPts val="1100"/>
              <a:buChar char="●"/>
            </a:pPr>
            <a:r>
              <a:rPr lang="de"/>
              <a:t>BoardRegistry Service nimmt neue Boards definitionen an </a:t>
            </a:r>
            <a:endParaRPr/>
          </a:p>
          <a:p>
            <a:pPr indent="-298450" lvl="0" marL="457200" rtl="0" algn="l">
              <a:lnSpc>
                <a:spcPct val="100000"/>
              </a:lnSpc>
              <a:spcBef>
                <a:spcPts val="0"/>
              </a:spcBef>
              <a:spcAft>
                <a:spcPts val="0"/>
              </a:spcAft>
              <a:buSzPts val="1100"/>
              <a:buChar char="●"/>
            </a:pPr>
            <a:r>
              <a:rPr lang="de"/>
              <a:t>Project Service fragt diese von BoardRegistry an</a:t>
            </a:r>
            <a:endParaRPr/>
          </a:p>
          <a:p>
            <a:pPr indent="-298450" lvl="0" marL="457200" rtl="0" algn="l">
              <a:lnSpc>
                <a:spcPct val="100000"/>
              </a:lnSpc>
              <a:spcBef>
                <a:spcPts val="0"/>
              </a:spcBef>
              <a:spcAft>
                <a:spcPts val="0"/>
              </a:spcAft>
              <a:buSzPts val="1100"/>
              <a:buChar char="●"/>
            </a:pPr>
            <a:r>
              <a:rPr lang="de"/>
              <a:t>Aktuell limitiert durch die View-Typen. Mögliche Erweiterung ist es User definierte Views im dom zu laden. (Wäre aktuell aber sehr Sicherheitskritisch)</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f53d1e6c26_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g3f53d1e6c26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de"/>
              <a:t>Output-Adapter (event-getrieben, nach außen) </a:t>
            </a:r>
            <a:endParaRPr/>
          </a:p>
          <a:p>
            <a:pPr indent="-298450" lvl="0" marL="457200" rtl="0" algn="l">
              <a:lnSpc>
                <a:spcPct val="100000"/>
              </a:lnSpc>
              <a:spcBef>
                <a:spcPts val="0"/>
              </a:spcBef>
              <a:spcAft>
                <a:spcPts val="0"/>
              </a:spcAft>
              <a:buSzPts val="1100"/>
              <a:buChar char="●"/>
            </a:pPr>
            <a:r>
              <a:rPr lang="de"/>
              <a:t> Dienste können sich registrieren und erhalten Für sie relevante Events bei auftreten</a:t>
            </a:r>
            <a:endParaRPr/>
          </a:p>
          <a:p>
            <a:pPr indent="-298450" lvl="0" marL="457200" rtl="0" algn="l">
              <a:lnSpc>
                <a:spcPct val="100000"/>
              </a:lnSpc>
              <a:spcBef>
                <a:spcPts val="0"/>
              </a:spcBef>
              <a:spcAft>
                <a:spcPts val="0"/>
              </a:spcAft>
              <a:buSzPts val="1100"/>
              <a:buChar char="●"/>
            </a:pPr>
            <a:r>
              <a:rPr lang="de"/>
              <a:t> Webhook = erster Typ</a:t>
            </a:r>
            <a:endParaRPr/>
          </a:p>
          <a:p>
            <a:pPr indent="-298450" lvl="0" marL="457200" rtl="0" algn="l">
              <a:lnSpc>
                <a:spcPct val="100000"/>
              </a:lnSpc>
              <a:spcBef>
                <a:spcPts val="0"/>
              </a:spcBef>
              <a:spcAft>
                <a:spcPts val="0"/>
              </a:spcAft>
              <a:buSzPts val="1100"/>
              <a:buChar char="●"/>
            </a:pPr>
            <a:r>
              <a:rPr lang="de"/>
              <a:t> neuer Kanal = neues Plugin </a:t>
            </a:r>
            <a:endParaRPr/>
          </a:p>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f53e4f0dba_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7" name="Google Shape;527;g3f53e4f0dba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de"/>
              <a:t>I</a:t>
            </a:r>
            <a:r>
              <a:rPr lang="de"/>
              <a:t>nput-Adapter (anfrage-getrieben, nach innen) ·</a:t>
            </a:r>
            <a:endParaRPr/>
          </a:p>
          <a:p>
            <a:pPr indent="-298450" lvl="0" marL="457200" rtl="0" algn="l">
              <a:lnSpc>
                <a:spcPct val="100000"/>
              </a:lnSpc>
              <a:spcBef>
                <a:spcPts val="0"/>
              </a:spcBef>
              <a:spcAft>
                <a:spcPts val="0"/>
              </a:spcAft>
              <a:buSzPts val="1100"/>
              <a:buChar char="●"/>
            </a:pPr>
            <a:r>
              <a:rPr lang="de"/>
              <a:t>Tool-Call → REST,</a:t>
            </a:r>
            <a:endParaRPr/>
          </a:p>
          <a:p>
            <a:pPr indent="-298450" lvl="0" marL="457200" rtl="0" algn="l">
              <a:lnSpc>
                <a:spcPct val="100000"/>
              </a:lnSpc>
              <a:spcBef>
                <a:spcPts val="0"/>
              </a:spcBef>
              <a:spcAft>
                <a:spcPts val="0"/>
              </a:spcAft>
              <a:buSzPts val="1100"/>
              <a:buChar char="●"/>
            </a:pPr>
            <a:r>
              <a:rPr lang="de"/>
              <a:t>Personal Access Tokens anstelle von JSON Web Tokens für langlebige Auth </a:t>
            </a:r>
            <a:endParaRPr/>
          </a:p>
          <a:p>
            <a:pPr indent="-298450" lvl="0" marL="457200" rtl="0" algn="l">
              <a:lnSpc>
                <a:spcPct val="100000"/>
              </a:lnSpc>
              <a:spcBef>
                <a:spcPts val="0"/>
              </a:spcBef>
              <a:spcAft>
                <a:spcPts val="0"/>
              </a:spcAft>
              <a:buSzPts val="1100"/>
              <a:buChar char="●"/>
            </a:pPr>
            <a:r>
              <a:rPr lang="de"/>
              <a:t>Ermöglicht Interaktion von LLMs mit unserem System</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f52ea1745c_1_71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0" name="Google Shape;550;g3f52ea1745c_1_715: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Überleitung: Wie ist das System entstanden?</a:t>
            </a:r>
            <a:endParaRPr/>
          </a:p>
        </p:txBody>
      </p:sp>
      <p:sp>
        <p:nvSpPr>
          <p:cNvPr id="551" name="Google Shape;551;g3f52ea1745c_1_715: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f533a38a76_4_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2" name="Google Shape;562;g3f533a38a76_4_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de"/>
              <a:t>kurzer Zyklus je Inkrement </a:t>
            </a:r>
            <a:endParaRPr/>
          </a:p>
          <a:p>
            <a:pPr indent="-298450" lvl="0" marL="457200" rtl="0" algn="l">
              <a:lnSpc>
                <a:spcPct val="100000"/>
              </a:lnSpc>
              <a:spcBef>
                <a:spcPts val="0"/>
              </a:spcBef>
              <a:spcAft>
                <a:spcPts val="0"/>
              </a:spcAft>
              <a:buSzPts val="1100"/>
              <a:buChar char="●"/>
            </a:pPr>
            <a:r>
              <a:rPr lang="de"/>
              <a:t>Jedes feature </a:t>
            </a:r>
            <a:r>
              <a:rPr lang="de">
                <a:solidFill>
                  <a:schemeClr val="dk1"/>
                </a:solidFill>
              </a:rPr>
              <a:t>(mit claude) </a:t>
            </a:r>
            <a:r>
              <a:rPr lang="de"/>
              <a:t>planen und dokumentieren</a:t>
            </a:r>
            <a:endParaRPr/>
          </a:p>
          <a:p>
            <a:pPr indent="-298450" lvl="0" marL="457200" rtl="0" algn="l">
              <a:lnSpc>
                <a:spcPct val="100000"/>
              </a:lnSpc>
              <a:spcBef>
                <a:spcPts val="0"/>
              </a:spcBef>
              <a:spcAft>
                <a:spcPts val="0"/>
              </a:spcAft>
              <a:buSzPts val="1100"/>
              <a:buChar char="●"/>
            </a:pPr>
            <a:r>
              <a:rPr lang="de"/>
              <a:t>spec-first (Doku/ADRs/SQL) </a:t>
            </a:r>
            <a:endParaRPr/>
          </a:p>
          <a:p>
            <a:pPr indent="-298450" lvl="0" marL="457200" rtl="0" algn="l">
              <a:lnSpc>
                <a:spcPct val="100000"/>
              </a:lnSpc>
              <a:spcBef>
                <a:spcPts val="0"/>
              </a:spcBef>
              <a:spcAft>
                <a:spcPts val="0"/>
              </a:spcAft>
              <a:buSzPts val="1100"/>
              <a:buChar char="●"/>
            </a:pPr>
            <a:r>
              <a:rPr lang="de"/>
              <a:t>Danach test driven implementierung</a:t>
            </a:r>
            <a:endParaRPr/>
          </a:p>
          <a:p>
            <a:pPr indent="-298450" lvl="0" marL="457200" rtl="0" algn="l">
              <a:lnSpc>
                <a:spcPct val="100000"/>
              </a:lnSpc>
              <a:spcBef>
                <a:spcPts val="0"/>
              </a:spcBef>
              <a:spcAft>
                <a:spcPts val="0"/>
              </a:spcAft>
              <a:buSzPts val="1100"/>
              <a:buChar char="●"/>
            </a:pPr>
            <a:r>
              <a:rPr lang="de"/>
              <a:t>Doku bei abweichungen wieder aktualisieren</a:t>
            </a:r>
            <a:endParaRPr/>
          </a:p>
        </p:txBody>
      </p:sp>
      <p:sp>
        <p:nvSpPr>
          <p:cNvPr id="563" name="Google Shape;563;g3f533a38a76_4_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de"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f52ea1745c_1_86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6" name="Google Shape;586;g3f52ea1745c_1_86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304800" lvl="0" marL="457200" marR="0" rtl="0" algn="l">
              <a:spcBef>
                <a:spcPts val="0"/>
              </a:spcBef>
              <a:spcAft>
                <a:spcPts val="0"/>
              </a:spcAft>
              <a:buClr>
                <a:schemeClr val="dk1"/>
              </a:buClr>
              <a:buSzPts val="1200"/>
              <a:buChar char="●"/>
            </a:pPr>
            <a:r>
              <a:rPr lang="de" sz="1200">
                <a:solidFill>
                  <a:schemeClr val="dk1"/>
                </a:solidFill>
              </a:rPr>
              <a:t>Konsistenz über 7 Services</a:t>
            </a:r>
            <a:endParaRPr sz="1200">
              <a:solidFill>
                <a:schemeClr val="dk1"/>
              </a:solidFill>
            </a:endParaRPr>
          </a:p>
          <a:p>
            <a:pPr indent="-304800" lvl="0" marL="457200" marR="0" rtl="0" algn="l">
              <a:spcBef>
                <a:spcPts val="0"/>
              </a:spcBef>
              <a:spcAft>
                <a:spcPts val="0"/>
              </a:spcAft>
              <a:buClr>
                <a:schemeClr val="dk1"/>
              </a:buClr>
              <a:buSzPts val="1200"/>
              <a:buChar char="●"/>
            </a:pPr>
            <a:r>
              <a:rPr lang="de" sz="1200">
                <a:solidFill>
                  <a:schemeClr val="dk1"/>
                </a:solidFill>
              </a:rPr>
              <a:t>schnelle Iterationen </a:t>
            </a:r>
            <a:endParaRPr sz="1200">
              <a:solidFill>
                <a:schemeClr val="dk1"/>
              </a:solidFill>
            </a:endParaRPr>
          </a:p>
          <a:p>
            <a:pPr indent="-304800" lvl="0" marL="457200" marR="0" rtl="0" algn="l">
              <a:spcBef>
                <a:spcPts val="0"/>
              </a:spcBef>
              <a:spcAft>
                <a:spcPts val="0"/>
              </a:spcAft>
              <a:buClr>
                <a:schemeClr val="dk1"/>
              </a:buClr>
              <a:buSzPts val="1200"/>
              <a:buChar char="●"/>
            </a:pPr>
            <a:r>
              <a:rPr lang="de" sz="1200">
                <a:solidFill>
                  <a:schemeClr val="dk1"/>
                </a:solidFill>
              </a:rPr>
              <a:t> Minus: </a:t>
            </a:r>
            <a:endParaRPr sz="1200">
              <a:solidFill>
                <a:schemeClr val="dk1"/>
              </a:solidFill>
            </a:endParaRPr>
          </a:p>
          <a:p>
            <a:pPr indent="-304800" lvl="1" marL="914400" marR="0" rtl="0" algn="l">
              <a:spcBef>
                <a:spcPts val="0"/>
              </a:spcBef>
              <a:spcAft>
                <a:spcPts val="0"/>
              </a:spcAft>
              <a:buClr>
                <a:schemeClr val="dk1"/>
              </a:buClr>
              <a:buSzPts val="1200"/>
              <a:buChar char="○"/>
            </a:pPr>
            <a:r>
              <a:rPr lang="de" sz="1200">
                <a:solidFill>
                  <a:schemeClr val="dk1"/>
                </a:solidFill>
              </a:rPr>
              <a:t>token-intensive Doku </a:t>
            </a:r>
            <a:endParaRPr sz="1200">
              <a:solidFill>
                <a:schemeClr val="dk1"/>
              </a:solidFill>
            </a:endParaRPr>
          </a:p>
          <a:p>
            <a:pPr indent="-304800" lvl="1" marL="914400" marR="0" rtl="0" algn="l">
              <a:spcBef>
                <a:spcPts val="0"/>
              </a:spcBef>
              <a:spcAft>
                <a:spcPts val="0"/>
              </a:spcAft>
              <a:buClr>
                <a:schemeClr val="dk1"/>
              </a:buClr>
              <a:buSzPts val="1200"/>
              <a:buChar char="○"/>
            </a:pPr>
            <a:r>
              <a:rPr lang="de" sz="1200">
                <a:solidFill>
                  <a:schemeClr val="dk1"/>
                </a:solidFill>
              </a:rPr>
              <a:t>undokumentierte Nebeneffekte von änderungen </a:t>
            </a:r>
            <a:endParaRPr sz="1200">
              <a:solidFill>
                <a:schemeClr val="dk1"/>
              </a:solidFill>
            </a:endParaRPr>
          </a:p>
          <a:p>
            <a:pPr indent="-304800" lvl="1" marL="914400" marR="0" rtl="0" algn="l">
              <a:spcBef>
                <a:spcPts val="0"/>
              </a:spcBef>
              <a:spcAft>
                <a:spcPts val="0"/>
              </a:spcAft>
              <a:buClr>
                <a:schemeClr val="dk1"/>
              </a:buClr>
              <a:buSzPts val="1200"/>
              <a:buChar char="○"/>
            </a:pPr>
            <a:r>
              <a:rPr lang="de" sz="1200">
                <a:solidFill>
                  <a:schemeClr val="dk1"/>
                </a:solidFill>
              </a:rPr>
              <a:t>Doku-Halluzinationen </a:t>
            </a:r>
            <a:endParaRPr sz="1200">
              <a:solidFill>
                <a:schemeClr val="dk1"/>
              </a:solidFill>
            </a:endParaRPr>
          </a:p>
          <a:p>
            <a:pPr indent="-304800" lvl="1" marL="914400" marR="0" rtl="0" algn="l">
              <a:spcBef>
                <a:spcPts val="0"/>
              </a:spcBef>
              <a:spcAft>
                <a:spcPts val="0"/>
              </a:spcAft>
              <a:buClr>
                <a:schemeClr val="dk1"/>
              </a:buClr>
              <a:buSzPts val="1200"/>
              <a:buChar char="○"/>
            </a:pPr>
            <a:r>
              <a:rPr lang="de" sz="1200">
                <a:solidFill>
                  <a:schemeClr val="dk1"/>
                </a:solidFill>
              </a:rPr>
              <a:t>Claude muss teils zum sauberen Arbeiten gezwungen werden</a:t>
            </a:r>
            <a:endParaRPr sz="1200">
              <a:solidFill>
                <a:schemeClr val="dk1"/>
              </a:solidFill>
            </a:endParaRPr>
          </a:p>
        </p:txBody>
      </p:sp>
      <p:sp>
        <p:nvSpPr>
          <p:cNvPr id="587" name="Google Shape;587;g3f52ea1745c_1_86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f52ea1745c_1_94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8" name="Google Shape;618;g3f52ea1745c_1_94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Überleitung: Wie startet man das System, und was läuft am Ende wirklich?</a:t>
            </a:r>
            <a:endParaRPr/>
          </a:p>
        </p:txBody>
      </p:sp>
      <p:sp>
        <p:nvSpPr>
          <p:cNvPr id="619" name="Google Shape;619;g3f52ea1745c_1_94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f52ea1745c_1_96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0" name="Google Shape;630;g3f52ea1745c_1_96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Die Aufgabenstellung verlangt Start mit einem einzigen Kommando — das erfüllen wir mit make up. Wichtig zu betonen: Es kommt nicht nur die Anwendung hoch, sondern der komplette Stack inklusive Datenbank, Broker, Cache und Object-Storage. Nach rund drei Minuten läuft alles. make seed legt Demo-Daten an, dann kann man sich sofort einloggen.</a:t>
            </a:r>
            <a:endParaRPr/>
          </a:p>
        </p:txBody>
      </p:sp>
      <p:sp>
        <p:nvSpPr>
          <p:cNvPr id="631" name="Google Shape;631;g3f52ea1745c_1_96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52ea1745c_1_1067: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6" name="Google Shape;686;g3f52ea1745c_1_1067: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Zwei Jobs: build als Matrix über alle Images, dann deploy per SSH. Kein langlebiger Cloud-Key — die Authentifizierung läuft über den kurzlebigen GITHUB_TOKEN. Die Box ist self-provisioning: Eine frisch aufgesetzte EC2 braucht keinerlei manuelles Setup.</a:t>
            </a:r>
            <a:endParaRPr/>
          </a:p>
        </p:txBody>
      </p:sp>
      <p:sp>
        <p:nvSpPr>
          <p:cNvPr id="687" name="Google Shape;687;g3f52ea1745c_1_1067: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f52ea1745c_1_1126: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6" name="Google Shape;746;g3f52ea1745c_1_1126: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Hier wechseln wir in die Live-Vorführung. Punkt 2 ist der Flow, den wir vorhin Schritt für Schritt durchgegangen sind — jetzt in echt und mit zwei Browsern nebeneinander. Punkt 5 und 6 sind unsere Erweiterbarkeits-Belege: ein neuer Board-Typ ohne Deployment, und ein komplett neuer Client-Typ über MCP.</a:t>
            </a:r>
            <a:endParaRPr/>
          </a:p>
        </p:txBody>
      </p:sp>
      <p:sp>
        <p:nvSpPr>
          <p:cNvPr id="747" name="Google Shape;747;g3f52ea1745c_1_1126: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f52ea1745c_1_1223: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2" name="Google Shape;792;g3f52ea1745c_1_1223: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Überleitung zum Abschluss.</a:t>
            </a:r>
            <a:endParaRPr/>
          </a:p>
        </p:txBody>
      </p:sp>
      <p:sp>
        <p:nvSpPr>
          <p:cNvPr id="793" name="Google Shape;793;g3f52ea1745c_1_1223: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f5315af1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3f5315af1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f52ea1745c_1_123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9" name="Google Shape;809;g3f52ea1745c_1_1235: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Der Bogen zurück zu Folie 4: Dort standen die drei Leitfragen der Aufgabenstellung, hier sind unsere Antworten. Der stärkste Satz ist der im dunklen Band: Wir mussten zweimal erweitern — einmal fachlich, einmal um einen ganz neuen Client-Typ — und beide Male blieb der Kern unangetastet. Das ist kein theoretisches Argument, sondern ein gemessenes.</a:t>
            </a:r>
            <a:endParaRPr/>
          </a:p>
        </p:txBody>
      </p:sp>
      <p:sp>
        <p:nvSpPr>
          <p:cNvPr id="810" name="Google Shape;810;g3f52ea1745c_1_1235: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f52ea1745c_1_126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4" name="Google Shape;844;g3f52ea1745c_1_126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de" sz="1200">
                <a:solidFill>
                  <a:schemeClr val="dk1"/>
                </a:solidFill>
                <a:latin typeface="Arial"/>
                <a:ea typeface="Arial"/>
                <a:cs typeface="Arial"/>
                <a:sym typeface="Arial"/>
              </a:rPr>
              <a:t>Bewusst offensiv: Wir benennen die bekannten Lücken selbst, statt sie zu verstecken — sie sind dokumentiert und priorisiert. Die beiden Authorization-Punkte links sind die ehrlichsten: Board-Typen kann derzeit jeder Angemeldete anlegen, und die WebSocket-Kanäle prüfen keine Mitgliedschaft. Beides ist analysiert, der Lösungsweg steht. Rechts der Ausbau — und der letzte Satz ist wichtig: Wir kennen den Weg zu Managed Services und Fargate, aber ihn jetzt zu gehen wäre Komplexität ohne Nutzen.</a:t>
            </a:r>
            <a:endParaRPr/>
          </a:p>
        </p:txBody>
      </p:sp>
      <p:sp>
        <p:nvSpPr>
          <p:cNvPr id="845" name="Google Shape;845;g3f52ea1745c_1_126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f52ea1745c_1_132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4" name="Google Shape;894;g3f52ea1745c_1_132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895" name="Google Shape;895;g3f52ea1745c_1_132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de"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hyperlink" Target="http://drive.google.com/file/d/1PKTYH8gEjoMdbyKeb8qdu3jMUpzXg89_/view" TargetMode="Externa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B2A"/>
        </a:solidFill>
      </p:bgPr>
    </p:bg>
    <p:spTree>
      <p:nvGrpSpPr>
        <p:cNvPr id="56" name="Shape 56"/>
        <p:cNvGrpSpPr/>
        <p:nvPr/>
      </p:nvGrpSpPr>
      <p:grpSpPr>
        <a:xfrm>
          <a:off x="0" y="0"/>
          <a:ext cx="0" cy="0"/>
          <a:chOff x="0" y="0"/>
          <a:chExt cx="0" cy="0"/>
        </a:xfrm>
      </p:grpSpPr>
      <p:sp>
        <p:nvSpPr>
          <p:cNvPr id="57" name="Google Shape;57;p15"/>
          <p:cNvSpPr/>
          <p:nvPr/>
        </p:nvSpPr>
        <p:spPr>
          <a:xfrm>
            <a:off x="6892290" y="493776"/>
            <a:ext cx="685800" cy="685800"/>
          </a:xfrm>
          <a:prstGeom prst="roundRect">
            <a:avLst>
              <a:gd fmla="val 8000" name="adj"/>
            </a:avLst>
          </a:prstGeom>
          <a:solidFill>
            <a:srgbClr val="12263A">
              <a:alpha val="60000"/>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 name="Google Shape;58;p15"/>
          <p:cNvSpPr/>
          <p:nvPr/>
        </p:nvSpPr>
        <p:spPr>
          <a:xfrm>
            <a:off x="7680960" y="493776"/>
            <a:ext cx="685800" cy="685800"/>
          </a:xfrm>
          <a:prstGeom prst="roundRect">
            <a:avLst>
              <a:gd fmla="val 8000" name="adj"/>
            </a:avLst>
          </a:prstGeom>
          <a:solidFill>
            <a:srgbClr val="12263A">
              <a:alpha val="4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 name="Google Shape;59;p15"/>
          <p:cNvSpPr/>
          <p:nvPr/>
        </p:nvSpPr>
        <p:spPr>
          <a:xfrm>
            <a:off x="6892290" y="1282446"/>
            <a:ext cx="685800" cy="685800"/>
          </a:xfrm>
          <a:prstGeom prst="roundRect">
            <a:avLst>
              <a:gd fmla="val 8000" name="adj"/>
            </a:avLst>
          </a:prstGeom>
          <a:solidFill>
            <a:srgbClr val="12263A">
              <a:alpha val="4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 name="Google Shape;60;p15"/>
          <p:cNvSpPr/>
          <p:nvPr/>
        </p:nvSpPr>
        <p:spPr>
          <a:xfrm>
            <a:off x="7680960" y="1282446"/>
            <a:ext cx="685800" cy="685800"/>
          </a:xfrm>
          <a:prstGeom prst="roundRect">
            <a:avLst>
              <a:gd fmla="val 8000" name="adj"/>
            </a:avLst>
          </a:prstGeom>
          <a:solidFill>
            <a:srgbClr val="134E63">
              <a:alpha val="70196"/>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 name="Google Shape;61;p15"/>
          <p:cNvSpPr/>
          <p:nvPr/>
        </p:nvSpPr>
        <p:spPr>
          <a:xfrm>
            <a:off x="425196" y="1028700"/>
            <a:ext cx="63093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4B6"/>
              </a:buClr>
              <a:buSzPts val="1000"/>
              <a:buFont typeface="Calibri"/>
              <a:buNone/>
            </a:pPr>
            <a:r>
              <a:rPr b="1" lang="de" sz="1000">
                <a:solidFill>
                  <a:srgbClr val="2EC4B6"/>
                </a:solidFill>
                <a:latin typeface="Calibri"/>
                <a:ea typeface="Calibri"/>
                <a:cs typeface="Calibri"/>
                <a:sym typeface="Calibri"/>
              </a:rPr>
              <a:t>MODERNE SOFTWAREARCHITEKTUREN  ·  SOMMERSEMESTER 2026</a:t>
            </a:r>
            <a:endParaRPr sz="1000">
              <a:solidFill>
                <a:schemeClr val="dk1"/>
              </a:solidFill>
              <a:latin typeface="Calibri"/>
              <a:ea typeface="Calibri"/>
              <a:cs typeface="Calibri"/>
              <a:sym typeface="Calibri"/>
            </a:endParaRPr>
          </a:p>
        </p:txBody>
      </p:sp>
      <p:sp>
        <p:nvSpPr>
          <p:cNvPr id="62" name="Google Shape;62;p15"/>
          <p:cNvSpPr/>
          <p:nvPr/>
        </p:nvSpPr>
        <p:spPr>
          <a:xfrm>
            <a:off x="425196" y="1316736"/>
            <a:ext cx="6309360" cy="857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700"/>
              <a:buFont typeface="Calibri"/>
              <a:buNone/>
            </a:pPr>
            <a:r>
              <a:rPr b="1" lang="de" sz="4700">
                <a:solidFill>
                  <a:srgbClr val="FFFFFF"/>
                </a:solidFill>
                <a:latin typeface="Calibri"/>
                <a:ea typeface="Calibri"/>
                <a:cs typeface="Calibri"/>
                <a:sym typeface="Calibri"/>
              </a:rPr>
              <a:t>TeamBoard</a:t>
            </a:r>
            <a:endParaRPr sz="4700">
              <a:solidFill>
                <a:schemeClr val="dk1"/>
              </a:solidFill>
              <a:latin typeface="Calibri"/>
              <a:ea typeface="Calibri"/>
              <a:cs typeface="Calibri"/>
              <a:sym typeface="Calibri"/>
            </a:endParaRPr>
          </a:p>
        </p:txBody>
      </p:sp>
      <p:sp>
        <p:nvSpPr>
          <p:cNvPr id="63" name="Google Shape;63;p15"/>
          <p:cNvSpPr/>
          <p:nvPr/>
        </p:nvSpPr>
        <p:spPr>
          <a:xfrm>
            <a:off x="425196" y="2180844"/>
            <a:ext cx="644652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4"/>
              </a:buClr>
              <a:buSzPts val="1400"/>
              <a:buFont typeface="Calibri"/>
              <a:buNone/>
            </a:pPr>
            <a:r>
              <a:rPr lang="de" sz="1400">
                <a:solidFill>
                  <a:srgbClr val="9FB3C4"/>
                </a:solidFill>
                <a:latin typeface="Calibri"/>
                <a:ea typeface="Calibri"/>
                <a:cs typeface="Calibri"/>
                <a:sym typeface="Calibri"/>
              </a:rPr>
              <a:t>Kollaborationsplattform als komponentenbasiertes Microservice-System</a:t>
            </a:r>
            <a:endParaRPr sz="1400">
              <a:solidFill>
                <a:schemeClr val="dk1"/>
              </a:solidFill>
              <a:latin typeface="Calibri"/>
              <a:ea typeface="Calibri"/>
              <a:cs typeface="Calibri"/>
              <a:sym typeface="Calibri"/>
            </a:endParaRPr>
          </a:p>
        </p:txBody>
      </p:sp>
      <p:cxnSp>
        <p:nvCxnSpPr>
          <p:cNvPr id="64" name="Google Shape;64;p15"/>
          <p:cNvCxnSpPr/>
          <p:nvPr/>
        </p:nvCxnSpPr>
        <p:spPr>
          <a:xfrm>
            <a:off x="425196" y="2743200"/>
            <a:ext cx="1783080" cy="0"/>
          </a:xfrm>
          <a:prstGeom prst="straightConnector1">
            <a:avLst/>
          </a:prstGeom>
          <a:noFill/>
          <a:ln cap="flat" cmpd="sng" w="25400">
            <a:solidFill>
              <a:srgbClr val="1C7293"/>
            </a:solidFill>
            <a:prstDash val="solid"/>
            <a:round/>
            <a:headEnd len="sm" w="sm" type="none"/>
            <a:tailEnd len="sm" w="sm" type="none"/>
          </a:ln>
        </p:spPr>
      </p:cxnSp>
      <p:sp>
        <p:nvSpPr>
          <p:cNvPr id="65" name="Google Shape;65;p15"/>
          <p:cNvSpPr/>
          <p:nvPr/>
        </p:nvSpPr>
        <p:spPr>
          <a:xfrm>
            <a:off x="425196" y="2866644"/>
            <a:ext cx="2743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4B6"/>
              </a:buClr>
              <a:buSzPts val="1000"/>
              <a:buFont typeface="Calibri"/>
              <a:buNone/>
            </a:pPr>
            <a:r>
              <a:rPr b="1" lang="de" sz="1000">
                <a:solidFill>
                  <a:srgbClr val="2EC4B6"/>
                </a:solidFill>
                <a:latin typeface="Calibri"/>
                <a:ea typeface="Calibri"/>
                <a:cs typeface="Calibri"/>
                <a:sym typeface="Calibri"/>
              </a:rPr>
              <a:t>GRUPPE D</a:t>
            </a:r>
            <a:endParaRPr sz="1000">
              <a:solidFill>
                <a:schemeClr val="dk1"/>
              </a:solidFill>
              <a:latin typeface="Calibri"/>
              <a:ea typeface="Calibri"/>
              <a:cs typeface="Calibri"/>
              <a:sym typeface="Calibri"/>
            </a:endParaRPr>
          </a:p>
        </p:txBody>
      </p:sp>
      <p:sp>
        <p:nvSpPr>
          <p:cNvPr id="66" name="Google Shape;66;p15"/>
          <p:cNvSpPr/>
          <p:nvPr/>
        </p:nvSpPr>
        <p:spPr>
          <a:xfrm>
            <a:off x="425196" y="3195828"/>
            <a:ext cx="2599868" cy="720090"/>
          </a:xfrm>
          <a:prstGeom prst="roundRect">
            <a:avLst>
              <a:gd fmla="val 7619" name="adj"/>
            </a:avLst>
          </a:prstGeom>
          <a:solidFill>
            <a:srgbClr val="12263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7" name="Google Shape;67;p15"/>
          <p:cNvSpPr/>
          <p:nvPr/>
        </p:nvSpPr>
        <p:spPr>
          <a:xfrm>
            <a:off x="603504" y="3363849"/>
            <a:ext cx="384048" cy="384048"/>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 name="Google Shape;68;p15"/>
          <p:cNvSpPr/>
          <p:nvPr/>
        </p:nvSpPr>
        <p:spPr>
          <a:xfrm>
            <a:off x="603504" y="3363849"/>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de" sz="1100">
                <a:solidFill>
                  <a:srgbClr val="FFFFFF"/>
                </a:solidFill>
                <a:latin typeface="Calibri"/>
                <a:ea typeface="Calibri"/>
                <a:cs typeface="Calibri"/>
                <a:sym typeface="Calibri"/>
              </a:rPr>
              <a:t>JS</a:t>
            </a:r>
            <a:endParaRPr sz="1100">
              <a:solidFill>
                <a:schemeClr val="dk1"/>
              </a:solidFill>
              <a:latin typeface="Calibri"/>
              <a:ea typeface="Calibri"/>
              <a:cs typeface="Calibri"/>
              <a:sym typeface="Calibri"/>
            </a:endParaRPr>
          </a:p>
        </p:txBody>
      </p:sp>
      <p:sp>
        <p:nvSpPr>
          <p:cNvPr id="69" name="Google Shape;69;p15"/>
          <p:cNvSpPr/>
          <p:nvPr/>
        </p:nvSpPr>
        <p:spPr>
          <a:xfrm>
            <a:off x="1076706" y="3195828"/>
            <a:ext cx="1811197" cy="7200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de" sz="1200">
                <a:solidFill>
                  <a:srgbClr val="FFFFFF"/>
                </a:solidFill>
                <a:latin typeface="Calibri"/>
                <a:ea typeface="Calibri"/>
                <a:cs typeface="Calibri"/>
                <a:sym typeface="Calibri"/>
              </a:rPr>
              <a:t>Jan Soetebeer</a:t>
            </a:r>
            <a:endParaRPr sz="1200">
              <a:solidFill>
                <a:schemeClr val="dk1"/>
              </a:solidFill>
              <a:latin typeface="Calibri"/>
              <a:ea typeface="Calibri"/>
              <a:cs typeface="Calibri"/>
              <a:sym typeface="Calibri"/>
            </a:endParaRPr>
          </a:p>
        </p:txBody>
      </p:sp>
      <p:sp>
        <p:nvSpPr>
          <p:cNvPr id="70" name="Google Shape;70;p15"/>
          <p:cNvSpPr/>
          <p:nvPr/>
        </p:nvSpPr>
        <p:spPr>
          <a:xfrm>
            <a:off x="3271952" y="3195828"/>
            <a:ext cx="2599868" cy="720090"/>
          </a:xfrm>
          <a:prstGeom prst="roundRect">
            <a:avLst>
              <a:gd fmla="val 7619" name="adj"/>
            </a:avLst>
          </a:prstGeom>
          <a:solidFill>
            <a:srgbClr val="12263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 name="Google Shape;71;p15"/>
          <p:cNvSpPr/>
          <p:nvPr/>
        </p:nvSpPr>
        <p:spPr>
          <a:xfrm>
            <a:off x="3450260" y="3363849"/>
            <a:ext cx="384048" cy="384048"/>
          </a:xfrm>
          <a:prstGeom prst="ellipse">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 name="Google Shape;72;p15"/>
          <p:cNvSpPr/>
          <p:nvPr/>
        </p:nvSpPr>
        <p:spPr>
          <a:xfrm>
            <a:off x="3450260" y="3363849"/>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de" sz="1100">
                <a:solidFill>
                  <a:srgbClr val="FFFFFF"/>
                </a:solidFill>
                <a:latin typeface="Calibri"/>
                <a:ea typeface="Calibri"/>
                <a:cs typeface="Calibri"/>
                <a:sym typeface="Calibri"/>
              </a:rPr>
              <a:t>MC</a:t>
            </a:r>
            <a:endParaRPr sz="1100">
              <a:solidFill>
                <a:schemeClr val="dk1"/>
              </a:solidFill>
              <a:latin typeface="Calibri"/>
              <a:ea typeface="Calibri"/>
              <a:cs typeface="Calibri"/>
              <a:sym typeface="Calibri"/>
            </a:endParaRPr>
          </a:p>
        </p:txBody>
      </p:sp>
      <p:sp>
        <p:nvSpPr>
          <p:cNvPr id="73" name="Google Shape;73;p15"/>
          <p:cNvSpPr/>
          <p:nvPr/>
        </p:nvSpPr>
        <p:spPr>
          <a:xfrm>
            <a:off x="3923461" y="3195828"/>
            <a:ext cx="1811197" cy="7200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de" sz="1200">
                <a:solidFill>
                  <a:srgbClr val="FFFFFF"/>
                </a:solidFill>
                <a:latin typeface="Calibri"/>
                <a:ea typeface="Calibri"/>
                <a:cs typeface="Calibri"/>
                <a:sym typeface="Calibri"/>
              </a:rPr>
              <a:t>Maximilian Cwik</a:t>
            </a:r>
            <a:endParaRPr sz="1200">
              <a:solidFill>
                <a:schemeClr val="dk1"/>
              </a:solidFill>
              <a:latin typeface="Calibri"/>
              <a:ea typeface="Calibri"/>
              <a:cs typeface="Calibri"/>
              <a:sym typeface="Calibri"/>
            </a:endParaRPr>
          </a:p>
        </p:txBody>
      </p:sp>
      <p:sp>
        <p:nvSpPr>
          <p:cNvPr id="74" name="Google Shape;74;p15"/>
          <p:cNvSpPr/>
          <p:nvPr/>
        </p:nvSpPr>
        <p:spPr>
          <a:xfrm>
            <a:off x="6118708" y="3195828"/>
            <a:ext cx="2599868" cy="720090"/>
          </a:xfrm>
          <a:prstGeom prst="roundRect">
            <a:avLst>
              <a:gd fmla="val 7619" name="adj"/>
            </a:avLst>
          </a:prstGeom>
          <a:solidFill>
            <a:srgbClr val="12263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5" name="Google Shape;75;p15"/>
          <p:cNvSpPr/>
          <p:nvPr/>
        </p:nvSpPr>
        <p:spPr>
          <a:xfrm>
            <a:off x="6297016" y="3363849"/>
            <a:ext cx="384048" cy="384048"/>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6" name="Google Shape;76;p15"/>
          <p:cNvSpPr/>
          <p:nvPr/>
        </p:nvSpPr>
        <p:spPr>
          <a:xfrm>
            <a:off x="6297016" y="3363849"/>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de" sz="1100">
                <a:solidFill>
                  <a:srgbClr val="FFFFFF"/>
                </a:solidFill>
                <a:latin typeface="Calibri"/>
                <a:ea typeface="Calibri"/>
                <a:cs typeface="Calibri"/>
                <a:sym typeface="Calibri"/>
              </a:rPr>
              <a:t>HM</a:t>
            </a:r>
            <a:endParaRPr sz="1100">
              <a:solidFill>
                <a:schemeClr val="dk1"/>
              </a:solidFill>
              <a:latin typeface="Calibri"/>
              <a:ea typeface="Calibri"/>
              <a:cs typeface="Calibri"/>
              <a:sym typeface="Calibri"/>
            </a:endParaRPr>
          </a:p>
        </p:txBody>
      </p:sp>
      <p:sp>
        <p:nvSpPr>
          <p:cNvPr id="77" name="Google Shape;77;p15"/>
          <p:cNvSpPr/>
          <p:nvPr/>
        </p:nvSpPr>
        <p:spPr>
          <a:xfrm>
            <a:off x="6770218" y="3195828"/>
            <a:ext cx="1811197" cy="7200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de" sz="1200">
                <a:solidFill>
                  <a:srgbClr val="FFFFFF"/>
                </a:solidFill>
                <a:latin typeface="Calibri"/>
                <a:ea typeface="Calibri"/>
                <a:cs typeface="Calibri"/>
                <a:sym typeface="Calibri"/>
              </a:rPr>
              <a:t>Henry Müller</a:t>
            </a:r>
            <a:endParaRPr sz="1200">
              <a:solidFill>
                <a:schemeClr val="dk1"/>
              </a:solidFill>
              <a:latin typeface="Calibri"/>
              <a:ea typeface="Calibri"/>
              <a:cs typeface="Calibri"/>
              <a:sym typeface="Calibri"/>
            </a:endParaRPr>
          </a:p>
        </p:txBody>
      </p:sp>
      <p:sp>
        <p:nvSpPr>
          <p:cNvPr id="78" name="Google Shape;78;p15"/>
          <p:cNvSpPr/>
          <p:nvPr/>
        </p:nvSpPr>
        <p:spPr>
          <a:xfrm>
            <a:off x="425196" y="4539996"/>
            <a:ext cx="4800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8296"/>
              </a:buClr>
              <a:buSzPts val="900"/>
              <a:buFont typeface="Calibri"/>
              <a:buNone/>
            </a:pPr>
            <a:r>
              <a:rPr lang="de" sz="900">
                <a:solidFill>
                  <a:srgbClr val="6E8296"/>
                </a:solidFill>
                <a:latin typeface="Calibri"/>
                <a:ea typeface="Calibri"/>
                <a:cs typeface="Calibri"/>
                <a:sym typeface="Calibri"/>
              </a:rPr>
              <a:t>FH Wedel  ·  Prof. Dr. Ulrich Hoffmann</a:t>
            </a:r>
            <a:endParaRPr sz="900">
              <a:solidFill>
                <a:schemeClr val="dk1"/>
              </a:solidFill>
              <a:latin typeface="Calibri"/>
              <a:ea typeface="Calibri"/>
              <a:cs typeface="Calibri"/>
              <a:sym typeface="Calibri"/>
            </a:endParaRPr>
          </a:p>
        </p:txBody>
      </p:sp>
      <p:sp>
        <p:nvSpPr>
          <p:cNvPr id="79" name="Google Shape;79;p15"/>
          <p:cNvSpPr/>
          <p:nvPr/>
        </p:nvSpPr>
        <p:spPr>
          <a:xfrm>
            <a:off x="4251960" y="4539996"/>
            <a:ext cx="445770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8296"/>
              </a:buClr>
              <a:buSzPts val="900"/>
              <a:buFont typeface="Calibri"/>
              <a:buNone/>
            </a:pPr>
            <a:r>
              <a:rPr lang="de" sz="900">
                <a:solidFill>
                  <a:srgbClr val="6E8296"/>
                </a:solidFill>
                <a:latin typeface="Calibri"/>
                <a:ea typeface="Calibri"/>
                <a:cs typeface="Calibri"/>
                <a:sym typeface="Calibri"/>
              </a:rPr>
              <a:t>github.com/fh-wedel/MSA26-TeamBoard-Gruppe-D</a:t>
            </a:r>
            <a:endParaRPr sz="9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84" name="Shape 84"/>
        <p:cNvGrpSpPr/>
        <p:nvPr/>
      </p:nvGrpSpPr>
      <p:grpSpPr>
        <a:xfrm>
          <a:off x="0" y="0"/>
          <a:ext cx="0" cy="0"/>
          <a:chOff x="0" y="0"/>
          <a:chExt cx="0" cy="0"/>
        </a:xfrm>
      </p:grpSpPr>
      <p:sp>
        <p:nvSpPr>
          <p:cNvPr id="85" name="Google Shape;85;p16"/>
          <p:cNvSpPr/>
          <p:nvPr/>
        </p:nvSpPr>
        <p:spPr>
          <a:xfrm>
            <a:off x="425196" y="288036"/>
            <a:ext cx="7543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500"/>
              <a:buFont typeface="Calibri"/>
              <a:buNone/>
            </a:pPr>
            <a:r>
              <a:rPr b="1" lang="de" sz="1500">
                <a:solidFill>
                  <a:srgbClr val="1C7293"/>
                </a:solidFill>
                <a:latin typeface="Calibri"/>
                <a:ea typeface="Calibri"/>
                <a:cs typeface="Calibri"/>
                <a:sym typeface="Calibri"/>
              </a:rPr>
              <a:t>AGENDA</a:t>
            </a:r>
            <a:endParaRPr sz="1500">
              <a:solidFill>
                <a:schemeClr val="dk1"/>
              </a:solidFill>
              <a:latin typeface="Calibri"/>
              <a:ea typeface="Calibri"/>
              <a:cs typeface="Calibri"/>
              <a:sym typeface="Calibri"/>
            </a:endParaRPr>
          </a:p>
        </p:txBody>
      </p:sp>
      <p:sp>
        <p:nvSpPr>
          <p:cNvPr id="86" name="Google Shape;86;p16"/>
          <p:cNvSpPr/>
          <p:nvPr/>
        </p:nvSpPr>
        <p:spPr>
          <a:xfrm>
            <a:off x="425196" y="493776"/>
            <a:ext cx="829818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300"/>
              <a:buFont typeface="Calibri"/>
              <a:buNone/>
            </a:pPr>
            <a:r>
              <a:t/>
            </a:r>
            <a:endParaRPr sz="2300">
              <a:solidFill>
                <a:schemeClr val="dk1"/>
              </a:solidFill>
              <a:latin typeface="Calibri"/>
              <a:ea typeface="Calibri"/>
              <a:cs typeface="Calibri"/>
              <a:sym typeface="Calibri"/>
            </a:endParaRPr>
          </a:p>
        </p:txBody>
      </p:sp>
      <p:sp>
        <p:nvSpPr>
          <p:cNvPr id="87" name="Google Shape;87;p16"/>
          <p:cNvSpPr/>
          <p:nvPr/>
        </p:nvSpPr>
        <p:spPr>
          <a:xfrm>
            <a:off x="425196" y="1179576"/>
            <a:ext cx="3992385" cy="994410"/>
          </a:xfrm>
          <a:prstGeom prst="roundRect">
            <a:avLst>
              <a:gd fmla="val 551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8" name="Google Shape;88;p16"/>
          <p:cNvSpPr/>
          <p:nvPr/>
        </p:nvSpPr>
        <p:spPr>
          <a:xfrm>
            <a:off x="630936" y="1385316"/>
            <a:ext cx="65151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2600"/>
              <a:buFont typeface="Calibri"/>
              <a:buNone/>
            </a:pPr>
            <a:r>
              <a:rPr b="1" lang="de" sz="2600">
                <a:solidFill>
                  <a:srgbClr val="1C7293"/>
                </a:solidFill>
                <a:latin typeface="Calibri"/>
                <a:ea typeface="Calibri"/>
                <a:cs typeface="Calibri"/>
                <a:sym typeface="Calibri"/>
              </a:rPr>
              <a:t>01</a:t>
            </a:r>
            <a:endParaRPr sz="2600">
              <a:solidFill>
                <a:schemeClr val="dk1"/>
              </a:solidFill>
              <a:latin typeface="Calibri"/>
              <a:ea typeface="Calibri"/>
              <a:cs typeface="Calibri"/>
              <a:sym typeface="Calibri"/>
            </a:endParaRPr>
          </a:p>
        </p:txBody>
      </p:sp>
      <p:sp>
        <p:nvSpPr>
          <p:cNvPr id="89" name="Google Shape;89;p16"/>
          <p:cNvSpPr/>
          <p:nvPr/>
        </p:nvSpPr>
        <p:spPr>
          <a:xfrm>
            <a:off x="1316736" y="1399032"/>
            <a:ext cx="289510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400"/>
              <a:buFont typeface="Calibri"/>
              <a:buNone/>
            </a:pPr>
            <a:r>
              <a:rPr b="1" lang="de" sz="1400">
                <a:solidFill>
                  <a:srgbClr val="17242F"/>
                </a:solidFill>
                <a:latin typeface="Calibri"/>
                <a:ea typeface="Calibri"/>
                <a:cs typeface="Calibri"/>
                <a:sym typeface="Calibri"/>
              </a:rPr>
              <a:t>Einleitung</a:t>
            </a:r>
            <a:endParaRPr sz="1400">
              <a:solidFill>
                <a:schemeClr val="dk1"/>
              </a:solidFill>
              <a:latin typeface="Calibri"/>
              <a:ea typeface="Calibri"/>
              <a:cs typeface="Calibri"/>
              <a:sym typeface="Calibri"/>
            </a:endParaRPr>
          </a:p>
        </p:txBody>
      </p:sp>
      <p:sp>
        <p:nvSpPr>
          <p:cNvPr id="90" name="Google Shape;90;p16"/>
          <p:cNvSpPr/>
          <p:nvPr/>
        </p:nvSpPr>
        <p:spPr>
          <a:xfrm>
            <a:off x="1316736" y="1714500"/>
            <a:ext cx="289510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900"/>
              <a:buFont typeface="Calibri"/>
              <a:buNone/>
            </a:pPr>
            <a:r>
              <a:rPr lang="de" sz="900">
                <a:solidFill>
                  <a:srgbClr val="5E6E7C"/>
                </a:solidFill>
                <a:latin typeface="Calibri"/>
                <a:ea typeface="Calibri"/>
                <a:cs typeface="Calibri"/>
                <a:sym typeface="Calibri"/>
              </a:rPr>
              <a:t>Kontext · Team · KI-Einsatz</a:t>
            </a:r>
            <a:endParaRPr sz="900">
              <a:solidFill>
                <a:schemeClr val="dk1"/>
              </a:solidFill>
              <a:latin typeface="Calibri"/>
              <a:ea typeface="Calibri"/>
              <a:cs typeface="Calibri"/>
              <a:sym typeface="Calibri"/>
            </a:endParaRPr>
          </a:p>
        </p:txBody>
      </p:sp>
      <p:sp>
        <p:nvSpPr>
          <p:cNvPr id="91" name="Google Shape;91;p16"/>
          <p:cNvSpPr/>
          <p:nvPr/>
        </p:nvSpPr>
        <p:spPr>
          <a:xfrm>
            <a:off x="4726191" y="1179576"/>
            <a:ext cx="3992385" cy="994410"/>
          </a:xfrm>
          <a:prstGeom prst="roundRect">
            <a:avLst>
              <a:gd fmla="val 551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2" name="Google Shape;92;p16"/>
          <p:cNvSpPr/>
          <p:nvPr/>
        </p:nvSpPr>
        <p:spPr>
          <a:xfrm>
            <a:off x="4931931" y="1385316"/>
            <a:ext cx="65151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2600"/>
              <a:buFont typeface="Calibri"/>
              <a:buNone/>
            </a:pPr>
            <a:r>
              <a:rPr b="1" lang="de" sz="2600">
                <a:solidFill>
                  <a:srgbClr val="1C7293"/>
                </a:solidFill>
                <a:latin typeface="Calibri"/>
                <a:ea typeface="Calibri"/>
                <a:cs typeface="Calibri"/>
                <a:sym typeface="Calibri"/>
              </a:rPr>
              <a:t>02</a:t>
            </a:r>
            <a:endParaRPr sz="2600">
              <a:solidFill>
                <a:schemeClr val="dk1"/>
              </a:solidFill>
              <a:latin typeface="Calibri"/>
              <a:ea typeface="Calibri"/>
              <a:cs typeface="Calibri"/>
              <a:sym typeface="Calibri"/>
            </a:endParaRPr>
          </a:p>
        </p:txBody>
      </p:sp>
      <p:sp>
        <p:nvSpPr>
          <p:cNvPr id="93" name="Google Shape;93;p16"/>
          <p:cNvSpPr/>
          <p:nvPr/>
        </p:nvSpPr>
        <p:spPr>
          <a:xfrm>
            <a:off x="5617731" y="1399032"/>
            <a:ext cx="289510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400"/>
              <a:buFont typeface="Calibri"/>
              <a:buNone/>
            </a:pPr>
            <a:r>
              <a:rPr b="1" lang="de" sz="1400">
                <a:solidFill>
                  <a:srgbClr val="17242F"/>
                </a:solidFill>
                <a:latin typeface="Calibri"/>
                <a:ea typeface="Calibri"/>
                <a:cs typeface="Calibri"/>
                <a:sym typeface="Calibri"/>
              </a:rPr>
              <a:t>Projektbeschreibung</a:t>
            </a:r>
            <a:endParaRPr sz="1400">
              <a:solidFill>
                <a:schemeClr val="dk1"/>
              </a:solidFill>
              <a:latin typeface="Calibri"/>
              <a:ea typeface="Calibri"/>
              <a:cs typeface="Calibri"/>
              <a:sym typeface="Calibri"/>
            </a:endParaRPr>
          </a:p>
        </p:txBody>
      </p:sp>
      <p:sp>
        <p:nvSpPr>
          <p:cNvPr id="94" name="Google Shape;94;p16"/>
          <p:cNvSpPr/>
          <p:nvPr/>
        </p:nvSpPr>
        <p:spPr>
          <a:xfrm>
            <a:off x="5617731" y="1714500"/>
            <a:ext cx="289510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900"/>
              <a:buFont typeface="Calibri"/>
              <a:buNone/>
            </a:pPr>
            <a:r>
              <a:rPr lang="de" sz="900">
                <a:solidFill>
                  <a:srgbClr val="5E6E7C"/>
                </a:solidFill>
                <a:latin typeface="Calibri"/>
                <a:ea typeface="Calibri"/>
                <a:cs typeface="Calibri"/>
                <a:sym typeface="Calibri"/>
              </a:rPr>
              <a:t>Interpretation · Anforderungen · User-Stories</a:t>
            </a:r>
            <a:endParaRPr sz="900">
              <a:solidFill>
                <a:schemeClr val="dk1"/>
              </a:solidFill>
              <a:latin typeface="Calibri"/>
              <a:ea typeface="Calibri"/>
              <a:cs typeface="Calibri"/>
              <a:sym typeface="Calibri"/>
            </a:endParaRPr>
          </a:p>
        </p:txBody>
      </p:sp>
      <p:sp>
        <p:nvSpPr>
          <p:cNvPr id="95" name="Google Shape;95;p16"/>
          <p:cNvSpPr/>
          <p:nvPr/>
        </p:nvSpPr>
        <p:spPr>
          <a:xfrm>
            <a:off x="425196" y="2393442"/>
            <a:ext cx="3992385" cy="994410"/>
          </a:xfrm>
          <a:prstGeom prst="roundRect">
            <a:avLst>
              <a:gd fmla="val 551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6" name="Google Shape;96;p16"/>
          <p:cNvSpPr/>
          <p:nvPr/>
        </p:nvSpPr>
        <p:spPr>
          <a:xfrm>
            <a:off x="630936" y="2599182"/>
            <a:ext cx="65151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2600"/>
              <a:buFont typeface="Calibri"/>
              <a:buNone/>
            </a:pPr>
            <a:r>
              <a:rPr b="1" lang="de" sz="2600">
                <a:solidFill>
                  <a:srgbClr val="1C7293"/>
                </a:solidFill>
                <a:latin typeface="Calibri"/>
                <a:ea typeface="Calibri"/>
                <a:cs typeface="Calibri"/>
                <a:sym typeface="Calibri"/>
              </a:rPr>
              <a:t>03</a:t>
            </a:r>
            <a:endParaRPr sz="2600">
              <a:solidFill>
                <a:schemeClr val="dk1"/>
              </a:solidFill>
              <a:latin typeface="Calibri"/>
              <a:ea typeface="Calibri"/>
              <a:cs typeface="Calibri"/>
              <a:sym typeface="Calibri"/>
            </a:endParaRPr>
          </a:p>
        </p:txBody>
      </p:sp>
      <p:sp>
        <p:nvSpPr>
          <p:cNvPr id="97" name="Google Shape;97;p16"/>
          <p:cNvSpPr/>
          <p:nvPr/>
        </p:nvSpPr>
        <p:spPr>
          <a:xfrm>
            <a:off x="1316736" y="2612898"/>
            <a:ext cx="289510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400"/>
              <a:buFont typeface="Calibri"/>
              <a:buNone/>
            </a:pPr>
            <a:r>
              <a:rPr b="1" lang="de" sz="1400">
                <a:solidFill>
                  <a:srgbClr val="17242F"/>
                </a:solidFill>
                <a:latin typeface="Calibri"/>
                <a:ea typeface="Calibri"/>
                <a:cs typeface="Calibri"/>
                <a:sym typeface="Calibri"/>
              </a:rPr>
              <a:t>Entwurf</a:t>
            </a:r>
            <a:endParaRPr sz="1400">
              <a:solidFill>
                <a:schemeClr val="dk1"/>
              </a:solidFill>
              <a:latin typeface="Calibri"/>
              <a:ea typeface="Calibri"/>
              <a:cs typeface="Calibri"/>
              <a:sym typeface="Calibri"/>
            </a:endParaRPr>
          </a:p>
        </p:txBody>
      </p:sp>
      <p:sp>
        <p:nvSpPr>
          <p:cNvPr id="98" name="Google Shape;98;p16"/>
          <p:cNvSpPr/>
          <p:nvPr/>
        </p:nvSpPr>
        <p:spPr>
          <a:xfrm>
            <a:off x="1316736" y="2928366"/>
            <a:ext cx="289510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900"/>
              <a:buFont typeface="Calibri"/>
              <a:buNone/>
            </a:pPr>
            <a:r>
              <a:rPr lang="de" sz="900">
                <a:solidFill>
                  <a:srgbClr val="5E6E7C"/>
                </a:solidFill>
                <a:latin typeface="Calibri"/>
                <a:ea typeface="Calibri"/>
                <a:cs typeface="Calibri"/>
                <a:sym typeface="Calibri"/>
              </a:rPr>
              <a:t>Architektur · Komponenten · Zusammenspiel</a:t>
            </a:r>
            <a:endParaRPr sz="900">
              <a:solidFill>
                <a:schemeClr val="dk1"/>
              </a:solidFill>
              <a:latin typeface="Calibri"/>
              <a:ea typeface="Calibri"/>
              <a:cs typeface="Calibri"/>
              <a:sym typeface="Calibri"/>
            </a:endParaRPr>
          </a:p>
        </p:txBody>
      </p:sp>
      <p:sp>
        <p:nvSpPr>
          <p:cNvPr id="99" name="Google Shape;99;p16"/>
          <p:cNvSpPr/>
          <p:nvPr/>
        </p:nvSpPr>
        <p:spPr>
          <a:xfrm>
            <a:off x="4726191" y="2393442"/>
            <a:ext cx="3992385" cy="994410"/>
          </a:xfrm>
          <a:prstGeom prst="roundRect">
            <a:avLst>
              <a:gd fmla="val 551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0" name="Google Shape;100;p16"/>
          <p:cNvSpPr/>
          <p:nvPr/>
        </p:nvSpPr>
        <p:spPr>
          <a:xfrm>
            <a:off x="4931931" y="2599182"/>
            <a:ext cx="65151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2600"/>
              <a:buFont typeface="Calibri"/>
              <a:buNone/>
            </a:pPr>
            <a:r>
              <a:rPr b="1" lang="de" sz="2600">
                <a:solidFill>
                  <a:srgbClr val="1C7293"/>
                </a:solidFill>
                <a:latin typeface="Calibri"/>
                <a:ea typeface="Calibri"/>
                <a:cs typeface="Calibri"/>
                <a:sym typeface="Calibri"/>
              </a:rPr>
              <a:t>04</a:t>
            </a:r>
            <a:endParaRPr sz="2600">
              <a:solidFill>
                <a:schemeClr val="dk1"/>
              </a:solidFill>
              <a:latin typeface="Calibri"/>
              <a:ea typeface="Calibri"/>
              <a:cs typeface="Calibri"/>
              <a:sym typeface="Calibri"/>
            </a:endParaRPr>
          </a:p>
        </p:txBody>
      </p:sp>
      <p:sp>
        <p:nvSpPr>
          <p:cNvPr id="101" name="Google Shape;101;p16"/>
          <p:cNvSpPr/>
          <p:nvPr/>
        </p:nvSpPr>
        <p:spPr>
          <a:xfrm>
            <a:off x="5617731" y="2612898"/>
            <a:ext cx="289510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400"/>
              <a:buFont typeface="Calibri"/>
              <a:buNone/>
            </a:pPr>
            <a:r>
              <a:rPr b="1" lang="de" sz="1400">
                <a:solidFill>
                  <a:srgbClr val="17242F"/>
                </a:solidFill>
                <a:latin typeface="Calibri"/>
                <a:ea typeface="Calibri"/>
                <a:cs typeface="Calibri"/>
                <a:sym typeface="Calibri"/>
              </a:rPr>
              <a:t>Realisierung</a:t>
            </a:r>
            <a:endParaRPr sz="1400">
              <a:solidFill>
                <a:schemeClr val="dk1"/>
              </a:solidFill>
              <a:latin typeface="Calibri"/>
              <a:ea typeface="Calibri"/>
              <a:cs typeface="Calibri"/>
              <a:sym typeface="Calibri"/>
            </a:endParaRPr>
          </a:p>
        </p:txBody>
      </p:sp>
      <p:sp>
        <p:nvSpPr>
          <p:cNvPr id="102" name="Google Shape;102;p16"/>
          <p:cNvSpPr/>
          <p:nvPr/>
        </p:nvSpPr>
        <p:spPr>
          <a:xfrm>
            <a:off x="5617731" y="2928366"/>
            <a:ext cx="289510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900"/>
              <a:buFont typeface="Calibri"/>
              <a:buNone/>
            </a:pPr>
            <a:r>
              <a:rPr lang="de" sz="900">
                <a:solidFill>
                  <a:srgbClr val="5E6E7C"/>
                </a:solidFill>
                <a:latin typeface="Calibri"/>
                <a:ea typeface="Calibri"/>
                <a:cs typeface="Calibri"/>
                <a:sym typeface="Calibri"/>
              </a:rPr>
              <a:t>Stack · Vorgehen · KI-Reflexion · Herausforderungen</a:t>
            </a:r>
            <a:endParaRPr sz="900">
              <a:solidFill>
                <a:schemeClr val="dk1"/>
              </a:solidFill>
              <a:latin typeface="Calibri"/>
              <a:ea typeface="Calibri"/>
              <a:cs typeface="Calibri"/>
              <a:sym typeface="Calibri"/>
            </a:endParaRPr>
          </a:p>
        </p:txBody>
      </p:sp>
      <p:sp>
        <p:nvSpPr>
          <p:cNvPr id="103" name="Google Shape;103;p16"/>
          <p:cNvSpPr/>
          <p:nvPr/>
        </p:nvSpPr>
        <p:spPr>
          <a:xfrm>
            <a:off x="425196" y="3607308"/>
            <a:ext cx="3992385" cy="994410"/>
          </a:xfrm>
          <a:prstGeom prst="roundRect">
            <a:avLst>
              <a:gd fmla="val 551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4" name="Google Shape;104;p16"/>
          <p:cNvSpPr/>
          <p:nvPr/>
        </p:nvSpPr>
        <p:spPr>
          <a:xfrm>
            <a:off x="630936" y="3813048"/>
            <a:ext cx="65151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4B6"/>
              </a:buClr>
              <a:buSzPts val="2600"/>
              <a:buFont typeface="Calibri"/>
              <a:buNone/>
            </a:pPr>
            <a:r>
              <a:rPr b="1" lang="de" sz="2600">
                <a:solidFill>
                  <a:srgbClr val="2EC4B6"/>
                </a:solidFill>
                <a:latin typeface="Calibri"/>
                <a:ea typeface="Calibri"/>
                <a:cs typeface="Calibri"/>
                <a:sym typeface="Calibri"/>
              </a:rPr>
              <a:t>05</a:t>
            </a:r>
            <a:endParaRPr sz="2600">
              <a:solidFill>
                <a:schemeClr val="dk1"/>
              </a:solidFill>
              <a:latin typeface="Calibri"/>
              <a:ea typeface="Calibri"/>
              <a:cs typeface="Calibri"/>
              <a:sym typeface="Calibri"/>
            </a:endParaRPr>
          </a:p>
        </p:txBody>
      </p:sp>
      <p:sp>
        <p:nvSpPr>
          <p:cNvPr id="105" name="Google Shape;105;p16"/>
          <p:cNvSpPr/>
          <p:nvPr/>
        </p:nvSpPr>
        <p:spPr>
          <a:xfrm>
            <a:off x="1316736" y="3826764"/>
            <a:ext cx="289510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400"/>
              <a:buFont typeface="Calibri"/>
              <a:buNone/>
            </a:pPr>
            <a:r>
              <a:rPr b="1" lang="de" sz="1400">
                <a:solidFill>
                  <a:srgbClr val="17242F"/>
                </a:solidFill>
                <a:latin typeface="Calibri"/>
                <a:ea typeface="Calibri"/>
                <a:cs typeface="Calibri"/>
                <a:sym typeface="Calibri"/>
              </a:rPr>
              <a:t>Deployment &amp; Evaluation</a:t>
            </a:r>
            <a:endParaRPr sz="1400">
              <a:solidFill>
                <a:schemeClr val="dk1"/>
              </a:solidFill>
              <a:latin typeface="Calibri"/>
              <a:ea typeface="Calibri"/>
              <a:cs typeface="Calibri"/>
              <a:sym typeface="Calibri"/>
            </a:endParaRPr>
          </a:p>
        </p:txBody>
      </p:sp>
      <p:sp>
        <p:nvSpPr>
          <p:cNvPr id="106" name="Google Shape;106;p16"/>
          <p:cNvSpPr/>
          <p:nvPr/>
        </p:nvSpPr>
        <p:spPr>
          <a:xfrm>
            <a:off x="1316736" y="4142232"/>
            <a:ext cx="289510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900"/>
              <a:buFont typeface="Calibri"/>
              <a:buNone/>
            </a:pPr>
            <a:r>
              <a:rPr lang="de" sz="900">
                <a:solidFill>
                  <a:srgbClr val="5E6E7C"/>
                </a:solidFill>
                <a:latin typeface="Calibri"/>
                <a:ea typeface="Calibri"/>
                <a:cs typeface="Calibri"/>
                <a:sym typeface="Calibri"/>
              </a:rPr>
              <a:t>Start per Kommando · laufendes System</a:t>
            </a:r>
            <a:endParaRPr sz="900">
              <a:solidFill>
                <a:schemeClr val="dk1"/>
              </a:solidFill>
              <a:latin typeface="Calibri"/>
              <a:ea typeface="Calibri"/>
              <a:cs typeface="Calibri"/>
              <a:sym typeface="Calibri"/>
            </a:endParaRPr>
          </a:p>
        </p:txBody>
      </p:sp>
      <p:sp>
        <p:nvSpPr>
          <p:cNvPr id="107" name="Google Shape;107;p16"/>
          <p:cNvSpPr/>
          <p:nvPr/>
        </p:nvSpPr>
        <p:spPr>
          <a:xfrm>
            <a:off x="4726191" y="3607308"/>
            <a:ext cx="3992385" cy="994410"/>
          </a:xfrm>
          <a:prstGeom prst="roundRect">
            <a:avLst>
              <a:gd fmla="val 551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8" name="Google Shape;108;p16"/>
          <p:cNvSpPr/>
          <p:nvPr/>
        </p:nvSpPr>
        <p:spPr>
          <a:xfrm>
            <a:off x="4931931" y="3813048"/>
            <a:ext cx="65151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2600"/>
              <a:buFont typeface="Calibri"/>
              <a:buNone/>
            </a:pPr>
            <a:r>
              <a:rPr b="1" lang="de" sz="2600">
                <a:solidFill>
                  <a:srgbClr val="1C7293"/>
                </a:solidFill>
                <a:latin typeface="Calibri"/>
                <a:ea typeface="Calibri"/>
                <a:cs typeface="Calibri"/>
                <a:sym typeface="Calibri"/>
              </a:rPr>
              <a:t>06</a:t>
            </a:r>
            <a:endParaRPr sz="2600">
              <a:solidFill>
                <a:schemeClr val="dk1"/>
              </a:solidFill>
              <a:latin typeface="Calibri"/>
              <a:ea typeface="Calibri"/>
              <a:cs typeface="Calibri"/>
              <a:sym typeface="Calibri"/>
            </a:endParaRPr>
          </a:p>
        </p:txBody>
      </p:sp>
      <p:sp>
        <p:nvSpPr>
          <p:cNvPr id="109" name="Google Shape;109;p16"/>
          <p:cNvSpPr/>
          <p:nvPr/>
        </p:nvSpPr>
        <p:spPr>
          <a:xfrm>
            <a:off x="5617731" y="3826764"/>
            <a:ext cx="289510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400"/>
              <a:buFont typeface="Calibri"/>
              <a:buNone/>
            </a:pPr>
            <a:r>
              <a:rPr b="1" lang="de" sz="1400">
                <a:solidFill>
                  <a:srgbClr val="17242F"/>
                </a:solidFill>
                <a:latin typeface="Calibri"/>
                <a:ea typeface="Calibri"/>
                <a:cs typeface="Calibri"/>
                <a:sym typeface="Calibri"/>
              </a:rPr>
              <a:t>Fazit &amp; Ausblick</a:t>
            </a:r>
            <a:endParaRPr sz="1400">
              <a:solidFill>
                <a:schemeClr val="dk1"/>
              </a:solidFill>
              <a:latin typeface="Calibri"/>
              <a:ea typeface="Calibri"/>
              <a:cs typeface="Calibri"/>
              <a:sym typeface="Calibri"/>
            </a:endParaRPr>
          </a:p>
        </p:txBody>
      </p:sp>
      <p:sp>
        <p:nvSpPr>
          <p:cNvPr id="110" name="Google Shape;110;p16"/>
          <p:cNvSpPr/>
          <p:nvPr/>
        </p:nvSpPr>
        <p:spPr>
          <a:xfrm>
            <a:off x="5617731" y="4142232"/>
            <a:ext cx="289510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900"/>
              <a:buFont typeface="Calibri"/>
              <a:buNone/>
            </a:pPr>
            <a:r>
              <a:rPr lang="de" sz="900">
                <a:solidFill>
                  <a:srgbClr val="5E6E7C"/>
                </a:solidFill>
                <a:latin typeface="Calibri"/>
                <a:ea typeface="Calibri"/>
                <a:cs typeface="Calibri"/>
                <a:sym typeface="Calibri"/>
              </a:rPr>
              <a:t>Bewertung · Weiterentwicklung</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B2A"/>
        </a:solidFill>
      </p:bgPr>
    </p:bg>
    <p:spTree>
      <p:nvGrpSpPr>
        <p:cNvPr id="115" name="Shape 115"/>
        <p:cNvGrpSpPr/>
        <p:nvPr/>
      </p:nvGrpSpPr>
      <p:grpSpPr>
        <a:xfrm>
          <a:off x="0" y="0"/>
          <a:ext cx="0" cy="0"/>
          <a:chOff x="0" y="0"/>
          <a:chExt cx="0" cy="0"/>
        </a:xfrm>
      </p:grpSpPr>
      <p:sp>
        <p:nvSpPr>
          <p:cNvPr id="116" name="Google Shape;116;p17"/>
          <p:cNvSpPr/>
          <p:nvPr/>
        </p:nvSpPr>
        <p:spPr>
          <a:xfrm>
            <a:off x="7269480" y="3223260"/>
            <a:ext cx="617220" cy="617220"/>
          </a:xfrm>
          <a:prstGeom prst="roundRect">
            <a:avLst>
              <a:gd fmla="val 8889" name="adj"/>
            </a:avLst>
          </a:prstGeom>
          <a:solidFill>
            <a:srgbClr val="12263A">
              <a:alpha val="54902"/>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7" name="Google Shape;117;p17"/>
          <p:cNvSpPr/>
          <p:nvPr/>
        </p:nvSpPr>
        <p:spPr>
          <a:xfrm>
            <a:off x="7989570" y="3223260"/>
            <a:ext cx="617220" cy="617220"/>
          </a:xfrm>
          <a:prstGeom prst="roundRect">
            <a:avLst>
              <a:gd fmla="val 8889" name="adj"/>
            </a:avLst>
          </a:prstGeom>
          <a:solidFill>
            <a:srgbClr val="134E63">
              <a:alpha val="6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8" name="Google Shape;118;p17"/>
          <p:cNvSpPr/>
          <p:nvPr/>
        </p:nvSpPr>
        <p:spPr>
          <a:xfrm>
            <a:off x="7269480" y="3943350"/>
            <a:ext cx="617220" cy="617220"/>
          </a:xfrm>
          <a:prstGeom prst="roundRect">
            <a:avLst>
              <a:gd fmla="val 8889" name="adj"/>
            </a:avLst>
          </a:prstGeom>
          <a:solidFill>
            <a:srgbClr val="134E63">
              <a:alpha val="6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9" name="Google Shape;119;p17"/>
          <p:cNvSpPr/>
          <p:nvPr/>
        </p:nvSpPr>
        <p:spPr>
          <a:xfrm>
            <a:off x="7989570" y="3943350"/>
            <a:ext cx="617220" cy="617220"/>
          </a:xfrm>
          <a:prstGeom prst="roundRect">
            <a:avLst>
              <a:gd fmla="val 8889" name="adj"/>
            </a:avLst>
          </a:prstGeom>
          <a:solidFill>
            <a:srgbClr val="12263A">
              <a:alpha val="4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0" name="Google Shape;120;p17"/>
          <p:cNvSpPr/>
          <p:nvPr/>
        </p:nvSpPr>
        <p:spPr>
          <a:xfrm>
            <a:off x="425196" y="1405890"/>
            <a:ext cx="205740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4B6"/>
              </a:buClr>
              <a:buSzPts val="7200"/>
              <a:buFont typeface="Calibri"/>
              <a:buNone/>
            </a:pPr>
            <a:r>
              <a:rPr b="1" lang="de" sz="7200">
                <a:solidFill>
                  <a:srgbClr val="2EC4B6"/>
                </a:solidFill>
                <a:latin typeface="Calibri"/>
                <a:ea typeface="Calibri"/>
                <a:cs typeface="Calibri"/>
                <a:sym typeface="Calibri"/>
              </a:rPr>
              <a:t>01</a:t>
            </a:r>
            <a:endParaRPr sz="7200">
              <a:solidFill>
                <a:schemeClr val="dk1"/>
              </a:solidFill>
              <a:latin typeface="Calibri"/>
              <a:ea typeface="Calibri"/>
              <a:cs typeface="Calibri"/>
              <a:sym typeface="Calibri"/>
            </a:endParaRPr>
          </a:p>
        </p:txBody>
      </p:sp>
      <p:sp>
        <p:nvSpPr>
          <p:cNvPr id="121" name="Google Shape;121;p17"/>
          <p:cNvSpPr/>
          <p:nvPr/>
        </p:nvSpPr>
        <p:spPr>
          <a:xfrm>
            <a:off x="425196" y="2400300"/>
            <a:ext cx="720090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lang="de" sz="3000">
                <a:solidFill>
                  <a:srgbClr val="FFFFFF"/>
                </a:solidFill>
                <a:latin typeface="Calibri"/>
                <a:ea typeface="Calibri"/>
                <a:cs typeface="Calibri"/>
                <a:sym typeface="Calibri"/>
              </a:rPr>
              <a:t>Einleitung</a:t>
            </a:r>
            <a:endParaRPr sz="3000">
              <a:solidFill>
                <a:schemeClr val="dk1"/>
              </a:solidFill>
              <a:latin typeface="Calibri"/>
              <a:ea typeface="Calibri"/>
              <a:cs typeface="Calibri"/>
              <a:sym typeface="Calibri"/>
            </a:endParaRPr>
          </a:p>
        </p:txBody>
      </p:sp>
      <p:cxnSp>
        <p:nvCxnSpPr>
          <p:cNvPr id="122" name="Google Shape;122;p17"/>
          <p:cNvCxnSpPr/>
          <p:nvPr/>
        </p:nvCxnSpPr>
        <p:spPr>
          <a:xfrm>
            <a:off x="425196" y="3086100"/>
            <a:ext cx="1783080" cy="0"/>
          </a:xfrm>
          <a:prstGeom prst="straightConnector1">
            <a:avLst/>
          </a:prstGeom>
          <a:noFill/>
          <a:ln cap="flat" cmpd="sng" w="25400">
            <a:solidFill>
              <a:srgbClr val="1C7293"/>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27" name="Shape 127"/>
        <p:cNvGrpSpPr/>
        <p:nvPr/>
      </p:nvGrpSpPr>
      <p:grpSpPr>
        <a:xfrm>
          <a:off x="0" y="0"/>
          <a:ext cx="0" cy="0"/>
          <a:chOff x="0" y="0"/>
          <a:chExt cx="0" cy="0"/>
        </a:xfrm>
      </p:grpSpPr>
      <p:sp>
        <p:nvSpPr>
          <p:cNvPr id="128" name="Google Shape;128;p18"/>
          <p:cNvSpPr/>
          <p:nvPr/>
        </p:nvSpPr>
        <p:spPr>
          <a:xfrm>
            <a:off x="425196" y="288036"/>
            <a:ext cx="7543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900"/>
              <a:buFont typeface="Calibri"/>
              <a:buNone/>
            </a:pPr>
            <a:r>
              <a:rPr b="1" lang="de" sz="900">
                <a:solidFill>
                  <a:srgbClr val="1C7293"/>
                </a:solidFill>
                <a:latin typeface="Calibri"/>
                <a:ea typeface="Calibri"/>
                <a:cs typeface="Calibri"/>
                <a:sym typeface="Calibri"/>
              </a:rPr>
              <a:t>EINLEITUNG · KONTEXT</a:t>
            </a:r>
            <a:endParaRPr sz="900">
              <a:solidFill>
                <a:schemeClr val="dk1"/>
              </a:solidFill>
              <a:latin typeface="Calibri"/>
              <a:ea typeface="Calibri"/>
              <a:cs typeface="Calibri"/>
              <a:sym typeface="Calibri"/>
            </a:endParaRPr>
          </a:p>
        </p:txBody>
      </p:sp>
      <p:sp>
        <p:nvSpPr>
          <p:cNvPr id="129" name="Google Shape;129;p18"/>
          <p:cNvSpPr/>
          <p:nvPr/>
        </p:nvSpPr>
        <p:spPr>
          <a:xfrm>
            <a:off x="425196" y="493776"/>
            <a:ext cx="829818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2300"/>
              <a:buFont typeface="Calibri"/>
              <a:buNone/>
            </a:pPr>
            <a:r>
              <a:rPr b="1" lang="de" sz="2300">
                <a:solidFill>
                  <a:srgbClr val="17242F"/>
                </a:solidFill>
                <a:latin typeface="Calibri"/>
                <a:ea typeface="Calibri"/>
                <a:cs typeface="Calibri"/>
                <a:sym typeface="Calibri"/>
              </a:rPr>
              <a:t>Der Auftrag: Kollaborationsplattform als Microservice-System</a:t>
            </a:r>
            <a:endParaRPr sz="2300">
              <a:solidFill>
                <a:schemeClr val="dk1"/>
              </a:solidFill>
              <a:latin typeface="Calibri"/>
              <a:ea typeface="Calibri"/>
              <a:cs typeface="Calibri"/>
              <a:sym typeface="Calibri"/>
            </a:endParaRPr>
          </a:p>
        </p:txBody>
      </p:sp>
      <p:sp>
        <p:nvSpPr>
          <p:cNvPr id="130" name="Google Shape;130;p18"/>
          <p:cNvSpPr/>
          <p:nvPr/>
        </p:nvSpPr>
        <p:spPr>
          <a:xfrm>
            <a:off x="425196" y="1165860"/>
            <a:ext cx="3874770" cy="3120390"/>
          </a:xfrm>
          <a:prstGeom prst="roundRect">
            <a:avLst>
              <a:gd fmla="val 1978"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1" name="Google Shape;131;p18"/>
          <p:cNvSpPr/>
          <p:nvPr/>
        </p:nvSpPr>
        <p:spPr>
          <a:xfrm>
            <a:off x="644652" y="1385316"/>
            <a:ext cx="3435858"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300"/>
              <a:buFont typeface="Calibri"/>
              <a:buNone/>
            </a:pPr>
            <a:r>
              <a:rPr b="1" lang="de" sz="1300">
                <a:solidFill>
                  <a:srgbClr val="17242F"/>
                </a:solidFill>
                <a:latin typeface="Calibri"/>
                <a:ea typeface="Calibri"/>
                <a:cs typeface="Calibri"/>
                <a:sym typeface="Calibri"/>
              </a:rPr>
              <a:t>Was entstehen soll</a:t>
            </a:r>
            <a:endParaRPr sz="1300">
              <a:solidFill>
                <a:schemeClr val="dk1"/>
              </a:solidFill>
              <a:latin typeface="Calibri"/>
              <a:ea typeface="Calibri"/>
              <a:cs typeface="Calibri"/>
              <a:sym typeface="Calibri"/>
            </a:endParaRPr>
          </a:p>
        </p:txBody>
      </p:sp>
      <p:sp>
        <p:nvSpPr>
          <p:cNvPr id="132" name="Google Shape;132;p18"/>
          <p:cNvSpPr/>
          <p:nvPr/>
        </p:nvSpPr>
        <p:spPr>
          <a:xfrm>
            <a:off x="644652" y="1728216"/>
            <a:ext cx="3435858"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1000"/>
              <a:buFont typeface="Calibri"/>
              <a:buNone/>
            </a:pPr>
            <a:r>
              <a:rPr lang="de" sz="1000">
                <a:solidFill>
                  <a:srgbClr val="5E6E7C"/>
                </a:solidFill>
                <a:latin typeface="Calibri"/>
                <a:ea typeface="Calibri"/>
                <a:cs typeface="Calibri"/>
                <a:sym typeface="Calibri"/>
              </a:rPr>
              <a:t>Ein </a:t>
            </a:r>
            <a:r>
              <a:rPr b="1" lang="de" sz="1000">
                <a:solidFill>
                  <a:srgbClr val="5E6E7C"/>
                </a:solidFill>
                <a:latin typeface="Calibri"/>
                <a:ea typeface="Calibri"/>
                <a:cs typeface="Calibri"/>
                <a:sym typeface="Calibri"/>
              </a:rPr>
              <a:t>web-basiertes Kollaborationssystem</a:t>
            </a:r>
            <a:r>
              <a:rPr lang="de" sz="1000">
                <a:solidFill>
                  <a:srgbClr val="5E6E7C"/>
                </a:solidFill>
                <a:latin typeface="Calibri"/>
                <a:ea typeface="Calibri"/>
                <a:cs typeface="Calibri"/>
                <a:sym typeface="Calibri"/>
              </a:rPr>
              <a:t>, das Teams bei gemeinsamer </a:t>
            </a:r>
            <a:r>
              <a:rPr b="1" lang="de" sz="1000">
                <a:solidFill>
                  <a:srgbClr val="5E6E7C"/>
                </a:solidFill>
                <a:latin typeface="Calibri"/>
                <a:ea typeface="Calibri"/>
                <a:cs typeface="Calibri"/>
                <a:sym typeface="Calibri"/>
              </a:rPr>
              <a:t>Aufgabenverwaltung</a:t>
            </a:r>
            <a:r>
              <a:rPr lang="de" sz="1000">
                <a:solidFill>
                  <a:srgbClr val="5E6E7C"/>
                </a:solidFill>
                <a:latin typeface="Calibri"/>
                <a:ea typeface="Calibri"/>
                <a:cs typeface="Calibri"/>
                <a:sym typeface="Calibri"/>
              </a:rPr>
              <a:t>, </a:t>
            </a:r>
            <a:r>
              <a:rPr b="1" lang="de" sz="1000">
                <a:solidFill>
                  <a:srgbClr val="5E6E7C"/>
                </a:solidFill>
                <a:latin typeface="Calibri"/>
                <a:ea typeface="Calibri"/>
                <a:cs typeface="Calibri"/>
                <a:sym typeface="Calibri"/>
              </a:rPr>
              <a:t>Dokumentenablage </a:t>
            </a:r>
            <a:r>
              <a:rPr lang="de" sz="1000">
                <a:solidFill>
                  <a:srgbClr val="5E6E7C"/>
                </a:solidFill>
                <a:latin typeface="Calibri"/>
                <a:ea typeface="Calibri"/>
                <a:cs typeface="Calibri"/>
                <a:sym typeface="Calibri"/>
              </a:rPr>
              <a:t>und </a:t>
            </a:r>
            <a:r>
              <a:rPr b="1" lang="de" sz="1000">
                <a:solidFill>
                  <a:srgbClr val="5E6E7C"/>
                </a:solidFill>
                <a:latin typeface="Calibri"/>
                <a:ea typeface="Calibri"/>
                <a:cs typeface="Calibri"/>
                <a:sym typeface="Calibri"/>
              </a:rPr>
              <a:t>Kommunikation </a:t>
            </a:r>
            <a:r>
              <a:rPr lang="de" sz="1000">
                <a:solidFill>
                  <a:srgbClr val="5E6E7C"/>
                </a:solidFill>
                <a:latin typeface="Calibri"/>
                <a:ea typeface="Calibri"/>
                <a:cs typeface="Calibri"/>
                <a:sym typeface="Calibri"/>
              </a:rPr>
              <a:t>unterstützt.</a:t>
            </a:r>
            <a:endParaRPr sz="1000">
              <a:solidFill>
                <a:schemeClr val="dk1"/>
              </a:solidFill>
              <a:latin typeface="Calibri"/>
              <a:ea typeface="Calibri"/>
              <a:cs typeface="Calibri"/>
              <a:sym typeface="Calibri"/>
            </a:endParaRPr>
          </a:p>
        </p:txBody>
      </p:sp>
      <p:sp>
        <p:nvSpPr>
          <p:cNvPr id="133" name="Google Shape;133;p18"/>
          <p:cNvSpPr/>
          <p:nvPr/>
        </p:nvSpPr>
        <p:spPr>
          <a:xfrm>
            <a:off x="644652" y="2366010"/>
            <a:ext cx="3435858"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1000"/>
              <a:buFont typeface="Calibri"/>
              <a:buNone/>
            </a:pPr>
            <a:r>
              <a:rPr lang="de" sz="1000">
                <a:solidFill>
                  <a:srgbClr val="5E6E7C"/>
                </a:solidFill>
                <a:latin typeface="Calibri"/>
                <a:ea typeface="Calibri"/>
                <a:cs typeface="Calibri"/>
                <a:sym typeface="Calibri"/>
              </a:rPr>
              <a:t>Der Schwerpunkt liegt aber ausdrücklich auf einer skalierbaren, komponentenbasierten Architektur.</a:t>
            </a:r>
            <a:endParaRPr sz="1000">
              <a:solidFill>
                <a:schemeClr val="dk1"/>
              </a:solidFill>
              <a:latin typeface="Calibri"/>
              <a:ea typeface="Calibri"/>
              <a:cs typeface="Calibri"/>
              <a:sym typeface="Calibri"/>
            </a:endParaRPr>
          </a:p>
        </p:txBody>
      </p:sp>
      <p:sp>
        <p:nvSpPr>
          <p:cNvPr id="134" name="Google Shape;134;p18"/>
          <p:cNvSpPr/>
          <p:nvPr/>
        </p:nvSpPr>
        <p:spPr>
          <a:xfrm>
            <a:off x="4588002" y="1207008"/>
            <a:ext cx="4130573"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300"/>
              <a:buFont typeface="Calibri"/>
              <a:buNone/>
            </a:pPr>
            <a:r>
              <a:rPr b="1" lang="de" sz="1300">
                <a:solidFill>
                  <a:srgbClr val="17242F"/>
                </a:solidFill>
                <a:latin typeface="Calibri"/>
                <a:ea typeface="Calibri"/>
                <a:cs typeface="Calibri"/>
                <a:sym typeface="Calibri"/>
              </a:rPr>
              <a:t>Die drei Architektur-Leitfragen</a:t>
            </a:r>
            <a:endParaRPr sz="1300">
              <a:solidFill>
                <a:schemeClr val="dk1"/>
              </a:solidFill>
              <a:latin typeface="Calibri"/>
              <a:ea typeface="Calibri"/>
              <a:cs typeface="Calibri"/>
              <a:sym typeface="Calibri"/>
            </a:endParaRPr>
          </a:p>
        </p:txBody>
      </p:sp>
      <p:sp>
        <p:nvSpPr>
          <p:cNvPr id="135" name="Google Shape;135;p18"/>
          <p:cNvSpPr/>
          <p:nvPr/>
        </p:nvSpPr>
        <p:spPr>
          <a:xfrm>
            <a:off x="4588002" y="1453896"/>
            <a:ext cx="4130573"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5"/>
              </a:buClr>
              <a:buSzPts val="800"/>
              <a:buFont typeface="Calibri"/>
              <a:buNone/>
            </a:pPr>
            <a:r>
              <a:rPr i="1" lang="de" sz="800">
                <a:solidFill>
                  <a:srgbClr val="8A98A5"/>
                </a:solidFill>
                <a:latin typeface="Calibri"/>
                <a:ea typeface="Calibri"/>
                <a:cs typeface="Calibri"/>
                <a:sym typeface="Calibri"/>
              </a:rPr>
              <a:t>Sie sind der rote Faden dieses Vortrags — am Ende kommen wir darauf zurück.</a:t>
            </a:r>
            <a:endParaRPr sz="800">
              <a:solidFill>
                <a:schemeClr val="dk1"/>
              </a:solidFill>
              <a:latin typeface="Calibri"/>
              <a:ea typeface="Calibri"/>
              <a:cs typeface="Calibri"/>
              <a:sym typeface="Calibri"/>
            </a:endParaRPr>
          </a:p>
        </p:txBody>
      </p:sp>
      <p:sp>
        <p:nvSpPr>
          <p:cNvPr id="136" name="Google Shape;136;p18"/>
          <p:cNvSpPr/>
          <p:nvPr/>
        </p:nvSpPr>
        <p:spPr>
          <a:xfrm>
            <a:off x="4588002" y="1748790"/>
            <a:ext cx="4130573" cy="720090"/>
          </a:xfrm>
          <a:prstGeom prst="roundRect">
            <a:avLst>
              <a:gd fmla="val 7619"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7" name="Google Shape;137;p18"/>
          <p:cNvSpPr/>
          <p:nvPr/>
        </p:nvSpPr>
        <p:spPr>
          <a:xfrm>
            <a:off x="4780026" y="1961388"/>
            <a:ext cx="301752" cy="301752"/>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8" name="Google Shape;138;p18"/>
          <p:cNvSpPr/>
          <p:nvPr/>
        </p:nvSpPr>
        <p:spPr>
          <a:xfrm>
            <a:off x="4780026" y="1961388"/>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de" sz="1100">
                <a:solidFill>
                  <a:srgbClr val="FFFFFF"/>
                </a:solidFill>
                <a:latin typeface="Calibri"/>
                <a:ea typeface="Calibri"/>
                <a:cs typeface="Calibri"/>
                <a:sym typeface="Calibri"/>
              </a:rPr>
              <a:t>1</a:t>
            </a:r>
            <a:endParaRPr sz="1100">
              <a:solidFill>
                <a:schemeClr val="dk1"/>
              </a:solidFill>
              <a:latin typeface="Calibri"/>
              <a:ea typeface="Calibri"/>
              <a:cs typeface="Calibri"/>
              <a:sym typeface="Calibri"/>
            </a:endParaRPr>
          </a:p>
        </p:txBody>
      </p:sp>
      <p:sp>
        <p:nvSpPr>
          <p:cNvPr id="139" name="Google Shape;139;p18"/>
          <p:cNvSpPr/>
          <p:nvPr/>
        </p:nvSpPr>
        <p:spPr>
          <a:xfrm>
            <a:off x="5191506" y="1748790"/>
            <a:ext cx="3335045" cy="7200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lang="de" sz="1000">
                <a:solidFill>
                  <a:srgbClr val="17242F"/>
                </a:solidFill>
                <a:latin typeface="Calibri"/>
                <a:ea typeface="Calibri"/>
                <a:cs typeface="Calibri"/>
                <a:sym typeface="Calibri"/>
              </a:rPr>
              <a:t>Wie lassen sich Echtzeit-Ereignisse in einer verteilten Architektur effizient verteilen?</a:t>
            </a:r>
            <a:endParaRPr sz="1000">
              <a:solidFill>
                <a:schemeClr val="dk1"/>
              </a:solidFill>
              <a:latin typeface="Calibri"/>
              <a:ea typeface="Calibri"/>
              <a:cs typeface="Calibri"/>
              <a:sym typeface="Calibri"/>
            </a:endParaRPr>
          </a:p>
        </p:txBody>
      </p:sp>
      <p:sp>
        <p:nvSpPr>
          <p:cNvPr id="140" name="Google Shape;140;p18"/>
          <p:cNvSpPr/>
          <p:nvPr/>
        </p:nvSpPr>
        <p:spPr>
          <a:xfrm>
            <a:off x="4588002" y="2606040"/>
            <a:ext cx="4130573" cy="720090"/>
          </a:xfrm>
          <a:prstGeom prst="roundRect">
            <a:avLst>
              <a:gd fmla="val 7619"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1" name="Google Shape;141;p18"/>
          <p:cNvSpPr/>
          <p:nvPr/>
        </p:nvSpPr>
        <p:spPr>
          <a:xfrm>
            <a:off x="4780026" y="2818638"/>
            <a:ext cx="301752" cy="301752"/>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2" name="Google Shape;142;p18"/>
          <p:cNvSpPr/>
          <p:nvPr/>
        </p:nvSpPr>
        <p:spPr>
          <a:xfrm>
            <a:off x="4780026" y="2818638"/>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de" sz="1100">
                <a:solidFill>
                  <a:srgbClr val="FFFFFF"/>
                </a:solidFill>
                <a:latin typeface="Calibri"/>
                <a:ea typeface="Calibri"/>
                <a:cs typeface="Calibri"/>
                <a:sym typeface="Calibri"/>
              </a:rPr>
              <a:t>2</a:t>
            </a:r>
            <a:endParaRPr sz="1100">
              <a:solidFill>
                <a:schemeClr val="dk1"/>
              </a:solidFill>
              <a:latin typeface="Calibri"/>
              <a:ea typeface="Calibri"/>
              <a:cs typeface="Calibri"/>
              <a:sym typeface="Calibri"/>
            </a:endParaRPr>
          </a:p>
        </p:txBody>
      </p:sp>
      <p:sp>
        <p:nvSpPr>
          <p:cNvPr id="143" name="Google Shape;143;p18"/>
          <p:cNvSpPr/>
          <p:nvPr/>
        </p:nvSpPr>
        <p:spPr>
          <a:xfrm>
            <a:off x="5191506" y="2606040"/>
            <a:ext cx="3335045" cy="7200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lang="de" sz="1000">
                <a:solidFill>
                  <a:srgbClr val="17242F"/>
                </a:solidFill>
                <a:latin typeface="Calibri"/>
                <a:ea typeface="Calibri"/>
                <a:cs typeface="Calibri"/>
                <a:sym typeface="Calibri"/>
              </a:rPr>
              <a:t>Wie können Dienste unabhängig voneinander skaliert werden?</a:t>
            </a:r>
            <a:endParaRPr sz="1000">
              <a:solidFill>
                <a:schemeClr val="dk1"/>
              </a:solidFill>
              <a:latin typeface="Calibri"/>
              <a:ea typeface="Calibri"/>
              <a:cs typeface="Calibri"/>
              <a:sym typeface="Calibri"/>
            </a:endParaRPr>
          </a:p>
        </p:txBody>
      </p:sp>
      <p:sp>
        <p:nvSpPr>
          <p:cNvPr id="144" name="Google Shape;144;p18"/>
          <p:cNvSpPr/>
          <p:nvPr/>
        </p:nvSpPr>
        <p:spPr>
          <a:xfrm>
            <a:off x="4588002" y="3463290"/>
            <a:ext cx="4130573" cy="720090"/>
          </a:xfrm>
          <a:prstGeom prst="roundRect">
            <a:avLst>
              <a:gd fmla="val 7619"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 name="Google Shape;145;p18"/>
          <p:cNvSpPr/>
          <p:nvPr/>
        </p:nvSpPr>
        <p:spPr>
          <a:xfrm>
            <a:off x="4780026" y="3675888"/>
            <a:ext cx="301752" cy="301752"/>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6" name="Google Shape;146;p18"/>
          <p:cNvSpPr/>
          <p:nvPr/>
        </p:nvSpPr>
        <p:spPr>
          <a:xfrm>
            <a:off x="4780026" y="3675888"/>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de" sz="1100">
                <a:solidFill>
                  <a:srgbClr val="FFFFFF"/>
                </a:solidFill>
                <a:latin typeface="Calibri"/>
                <a:ea typeface="Calibri"/>
                <a:cs typeface="Calibri"/>
                <a:sym typeface="Calibri"/>
              </a:rPr>
              <a:t>3</a:t>
            </a:r>
            <a:endParaRPr sz="1100">
              <a:solidFill>
                <a:schemeClr val="dk1"/>
              </a:solidFill>
              <a:latin typeface="Calibri"/>
              <a:ea typeface="Calibri"/>
              <a:cs typeface="Calibri"/>
              <a:sym typeface="Calibri"/>
            </a:endParaRPr>
          </a:p>
        </p:txBody>
      </p:sp>
      <p:sp>
        <p:nvSpPr>
          <p:cNvPr id="147" name="Google Shape;147;p18"/>
          <p:cNvSpPr/>
          <p:nvPr/>
        </p:nvSpPr>
        <p:spPr>
          <a:xfrm>
            <a:off x="5191506" y="3463290"/>
            <a:ext cx="3335045" cy="7200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lang="de" sz="1000">
                <a:solidFill>
                  <a:srgbClr val="17242F"/>
                </a:solidFill>
                <a:latin typeface="Calibri"/>
                <a:ea typeface="Calibri"/>
                <a:cs typeface="Calibri"/>
                <a:sym typeface="Calibri"/>
              </a:rPr>
              <a:t>Wie bleibt der Datenzugriff dabei konsistent?</a:t>
            </a:r>
            <a:endParaRPr sz="1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B2A"/>
        </a:solidFill>
      </p:bgPr>
    </p:bg>
    <p:spTree>
      <p:nvGrpSpPr>
        <p:cNvPr id="152" name="Shape 152"/>
        <p:cNvGrpSpPr/>
        <p:nvPr/>
      </p:nvGrpSpPr>
      <p:grpSpPr>
        <a:xfrm>
          <a:off x="0" y="0"/>
          <a:ext cx="0" cy="0"/>
          <a:chOff x="0" y="0"/>
          <a:chExt cx="0" cy="0"/>
        </a:xfrm>
      </p:grpSpPr>
      <p:sp>
        <p:nvSpPr>
          <p:cNvPr id="153" name="Google Shape;153;p19"/>
          <p:cNvSpPr/>
          <p:nvPr/>
        </p:nvSpPr>
        <p:spPr>
          <a:xfrm>
            <a:off x="7269480" y="3223260"/>
            <a:ext cx="617220" cy="617220"/>
          </a:xfrm>
          <a:prstGeom prst="roundRect">
            <a:avLst>
              <a:gd fmla="val 8889" name="adj"/>
            </a:avLst>
          </a:prstGeom>
          <a:solidFill>
            <a:srgbClr val="12263A">
              <a:alpha val="54902"/>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4" name="Google Shape;154;p19"/>
          <p:cNvSpPr/>
          <p:nvPr/>
        </p:nvSpPr>
        <p:spPr>
          <a:xfrm>
            <a:off x="7989570" y="3223260"/>
            <a:ext cx="617220" cy="617220"/>
          </a:xfrm>
          <a:prstGeom prst="roundRect">
            <a:avLst>
              <a:gd fmla="val 8889" name="adj"/>
            </a:avLst>
          </a:prstGeom>
          <a:solidFill>
            <a:srgbClr val="134E63">
              <a:alpha val="6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 name="Google Shape;155;p19"/>
          <p:cNvSpPr/>
          <p:nvPr/>
        </p:nvSpPr>
        <p:spPr>
          <a:xfrm>
            <a:off x="7269480" y="3943350"/>
            <a:ext cx="617220" cy="617220"/>
          </a:xfrm>
          <a:prstGeom prst="roundRect">
            <a:avLst>
              <a:gd fmla="val 8889" name="adj"/>
            </a:avLst>
          </a:prstGeom>
          <a:solidFill>
            <a:srgbClr val="134E63">
              <a:alpha val="6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6" name="Google Shape;156;p19"/>
          <p:cNvSpPr/>
          <p:nvPr/>
        </p:nvSpPr>
        <p:spPr>
          <a:xfrm>
            <a:off x="7989570" y="3943350"/>
            <a:ext cx="617220" cy="617220"/>
          </a:xfrm>
          <a:prstGeom prst="roundRect">
            <a:avLst>
              <a:gd fmla="val 8889" name="adj"/>
            </a:avLst>
          </a:prstGeom>
          <a:solidFill>
            <a:srgbClr val="12263A">
              <a:alpha val="4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7" name="Google Shape;157;p19"/>
          <p:cNvSpPr/>
          <p:nvPr/>
        </p:nvSpPr>
        <p:spPr>
          <a:xfrm>
            <a:off x="425196" y="1405890"/>
            <a:ext cx="205740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4B6"/>
              </a:buClr>
              <a:buSzPts val="7200"/>
              <a:buFont typeface="Calibri"/>
              <a:buNone/>
            </a:pPr>
            <a:r>
              <a:rPr b="1" lang="de" sz="7200">
                <a:solidFill>
                  <a:srgbClr val="2EC4B6"/>
                </a:solidFill>
                <a:latin typeface="Calibri"/>
                <a:ea typeface="Calibri"/>
                <a:cs typeface="Calibri"/>
                <a:sym typeface="Calibri"/>
              </a:rPr>
              <a:t>02</a:t>
            </a:r>
            <a:endParaRPr sz="7200">
              <a:solidFill>
                <a:schemeClr val="dk1"/>
              </a:solidFill>
              <a:latin typeface="Calibri"/>
              <a:ea typeface="Calibri"/>
              <a:cs typeface="Calibri"/>
              <a:sym typeface="Calibri"/>
            </a:endParaRPr>
          </a:p>
        </p:txBody>
      </p:sp>
      <p:sp>
        <p:nvSpPr>
          <p:cNvPr id="158" name="Google Shape;158;p19"/>
          <p:cNvSpPr/>
          <p:nvPr/>
        </p:nvSpPr>
        <p:spPr>
          <a:xfrm>
            <a:off x="425196" y="2400300"/>
            <a:ext cx="720090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lang="de" sz="3000">
                <a:solidFill>
                  <a:srgbClr val="FFFFFF"/>
                </a:solidFill>
                <a:latin typeface="Calibri"/>
                <a:ea typeface="Calibri"/>
                <a:cs typeface="Calibri"/>
                <a:sym typeface="Calibri"/>
              </a:rPr>
              <a:t>Projektbeschreibung</a:t>
            </a:r>
            <a:endParaRPr sz="3000">
              <a:solidFill>
                <a:schemeClr val="dk1"/>
              </a:solidFill>
              <a:latin typeface="Calibri"/>
              <a:ea typeface="Calibri"/>
              <a:cs typeface="Calibri"/>
              <a:sym typeface="Calibri"/>
            </a:endParaRPr>
          </a:p>
        </p:txBody>
      </p:sp>
      <p:cxnSp>
        <p:nvCxnSpPr>
          <p:cNvPr id="159" name="Google Shape;159;p19"/>
          <p:cNvCxnSpPr/>
          <p:nvPr/>
        </p:nvCxnSpPr>
        <p:spPr>
          <a:xfrm>
            <a:off x="425196" y="3086100"/>
            <a:ext cx="1783080" cy="0"/>
          </a:xfrm>
          <a:prstGeom prst="straightConnector1">
            <a:avLst/>
          </a:prstGeom>
          <a:noFill/>
          <a:ln cap="flat" cmpd="sng" w="25400">
            <a:solidFill>
              <a:srgbClr val="1C7293"/>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64" name="Shape 164"/>
        <p:cNvGrpSpPr/>
        <p:nvPr/>
      </p:nvGrpSpPr>
      <p:grpSpPr>
        <a:xfrm>
          <a:off x="0" y="0"/>
          <a:ext cx="0" cy="0"/>
          <a:chOff x="0" y="0"/>
          <a:chExt cx="0" cy="0"/>
        </a:xfrm>
      </p:grpSpPr>
      <p:sp>
        <p:nvSpPr>
          <p:cNvPr id="165" name="Google Shape;165;p20"/>
          <p:cNvSpPr/>
          <p:nvPr/>
        </p:nvSpPr>
        <p:spPr>
          <a:xfrm>
            <a:off x="425196" y="288036"/>
            <a:ext cx="7543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900"/>
              <a:buFont typeface="Calibri"/>
              <a:buNone/>
            </a:pPr>
            <a:r>
              <a:rPr b="1" lang="de" sz="900">
                <a:solidFill>
                  <a:srgbClr val="1C7293"/>
                </a:solidFill>
                <a:latin typeface="Calibri"/>
                <a:ea typeface="Calibri"/>
                <a:cs typeface="Calibri"/>
                <a:sym typeface="Calibri"/>
              </a:rPr>
              <a:t>PROJEKTBESCHREIBUNG · LASTENHEFT</a:t>
            </a:r>
            <a:endParaRPr sz="900">
              <a:solidFill>
                <a:schemeClr val="dk1"/>
              </a:solidFill>
              <a:latin typeface="Calibri"/>
              <a:ea typeface="Calibri"/>
              <a:cs typeface="Calibri"/>
              <a:sym typeface="Calibri"/>
            </a:endParaRPr>
          </a:p>
        </p:txBody>
      </p:sp>
      <p:sp>
        <p:nvSpPr>
          <p:cNvPr id="166" name="Google Shape;166;p20"/>
          <p:cNvSpPr/>
          <p:nvPr/>
        </p:nvSpPr>
        <p:spPr>
          <a:xfrm>
            <a:off x="425196" y="493776"/>
            <a:ext cx="829818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2300"/>
              <a:buFont typeface="Calibri"/>
              <a:buNone/>
            </a:pPr>
            <a:r>
              <a:rPr b="1" lang="de" sz="2300">
                <a:solidFill>
                  <a:srgbClr val="17242F"/>
                </a:solidFill>
                <a:latin typeface="Calibri"/>
                <a:ea typeface="Calibri"/>
                <a:cs typeface="Calibri"/>
                <a:sym typeface="Calibri"/>
              </a:rPr>
              <a:t>Unsere Interpretation der Aufgabenstellung</a:t>
            </a:r>
            <a:endParaRPr sz="2300">
              <a:solidFill>
                <a:schemeClr val="dk1"/>
              </a:solidFill>
              <a:latin typeface="Calibri"/>
              <a:ea typeface="Calibri"/>
              <a:cs typeface="Calibri"/>
              <a:sym typeface="Calibri"/>
            </a:endParaRPr>
          </a:p>
        </p:txBody>
      </p:sp>
      <p:sp>
        <p:nvSpPr>
          <p:cNvPr id="167" name="Google Shape;167;p20"/>
          <p:cNvSpPr/>
          <p:nvPr/>
        </p:nvSpPr>
        <p:spPr>
          <a:xfrm>
            <a:off x="438912" y="1138428"/>
            <a:ext cx="360045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b="1" lang="de" sz="1500">
                <a:solidFill>
                  <a:schemeClr val="dk1"/>
                </a:solidFill>
                <a:latin typeface="Calibri"/>
                <a:ea typeface="Calibri"/>
                <a:cs typeface="Calibri"/>
                <a:sym typeface="Calibri"/>
              </a:rPr>
              <a:t>Aufgabenstellung</a:t>
            </a:r>
            <a:endParaRPr b="1" sz="1500">
              <a:solidFill>
                <a:schemeClr val="dk1"/>
              </a:solidFill>
              <a:latin typeface="Calibri"/>
              <a:ea typeface="Calibri"/>
              <a:cs typeface="Calibri"/>
              <a:sym typeface="Calibri"/>
            </a:endParaRPr>
          </a:p>
        </p:txBody>
      </p:sp>
      <p:sp>
        <p:nvSpPr>
          <p:cNvPr id="168" name="Google Shape;168;p20"/>
          <p:cNvSpPr/>
          <p:nvPr/>
        </p:nvSpPr>
        <p:spPr>
          <a:xfrm>
            <a:off x="4382262" y="1138428"/>
            <a:ext cx="4350029"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800"/>
              <a:buFont typeface="Calibri"/>
              <a:buNone/>
            </a:pPr>
            <a:r>
              <a:rPr b="1" lang="de" sz="1500">
                <a:solidFill>
                  <a:schemeClr val="dk1"/>
                </a:solidFill>
                <a:latin typeface="Calibri"/>
                <a:ea typeface="Calibri"/>
                <a:cs typeface="Calibri"/>
                <a:sym typeface="Calibri"/>
              </a:rPr>
              <a:t>Umsetzung</a:t>
            </a:r>
            <a:endParaRPr b="1" sz="1500">
              <a:solidFill>
                <a:schemeClr val="dk1"/>
              </a:solidFill>
              <a:latin typeface="Calibri"/>
              <a:ea typeface="Calibri"/>
              <a:cs typeface="Calibri"/>
              <a:sym typeface="Calibri"/>
            </a:endParaRPr>
          </a:p>
        </p:txBody>
      </p:sp>
      <p:sp>
        <p:nvSpPr>
          <p:cNvPr id="169" name="Google Shape;169;p20"/>
          <p:cNvSpPr/>
          <p:nvPr/>
        </p:nvSpPr>
        <p:spPr>
          <a:xfrm>
            <a:off x="425196" y="1412748"/>
            <a:ext cx="3600450" cy="534924"/>
          </a:xfrm>
          <a:prstGeom prst="roundRect">
            <a:avLst>
              <a:gd fmla="val 8974"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0" name="Google Shape;170;p20"/>
          <p:cNvSpPr/>
          <p:nvPr/>
        </p:nvSpPr>
        <p:spPr>
          <a:xfrm>
            <a:off x="576072" y="1412748"/>
            <a:ext cx="3298698"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4E63"/>
              </a:buClr>
              <a:buSzPts val="900"/>
              <a:buFont typeface="Calibri"/>
              <a:buNone/>
            </a:pPr>
            <a:r>
              <a:rPr lang="de" sz="900">
                <a:solidFill>
                  <a:srgbClr val="134E63"/>
                </a:solidFill>
                <a:latin typeface="Calibri"/>
                <a:ea typeface="Calibri"/>
                <a:cs typeface="Calibri"/>
                <a:sym typeface="Calibri"/>
              </a:rPr>
              <a:t>„Grundgerüst … mit starkem Fokus auf die Architektur“</a:t>
            </a:r>
            <a:endParaRPr sz="900">
              <a:solidFill>
                <a:schemeClr val="dk1"/>
              </a:solidFill>
              <a:latin typeface="Calibri"/>
              <a:ea typeface="Calibri"/>
              <a:cs typeface="Calibri"/>
              <a:sym typeface="Calibri"/>
            </a:endParaRPr>
          </a:p>
        </p:txBody>
      </p:sp>
      <p:sp>
        <p:nvSpPr>
          <p:cNvPr id="171" name="Google Shape;171;p20"/>
          <p:cNvSpPr/>
          <p:nvPr/>
        </p:nvSpPr>
        <p:spPr>
          <a:xfrm>
            <a:off x="4080510" y="1611630"/>
            <a:ext cx="233172" cy="137160"/>
          </a:xfrm>
          <a:prstGeom prst="rightArrow">
            <a:avLst>
              <a:gd fmla="val 50000" name="adj1"/>
              <a:gd fmla="val 50000" name="adj2"/>
            </a:avLst>
          </a:prstGeom>
          <a:solidFill>
            <a:srgbClr val="AEBECB"/>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2" name="Google Shape;172;p20"/>
          <p:cNvSpPr/>
          <p:nvPr/>
        </p:nvSpPr>
        <p:spPr>
          <a:xfrm>
            <a:off x="4368546" y="1412748"/>
            <a:ext cx="4350029" cy="534924"/>
          </a:xfrm>
          <a:prstGeom prst="roundRect">
            <a:avLst>
              <a:gd fmla="val 8974"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3" name="Google Shape;173;p20"/>
          <p:cNvSpPr/>
          <p:nvPr/>
        </p:nvSpPr>
        <p:spPr>
          <a:xfrm>
            <a:off x="4519422" y="1412748"/>
            <a:ext cx="4048277"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lang="de" sz="900">
                <a:solidFill>
                  <a:srgbClr val="17242F"/>
                </a:solidFill>
                <a:latin typeface="Calibri"/>
                <a:ea typeface="Calibri"/>
                <a:cs typeface="Calibri"/>
                <a:sym typeface="Calibri"/>
              </a:rPr>
              <a:t>Tiefe bei den Architektur-Patterns, bewusst schlanke Oberfläche</a:t>
            </a:r>
            <a:endParaRPr sz="900">
              <a:solidFill>
                <a:schemeClr val="dk1"/>
              </a:solidFill>
              <a:latin typeface="Calibri"/>
              <a:ea typeface="Calibri"/>
              <a:cs typeface="Calibri"/>
              <a:sym typeface="Calibri"/>
            </a:endParaRPr>
          </a:p>
        </p:txBody>
      </p:sp>
      <p:sp>
        <p:nvSpPr>
          <p:cNvPr id="174" name="Google Shape;174;p20"/>
          <p:cNvSpPr/>
          <p:nvPr/>
        </p:nvSpPr>
        <p:spPr>
          <a:xfrm>
            <a:off x="425196" y="2029968"/>
            <a:ext cx="3600450" cy="534924"/>
          </a:xfrm>
          <a:prstGeom prst="roundRect">
            <a:avLst>
              <a:gd fmla="val 8974"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5" name="Google Shape;175;p20"/>
          <p:cNvSpPr/>
          <p:nvPr/>
        </p:nvSpPr>
        <p:spPr>
          <a:xfrm>
            <a:off x="576072" y="2029968"/>
            <a:ext cx="3298698"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4E63"/>
              </a:buClr>
              <a:buSzPts val="900"/>
              <a:buFont typeface="Calibri"/>
              <a:buNone/>
            </a:pPr>
            <a:r>
              <a:rPr lang="de" sz="900">
                <a:solidFill>
                  <a:srgbClr val="134E63"/>
                </a:solidFill>
                <a:latin typeface="Calibri"/>
                <a:ea typeface="Calibri"/>
                <a:cs typeface="Calibri"/>
                <a:sym typeface="Calibri"/>
              </a:rPr>
              <a:t>MVP-Gedanke leitet den Funktionsumfang</a:t>
            </a:r>
            <a:endParaRPr sz="900">
              <a:solidFill>
                <a:schemeClr val="dk1"/>
              </a:solidFill>
              <a:latin typeface="Calibri"/>
              <a:ea typeface="Calibri"/>
              <a:cs typeface="Calibri"/>
              <a:sym typeface="Calibri"/>
            </a:endParaRPr>
          </a:p>
        </p:txBody>
      </p:sp>
      <p:sp>
        <p:nvSpPr>
          <p:cNvPr id="176" name="Google Shape;176;p20"/>
          <p:cNvSpPr/>
          <p:nvPr/>
        </p:nvSpPr>
        <p:spPr>
          <a:xfrm>
            <a:off x="4080510" y="2228850"/>
            <a:ext cx="233172" cy="137160"/>
          </a:xfrm>
          <a:prstGeom prst="rightArrow">
            <a:avLst>
              <a:gd fmla="val 50000" name="adj1"/>
              <a:gd fmla="val 50000" name="adj2"/>
            </a:avLst>
          </a:prstGeom>
          <a:solidFill>
            <a:srgbClr val="AEBECB"/>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7" name="Google Shape;177;p20"/>
          <p:cNvSpPr/>
          <p:nvPr/>
        </p:nvSpPr>
        <p:spPr>
          <a:xfrm>
            <a:off x="4368546" y="2029968"/>
            <a:ext cx="4350029" cy="534924"/>
          </a:xfrm>
          <a:prstGeom prst="roundRect">
            <a:avLst>
              <a:gd fmla="val 8974"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8" name="Google Shape;178;p20"/>
          <p:cNvSpPr/>
          <p:nvPr/>
        </p:nvSpPr>
        <p:spPr>
          <a:xfrm>
            <a:off x="4519422" y="2029968"/>
            <a:ext cx="4048277"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lang="de" sz="900">
                <a:solidFill>
                  <a:srgbClr val="17242F"/>
                </a:solidFill>
                <a:latin typeface="Calibri"/>
                <a:ea typeface="Calibri"/>
                <a:cs typeface="Calibri"/>
                <a:sym typeface="Calibri"/>
              </a:rPr>
              <a:t>7 Services als MVP-Schnitt entlang fachlicher Grenzen — Erweiterung agil statt Big Bang</a:t>
            </a:r>
            <a:endParaRPr sz="900">
              <a:solidFill>
                <a:schemeClr val="dk1"/>
              </a:solidFill>
              <a:latin typeface="Calibri"/>
              <a:ea typeface="Calibri"/>
              <a:cs typeface="Calibri"/>
              <a:sym typeface="Calibri"/>
            </a:endParaRPr>
          </a:p>
        </p:txBody>
      </p:sp>
      <p:sp>
        <p:nvSpPr>
          <p:cNvPr id="179" name="Google Shape;179;p20"/>
          <p:cNvSpPr/>
          <p:nvPr/>
        </p:nvSpPr>
        <p:spPr>
          <a:xfrm>
            <a:off x="425196" y="2647188"/>
            <a:ext cx="3600450" cy="534924"/>
          </a:xfrm>
          <a:prstGeom prst="roundRect">
            <a:avLst>
              <a:gd fmla="val 8974"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0" name="Google Shape;180;p20"/>
          <p:cNvSpPr/>
          <p:nvPr/>
        </p:nvSpPr>
        <p:spPr>
          <a:xfrm>
            <a:off x="576072" y="2647188"/>
            <a:ext cx="3298698"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4E63"/>
              </a:buClr>
              <a:buSzPts val="900"/>
              <a:buFont typeface="Calibri"/>
              <a:buNone/>
            </a:pPr>
            <a:r>
              <a:rPr lang="de" sz="900">
                <a:solidFill>
                  <a:srgbClr val="134E63"/>
                </a:solidFill>
                <a:latin typeface="Calibri"/>
                <a:ea typeface="Calibri"/>
                <a:cs typeface="Calibri"/>
                <a:sym typeface="Calibri"/>
              </a:rPr>
              <a:t>Plugin-Architektur für neue Board-Typen</a:t>
            </a:r>
            <a:endParaRPr sz="900">
              <a:solidFill>
                <a:schemeClr val="dk1"/>
              </a:solidFill>
              <a:latin typeface="Calibri"/>
              <a:ea typeface="Calibri"/>
              <a:cs typeface="Calibri"/>
              <a:sym typeface="Calibri"/>
            </a:endParaRPr>
          </a:p>
        </p:txBody>
      </p:sp>
      <p:sp>
        <p:nvSpPr>
          <p:cNvPr id="181" name="Google Shape;181;p20"/>
          <p:cNvSpPr/>
          <p:nvPr/>
        </p:nvSpPr>
        <p:spPr>
          <a:xfrm>
            <a:off x="4080510" y="2846070"/>
            <a:ext cx="233172" cy="137160"/>
          </a:xfrm>
          <a:prstGeom prst="rightArrow">
            <a:avLst>
              <a:gd fmla="val 50000" name="adj1"/>
              <a:gd fmla="val 50000" name="adj2"/>
            </a:avLst>
          </a:prstGeom>
          <a:solidFill>
            <a:srgbClr val="AEBECB"/>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2" name="Google Shape;182;p20"/>
          <p:cNvSpPr/>
          <p:nvPr/>
        </p:nvSpPr>
        <p:spPr>
          <a:xfrm>
            <a:off x="4368546" y="2647188"/>
            <a:ext cx="4350029" cy="534924"/>
          </a:xfrm>
          <a:prstGeom prst="roundRect">
            <a:avLst>
              <a:gd fmla="val 8974"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3" name="Google Shape;183;p20"/>
          <p:cNvSpPr/>
          <p:nvPr/>
        </p:nvSpPr>
        <p:spPr>
          <a:xfrm>
            <a:off x="4519422" y="2647188"/>
            <a:ext cx="4048277"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lang="de" sz="900">
                <a:solidFill>
                  <a:srgbClr val="17242F"/>
                </a:solidFill>
                <a:latin typeface="Calibri"/>
                <a:ea typeface="Calibri"/>
                <a:cs typeface="Calibri"/>
                <a:sym typeface="Calibri"/>
              </a:rPr>
              <a:t>Board-Typen sind Laufzeit-Daten in der Board Registry, kein Compile-Zeit-Code</a:t>
            </a:r>
            <a:endParaRPr sz="900">
              <a:solidFill>
                <a:schemeClr val="dk1"/>
              </a:solidFill>
              <a:latin typeface="Calibri"/>
              <a:ea typeface="Calibri"/>
              <a:cs typeface="Calibri"/>
              <a:sym typeface="Calibri"/>
            </a:endParaRPr>
          </a:p>
        </p:txBody>
      </p:sp>
      <p:sp>
        <p:nvSpPr>
          <p:cNvPr id="184" name="Google Shape;184;p20"/>
          <p:cNvSpPr/>
          <p:nvPr/>
        </p:nvSpPr>
        <p:spPr>
          <a:xfrm>
            <a:off x="425196" y="3264408"/>
            <a:ext cx="3600450" cy="534924"/>
          </a:xfrm>
          <a:prstGeom prst="roundRect">
            <a:avLst>
              <a:gd fmla="val 8974"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5" name="Google Shape;185;p20"/>
          <p:cNvSpPr/>
          <p:nvPr/>
        </p:nvSpPr>
        <p:spPr>
          <a:xfrm>
            <a:off x="576072" y="3264408"/>
            <a:ext cx="3298698"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4E63"/>
              </a:buClr>
              <a:buSzPts val="900"/>
              <a:buFont typeface="Calibri"/>
              <a:buNone/>
            </a:pPr>
            <a:r>
              <a:rPr lang="de" sz="900">
                <a:solidFill>
                  <a:srgbClr val="134E63"/>
                </a:solidFill>
                <a:latin typeface="Calibri"/>
                <a:ea typeface="Calibri"/>
                <a:cs typeface="Calibri"/>
                <a:sym typeface="Calibri"/>
              </a:rPr>
              <a:t>API-Schnittstelle für Drittsysteme</a:t>
            </a:r>
            <a:endParaRPr sz="900">
              <a:solidFill>
                <a:schemeClr val="dk1"/>
              </a:solidFill>
              <a:latin typeface="Calibri"/>
              <a:ea typeface="Calibri"/>
              <a:cs typeface="Calibri"/>
              <a:sym typeface="Calibri"/>
            </a:endParaRPr>
          </a:p>
        </p:txBody>
      </p:sp>
      <p:sp>
        <p:nvSpPr>
          <p:cNvPr id="186" name="Google Shape;186;p20"/>
          <p:cNvSpPr/>
          <p:nvPr/>
        </p:nvSpPr>
        <p:spPr>
          <a:xfrm>
            <a:off x="4080510" y="3463290"/>
            <a:ext cx="233172" cy="137160"/>
          </a:xfrm>
          <a:prstGeom prst="rightArrow">
            <a:avLst>
              <a:gd fmla="val 50000" name="adj1"/>
              <a:gd fmla="val 50000" name="adj2"/>
            </a:avLst>
          </a:prstGeom>
          <a:solidFill>
            <a:srgbClr val="AEBECB"/>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7" name="Google Shape;187;p20"/>
          <p:cNvSpPr/>
          <p:nvPr/>
        </p:nvSpPr>
        <p:spPr>
          <a:xfrm>
            <a:off x="4368546" y="3264408"/>
            <a:ext cx="4350029" cy="534924"/>
          </a:xfrm>
          <a:prstGeom prst="roundRect">
            <a:avLst>
              <a:gd fmla="val 8974"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8" name="Google Shape;188;p20"/>
          <p:cNvSpPr/>
          <p:nvPr/>
        </p:nvSpPr>
        <p:spPr>
          <a:xfrm>
            <a:off x="4519422" y="3264408"/>
            <a:ext cx="4048277"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lang="de" sz="900">
                <a:solidFill>
                  <a:srgbClr val="17242F"/>
                </a:solidFill>
                <a:latin typeface="Calibri"/>
                <a:ea typeface="Calibri"/>
                <a:cs typeface="Calibri"/>
                <a:sym typeface="Calibri"/>
              </a:rPr>
              <a:t>OpenAPI-first, Webhooks mit HMAC — plus MCP-Connector für die Nutzung mit LLMs</a:t>
            </a:r>
            <a:endParaRPr sz="900">
              <a:solidFill>
                <a:schemeClr val="dk1"/>
              </a:solidFill>
              <a:latin typeface="Calibri"/>
              <a:ea typeface="Calibri"/>
              <a:cs typeface="Calibri"/>
              <a:sym typeface="Calibri"/>
            </a:endParaRPr>
          </a:p>
        </p:txBody>
      </p:sp>
      <p:sp>
        <p:nvSpPr>
          <p:cNvPr id="189" name="Google Shape;189;p20"/>
          <p:cNvSpPr/>
          <p:nvPr/>
        </p:nvSpPr>
        <p:spPr>
          <a:xfrm>
            <a:off x="425196" y="3881628"/>
            <a:ext cx="3600450" cy="534924"/>
          </a:xfrm>
          <a:prstGeom prst="roundRect">
            <a:avLst>
              <a:gd fmla="val 8974"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0" name="Google Shape;190;p20"/>
          <p:cNvSpPr/>
          <p:nvPr/>
        </p:nvSpPr>
        <p:spPr>
          <a:xfrm>
            <a:off x="576072" y="3881628"/>
            <a:ext cx="3298698"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4E63"/>
              </a:buClr>
              <a:buSzPts val="900"/>
              <a:buFont typeface="Calibri"/>
              <a:buNone/>
            </a:pPr>
            <a:r>
              <a:rPr lang="de" sz="900">
                <a:solidFill>
                  <a:srgbClr val="134E63"/>
                </a:solidFill>
                <a:latin typeface="Calibri"/>
                <a:ea typeface="Calibri"/>
                <a:cs typeface="Calibri"/>
                <a:sym typeface="Calibri"/>
              </a:rPr>
              <a:t>Start mit einem einzigen Kommando</a:t>
            </a:r>
            <a:endParaRPr sz="900">
              <a:solidFill>
                <a:schemeClr val="dk1"/>
              </a:solidFill>
              <a:latin typeface="Calibri"/>
              <a:ea typeface="Calibri"/>
              <a:cs typeface="Calibri"/>
              <a:sym typeface="Calibri"/>
            </a:endParaRPr>
          </a:p>
        </p:txBody>
      </p:sp>
      <p:sp>
        <p:nvSpPr>
          <p:cNvPr id="191" name="Google Shape;191;p20"/>
          <p:cNvSpPr/>
          <p:nvPr/>
        </p:nvSpPr>
        <p:spPr>
          <a:xfrm>
            <a:off x="4080510" y="4080510"/>
            <a:ext cx="233172" cy="137160"/>
          </a:xfrm>
          <a:prstGeom prst="rightArrow">
            <a:avLst>
              <a:gd fmla="val 50000" name="adj1"/>
              <a:gd fmla="val 50000" name="adj2"/>
            </a:avLst>
          </a:prstGeom>
          <a:solidFill>
            <a:srgbClr val="AEBECB"/>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2" name="Google Shape;192;p20"/>
          <p:cNvSpPr/>
          <p:nvPr/>
        </p:nvSpPr>
        <p:spPr>
          <a:xfrm>
            <a:off x="4368546" y="3881628"/>
            <a:ext cx="4350029" cy="534924"/>
          </a:xfrm>
          <a:prstGeom prst="roundRect">
            <a:avLst>
              <a:gd fmla="val 8974"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3" name="Google Shape;193;p20"/>
          <p:cNvSpPr/>
          <p:nvPr/>
        </p:nvSpPr>
        <p:spPr>
          <a:xfrm>
            <a:off x="4519422" y="3881628"/>
            <a:ext cx="4048277"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lang="de" sz="900">
                <a:solidFill>
                  <a:srgbClr val="17242F"/>
                </a:solidFill>
                <a:latin typeface="Calibri"/>
                <a:ea typeface="Calibri"/>
                <a:cs typeface="Calibri"/>
                <a:sym typeface="Calibri"/>
              </a:rPr>
              <a:t>make up bzw. docker compose up — identisch lokal wie auf dem Server</a:t>
            </a:r>
            <a:endParaRPr sz="900">
              <a:solidFill>
                <a:schemeClr val="dk1"/>
              </a:solidFill>
              <a:latin typeface="Calibri"/>
              <a:ea typeface="Calibri"/>
              <a:cs typeface="Calibri"/>
              <a:sym typeface="Calibri"/>
            </a:endParaRPr>
          </a:p>
        </p:txBody>
      </p:sp>
      <p:sp>
        <p:nvSpPr>
          <p:cNvPr id="194" name="Google Shape;194;p20"/>
          <p:cNvSpPr/>
          <p:nvPr/>
        </p:nvSpPr>
        <p:spPr>
          <a:xfrm>
            <a:off x="425196" y="4567428"/>
            <a:ext cx="8293379" cy="2400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E7C"/>
              </a:buClr>
              <a:buSzPts val="900"/>
              <a:buFont typeface="Calibri"/>
              <a:buNone/>
            </a:pPr>
            <a:r>
              <a:rPr i="1" lang="de" sz="900">
                <a:solidFill>
                  <a:srgbClr val="5E6E7C"/>
                </a:solidFill>
                <a:latin typeface="Calibri"/>
                <a:ea typeface="Calibri"/>
                <a:cs typeface="Calibri"/>
                <a:sym typeface="Calibri"/>
              </a:rPr>
              <a:t>Geprüft wird die Architektur, nicht der Feature-Umfang — jede Scope-Entscheidung folgt dieser Lesart.</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99" name="Shape 199"/>
        <p:cNvGrpSpPr/>
        <p:nvPr/>
      </p:nvGrpSpPr>
      <p:grpSpPr>
        <a:xfrm>
          <a:off x="0" y="0"/>
          <a:ext cx="0" cy="0"/>
          <a:chOff x="0" y="0"/>
          <a:chExt cx="0" cy="0"/>
        </a:xfrm>
      </p:grpSpPr>
      <p:sp>
        <p:nvSpPr>
          <p:cNvPr id="200" name="Google Shape;200;p21"/>
          <p:cNvSpPr/>
          <p:nvPr/>
        </p:nvSpPr>
        <p:spPr>
          <a:xfrm>
            <a:off x="425196" y="288036"/>
            <a:ext cx="7543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900"/>
              <a:buFont typeface="Calibri"/>
              <a:buNone/>
            </a:pPr>
            <a:r>
              <a:rPr b="1" lang="de" sz="900">
                <a:solidFill>
                  <a:srgbClr val="1C7293"/>
                </a:solidFill>
                <a:latin typeface="Calibri"/>
                <a:ea typeface="Calibri"/>
                <a:cs typeface="Calibri"/>
                <a:sym typeface="Calibri"/>
              </a:rPr>
              <a:t>PROJEKTBESCHREIBUNG · ANFORDERUNGEN</a:t>
            </a:r>
            <a:endParaRPr sz="900">
              <a:solidFill>
                <a:schemeClr val="dk1"/>
              </a:solidFill>
              <a:latin typeface="Calibri"/>
              <a:ea typeface="Calibri"/>
              <a:cs typeface="Calibri"/>
              <a:sym typeface="Calibri"/>
            </a:endParaRPr>
          </a:p>
        </p:txBody>
      </p:sp>
      <p:sp>
        <p:nvSpPr>
          <p:cNvPr id="201" name="Google Shape;201;p21"/>
          <p:cNvSpPr/>
          <p:nvPr/>
        </p:nvSpPr>
        <p:spPr>
          <a:xfrm>
            <a:off x="425196" y="493776"/>
            <a:ext cx="829818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2300"/>
              <a:buFont typeface="Calibri"/>
              <a:buNone/>
            </a:pPr>
            <a:r>
              <a:rPr b="1" lang="de" sz="2300">
                <a:solidFill>
                  <a:srgbClr val="17242F"/>
                </a:solidFill>
                <a:latin typeface="Calibri"/>
                <a:ea typeface="Calibri"/>
                <a:cs typeface="Calibri"/>
                <a:sym typeface="Calibri"/>
              </a:rPr>
              <a:t>Funktionale Anforderungen</a:t>
            </a:r>
            <a:endParaRPr sz="2300">
              <a:solidFill>
                <a:schemeClr val="dk1"/>
              </a:solidFill>
              <a:latin typeface="Calibri"/>
              <a:ea typeface="Calibri"/>
              <a:cs typeface="Calibri"/>
              <a:sym typeface="Calibri"/>
            </a:endParaRPr>
          </a:p>
        </p:txBody>
      </p:sp>
      <p:sp>
        <p:nvSpPr>
          <p:cNvPr id="202" name="Google Shape;202;p21"/>
          <p:cNvSpPr/>
          <p:nvPr/>
        </p:nvSpPr>
        <p:spPr>
          <a:xfrm>
            <a:off x="425196" y="10012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1000"/>
              <a:buFont typeface="Calibri"/>
              <a:buNone/>
            </a:pPr>
            <a:r>
              <a:rPr lang="de" sz="1000">
                <a:solidFill>
                  <a:srgbClr val="5E6E7C"/>
                </a:solidFill>
                <a:latin typeface="Calibri"/>
                <a:ea typeface="Calibri"/>
                <a:cs typeface="Calibri"/>
                <a:sym typeface="Calibri"/>
              </a:rPr>
              <a:t>54 dokumentierte Use-Cases</a:t>
            </a:r>
            <a:endParaRPr sz="1000">
              <a:solidFill>
                <a:schemeClr val="dk1"/>
              </a:solidFill>
              <a:latin typeface="Calibri"/>
              <a:ea typeface="Calibri"/>
              <a:cs typeface="Calibri"/>
              <a:sym typeface="Calibri"/>
            </a:endParaRPr>
          </a:p>
        </p:txBody>
      </p:sp>
      <p:sp>
        <p:nvSpPr>
          <p:cNvPr id="203" name="Google Shape;203;p21"/>
          <p:cNvSpPr/>
          <p:nvPr/>
        </p:nvSpPr>
        <p:spPr>
          <a:xfrm>
            <a:off x="425196" y="1303020"/>
            <a:ext cx="3992385" cy="720090"/>
          </a:xfrm>
          <a:prstGeom prst="roundRect">
            <a:avLst>
              <a:gd fmla="val 7619"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4" name="Google Shape;204;p21"/>
          <p:cNvSpPr/>
          <p:nvPr/>
        </p:nvSpPr>
        <p:spPr>
          <a:xfrm>
            <a:off x="617220" y="1399032"/>
            <a:ext cx="8229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800"/>
              <a:buFont typeface="Calibri"/>
              <a:buNone/>
            </a:pPr>
            <a:r>
              <a:rPr b="1" lang="de" sz="800">
                <a:solidFill>
                  <a:srgbClr val="1C7293"/>
                </a:solidFill>
                <a:latin typeface="Calibri"/>
                <a:ea typeface="Calibri"/>
                <a:cs typeface="Calibri"/>
                <a:sym typeface="Calibri"/>
              </a:rPr>
              <a:t>FA-1</a:t>
            </a:r>
            <a:endParaRPr sz="800">
              <a:solidFill>
                <a:schemeClr val="dk1"/>
              </a:solidFill>
              <a:latin typeface="Calibri"/>
              <a:ea typeface="Calibri"/>
              <a:cs typeface="Calibri"/>
              <a:sym typeface="Calibri"/>
            </a:endParaRPr>
          </a:p>
        </p:txBody>
      </p:sp>
      <p:sp>
        <p:nvSpPr>
          <p:cNvPr id="205" name="Google Shape;205;p21"/>
          <p:cNvSpPr/>
          <p:nvPr/>
        </p:nvSpPr>
        <p:spPr>
          <a:xfrm>
            <a:off x="617220" y="1549908"/>
            <a:ext cx="296368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Authentifizierung &amp; Identität</a:t>
            </a:r>
            <a:endParaRPr sz="1100">
              <a:solidFill>
                <a:schemeClr val="dk1"/>
              </a:solidFill>
              <a:latin typeface="Calibri"/>
              <a:ea typeface="Calibri"/>
              <a:cs typeface="Calibri"/>
              <a:sym typeface="Calibri"/>
            </a:endParaRPr>
          </a:p>
        </p:txBody>
      </p:sp>
      <p:sp>
        <p:nvSpPr>
          <p:cNvPr id="206" name="Google Shape;206;p21"/>
          <p:cNvSpPr/>
          <p:nvPr/>
        </p:nvSpPr>
        <p:spPr>
          <a:xfrm>
            <a:off x="617220" y="1769364"/>
            <a:ext cx="296368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Registrierung, Login, Token-Refresh, Passwort-Reset, JWKS</a:t>
            </a:r>
            <a:endParaRPr sz="800">
              <a:solidFill>
                <a:schemeClr val="dk1"/>
              </a:solidFill>
              <a:latin typeface="Calibri"/>
              <a:ea typeface="Calibri"/>
              <a:cs typeface="Calibri"/>
              <a:sym typeface="Calibri"/>
            </a:endParaRPr>
          </a:p>
        </p:txBody>
      </p:sp>
      <p:sp>
        <p:nvSpPr>
          <p:cNvPr id="207" name="Google Shape;207;p21"/>
          <p:cNvSpPr/>
          <p:nvPr/>
        </p:nvSpPr>
        <p:spPr>
          <a:xfrm>
            <a:off x="3676917" y="1522476"/>
            <a:ext cx="548640" cy="274320"/>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8" name="Google Shape;208;p21"/>
          <p:cNvSpPr/>
          <p:nvPr/>
        </p:nvSpPr>
        <p:spPr>
          <a:xfrm>
            <a:off x="3676917" y="1522476"/>
            <a:ext cx="548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800"/>
              <a:buFont typeface="Calibri"/>
              <a:buNone/>
            </a:pPr>
            <a:r>
              <a:rPr b="1" lang="de" sz="800">
                <a:solidFill>
                  <a:srgbClr val="134E63"/>
                </a:solidFill>
                <a:latin typeface="Calibri"/>
                <a:ea typeface="Calibri"/>
                <a:cs typeface="Calibri"/>
                <a:sym typeface="Calibri"/>
              </a:rPr>
              <a:t>7 UC</a:t>
            </a:r>
            <a:endParaRPr sz="800">
              <a:solidFill>
                <a:schemeClr val="dk1"/>
              </a:solidFill>
              <a:latin typeface="Calibri"/>
              <a:ea typeface="Calibri"/>
              <a:cs typeface="Calibri"/>
              <a:sym typeface="Calibri"/>
            </a:endParaRPr>
          </a:p>
        </p:txBody>
      </p:sp>
      <p:sp>
        <p:nvSpPr>
          <p:cNvPr id="209" name="Google Shape;209;p21"/>
          <p:cNvSpPr/>
          <p:nvPr/>
        </p:nvSpPr>
        <p:spPr>
          <a:xfrm>
            <a:off x="4726191" y="1303020"/>
            <a:ext cx="3992385" cy="720090"/>
          </a:xfrm>
          <a:prstGeom prst="roundRect">
            <a:avLst>
              <a:gd fmla="val 7619"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0" name="Google Shape;210;p21"/>
          <p:cNvSpPr/>
          <p:nvPr/>
        </p:nvSpPr>
        <p:spPr>
          <a:xfrm>
            <a:off x="4918215" y="1399032"/>
            <a:ext cx="8229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800"/>
              <a:buFont typeface="Calibri"/>
              <a:buNone/>
            </a:pPr>
            <a:r>
              <a:rPr b="1" lang="de" sz="800">
                <a:solidFill>
                  <a:srgbClr val="1C7293"/>
                </a:solidFill>
                <a:latin typeface="Calibri"/>
                <a:ea typeface="Calibri"/>
                <a:cs typeface="Calibri"/>
                <a:sym typeface="Calibri"/>
              </a:rPr>
              <a:t>FA-2</a:t>
            </a:r>
            <a:endParaRPr sz="800">
              <a:solidFill>
                <a:schemeClr val="dk1"/>
              </a:solidFill>
              <a:latin typeface="Calibri"/>
              <a:ea typeface="Calibri"/>
              <a:cs typeface="Calibri"/>
              <a:sym typeface="Calibri"/>
            </a:endParaRPr>
          </a:p>
        </p:txBody>
      </p:sp>
      <p:sp>
        <p:nvSpPr>
          <p:cNvPr id="211" name="Google Shape;211;p21"/>
          <p:cNvSpPr/>
          <p:nvPr/>
        </p:nvSpPr>
        <p:spPr>
          <a:xfrm>
            <a:off x="4918215" y="1549908"/>
            <a:ext cx="296368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Projekte, Boards &amp; Rollen</a:t>
            </a:r>
            <a:endParaRPr sz="1100">
              <a:solidFill>
                <a:schemeClr val="dk1"/>
              </a:solidFill>
              <a:latin typeface="Calibri"/>
              <a:ea typeface="Calibri"/>
              <a:cs typeface="Calibri"/>
              <a:sym typeface="Calibri"/>
            </a:endParaRPr>
          </a:p>
        </p:txBody>
      </p:sp>
      <p:sp>
        <p:nvSpPr>
          <p:cNvPr id="212" name="Google Shape;212;p21"/>
          <p:cNvSpPr/>
          <p:nvPr/>
        </p:nvSpPr>
        <p:spPr>
          <a:xfrm>
            <a:off x="4918215" y="1769364"/>
            <a:ext cx="296368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Projekt-CRUD, Mitglieder, Rollenwechsel, Board-Anlage</a:t>
            </a:r>
            <a:endParaRPr sz="800">
              <a:solidFill>
                <a:schemeClr val="dk1"/>
              </a:solidFill>
              <a:latin typeface="Calibri"/>
              <a:ea typeface="Calibri"/>
              <a:cs typeface="Calibri"/>
              <a:sym typeface="Calibri"/>
            </a:endParaRPr>
          </a:p>
        </p:txBody>
      </p:sp>
      <p:sp>
        <p:nvSpPr>
          <p:cNvPr id="213" name="Google Shape;213;p21"/>
          <p:cNvSpPr/>
          <p:nvPr/>
        </p:nvSpPr>
        <p:spPr>
          <a:xfrm>
            <a:off x="7977911" y="1522476"/>
            <a:ext cx="548640" cy="274320"/>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4" name="Google Shape;214;p21"/>
          <p:cNvSpPr/>
          <p:nvPr/>
        </p:nvSpPr>
        <p:spPr>
          <a:xfrm>
            <a:off x="7977911" y="1522476"/>
            <a:ext cx="548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800"/>
              <a:buFont typeface="Calibri"/>
              <a:buNone/>
            </a:pPr>
            <a:r>
              <a:rPr b="1" lang="de" sz="800">
                <a:solidFill>
                  <a:srgbClr val="134E63"/>
                </a:solidFill>
                <a:latin typeface="Calibri"/>
                <a:ea typeface="Calibri"/>
                <a:cs typeface="Calibri"/>
                <a:sym typeface="Calibri"/>
              </a:rPr>
              <a:t>9 UC</a:t>
            </a:r>
            <a:endParaRPr sz="800">
              <a:solidFill>
                <a:schemeClr val="dk1"/>
              </a:solidFill>
              <a:latin typeface="Calibri"/>
              <a:ea typeface="Calibri"/>
              <a:cs typeface="Calibri"/>
              <a:sym typeface="Calibri"/>
            </a:endParaRPr>
          </a:p>
        </p:txBody>
      </p:sp>
      <p:sp>
        <p:nvSpPr>
          <p:cNvPr id="215" name="Google Shape;215;p21"/>
          <p:cNvSpPr/>
          <p:nvPr/>
        </p:nvSpPr>
        <p:spPr>
          <a:xfrm>
            <a:off x="425196" y="2160270"/>
            <a:ext cx="3992385" cy="720090"/>
          </a:xfrm>
          <a:prstGeom prst="roundRect">
            <a:avLst>
              <a:gd fmla="val 7619"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6" name="Google Shape;216;p21"/>
          <p:cNvSpPr/>
          <p:nvPr/>
        </p:nvSpPr>
        <p:spPr>
          <a:xfrm>
            <a:off x="617220" y="2256282"/>
            <a:ext cx="8229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800"/>
              <a:buFont typeface="Calibri"/>
              <a:buNone/>
            </a:pPr>
            <a:r>
              <a:rPr b="1" lang="de" sz="800">
                <a:solidFill>
                  <a:srgbClr val="1C7293"/>
                </a:solidFill>
                <a:latin typeface="Calibri"/>
                <a:ea typeface="Calibri"/>
                <a:cs typeface="Calibri"/>
                <a:sym typeface="Calibri"/>
              </a:rPr>
              <a:t>FA-3</a:t>
            </a:r>
            <a:endParaRPr sz="800">
              <a:solidFill>
                <a:schemeClr val="dk1"/>
              </a:solidFill>
              <a:latin typeface="Calibri"/>
              <a:ea typeface="Calibri"/>
              <a:cs typeface="Calibri"/>
              <a:sym typeface="Calibri"/>
            </a:endParaRPr>
          </a:p>
        </p:txBody>
      </p:sp>
      <p:sp>
        <p:nvSpPr>
          <p:cNvPr id="217" name="Google Shape;217;p21"/>
          <p:cNvSpPr/>
          <p:nvPr/>
        </p:nvSpPr>
        <p:spPr>
          <a:xfrm>
            <a:off x="617220" y="2407158"/>
            <a:ext cx="296368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Aufgaben &amp; Zusammenarbeit</a:t>
            </a:r>
            <a:endParaRPr sz="1100">
              <a:solidFill>
                <a:schemeClr val="dk1"/>
              </a:solidFill>
              <a:latin typeface="Calibri"/>
              <a:ea typeface="Calibri"/>
              <a:cs typeface="Calibri"/>
              <a:sym typeface="Calibri"/>
            </a:endParaRPr>
          </a:p>
        </p:txBody>
      </p:sp>
      <p:sp>
        <p:nvSpPr>
          <p:cNvPr id="218" name="Google Shape;218;p21"/>
          <p:cNvSpPr/>
          <p:nvPr/>
        </p:nvSpPr>
        <p:spPr>
          <a:xfrm>
            <a:off x="617220" y="2626614"/>
            <a:ext cx="296368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Tasks, Spaltenwechsel, Zuweisung, Kommentare, Anhänge, History</a:t>
            </a:r>
            <a:endParaRPr sz="800">
              <a:solidFill>
                <a:schemeClr val="dk1"/>
              </a:solidFill>
              <a:latin typeface="Calibri"/>
              <a:ea typeface="Calibri"/>
              <a:cs typeface="Calibri"/>
              <a:sym typeface="Calibri"/>
            </a:endParaRPr>
          </a:p>
        </p:txBody>
      </p:sp>
      <p:sp>
        <p:nvSpPr>
          <p:cNvPr id="219" name="Google Shape;219;p21"/>
          <p:cNvSpPr/>
          <p:nvPr/>
        </p:nvSpPr>
        <p:spPr>
          <a:xfrm>
            <a:off x="3676917" y="2379726"/>
            <a:ext cx="548640" cy="274320"/>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0" name="Google Shape;220;p21"/>
          <p:cNvSpPr/>
          <p:nvPr/>
        </p:nvSpPr>
        <p:spPr>
          <a:xfrm>
            <a:off x="3676917" y="2379726"/>
            <a:ext cx="548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800"/>
              <a:buFont typeface="Calibri"/>
              <a:buNone/>
            </a:pPr>
            <a:r>
              <a:rPr b="1" lang="de" sz="800">
                <a:solidFill>
                  <a:srgbClr val="134E63"/>
                </a:solidFill>
                <a:latin typeface="Calibri"/>
                <a:ea typeface="Calibri"/>
                <a:cs typeface="Calibri"/>
                <a:sym typeface="Calibri"/>
              </a:rPr>
              <a:t>13 UC</a:t>
            </a:r>
            <a:endParaRPr sz="800">
              <a:solidFill>
                <a:schemeClr val="dk1"/>
              </a:solidFill>
              <a:latin typeface="Calibri"/>
              <a:ea typeface="Calibri"/>
              <a:cs typeface="Calibri"/>
              <a:sym typeface="Calibri"/>
            </a:endParaRPr>
          </a:p>
        </p:txBody>
      </p:sp>
      <p:sp>
        <p:nvSpPr>
          <p:cNvPr id="221" name="Google Shape;221;p21"/>
          <p:cNvSpPr/>
          <p:nvPr/>
        </p:nvSpPr>
        <p:spPr>
          <a:xfrm>
            <a:off x="4726191" y="2160270"/>
            <a:ext cx="3992385" cy="720090"/>
          </a:xfrm>
          <a:prstGeom prst="roundRect">
            <a:avLst>
              <a:gd fmla="val 7619"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2" name="Google Shape;222;p21"/>
          <p:cNvSpPr/>
          <p:nvPr/>
        </p:nvSpPr>
        <p:spPr>
          <a:xfrm>
            <a:off x="4918215" y="2256282"/>
            <a:ext cx="8229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800"/>
              <a:buFont typeface="Calibri"/>
              <a:buNone/>
            </a:pPr>
            <a:r>
              <a:rPr b="1" lang="de" sz="800">
                <a:solidFill>
                  <a:srgbClr val="1C7293"/>
                </a:solidFill>
                <a:latin typeface="Calibri"/>
                <a:ea typeface="Calibri"/>
                <a:cs typeface="Calibri"/>
                <a:sym typeface="Calibri"/>
              </a:rPr>
              <a:t>FA-4</a:t>
            </a:r>
            <a:endParaRPr sz="800">
              <a:solidFill>
                <a:schemeClr val="dk1"/>
              </a:solidFill>
              <a:latin typeface="Calibri"/>
              <a:ea typeface="Calibri"/>
              <a:cs typeface="Calibri"/>
              <a:sym typeface="Calibri"/>
            </a:endParaRPr>
          </a:p>
        </p:txBody>
      </p:sp>
      <p:sp>
        <p:nvSpPr>
          <p:cNvPr id="223" name="Google Shape;223;p21"/>
          <p:cNvSpPr/>
          <p:nvPr/>
        </p:nvSpPr>
        <p:spPr>
          <a:xfrm>
            <a:off x="4918215" y="2407158"/>
            <a:ext cx="296368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Dokumente</a:t>
            </a:r>
            <a:endParaRPr sz="1100">
              <a:solidFill>
                <a:srgbClr val="FF0000"/>
              </a:solidFill>
              <a:latin typeface="Calibri"/>
              <a:ea typeface="Calibri"/>
              <a:cs typeface="Calibri"/>
              <a:sym typeface="Calibri"/>
            </a:endParaRPr>
          </a:p>
        </p:txBody>
      </p:sp>
      <p:sp>
        <p:nvSpPr>
          <p:cNvPr id="224" name="Google Shape;224;p21"/>
          <p:cNvSpPr/>
          <p:nvPr/>
        </p:nvSpPr>
        <p:spPr>
          <a:xfrm>
            <a:off x="4918215" y="2626614"/>
            <a:ext cx="296368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Projekt und Task-spezifische Datei Uploads + </a:t>
            </a:r>
            <a:r>
              <a:rPr lang="de" sz="800">
                <a:solidFill>
                  <a:srgbClr val="5E6E7C"/>
                </a:solidFill>
                <a:latin typeface="Calibri"/>
                <a:ea typeface="Calibri"/>
                <a:cs typeface="Calibri"/>
                <a:sym typeface="Calibri"/>
              </a:rPr>
              <a:t>Download-URLs</a:t>
            </a:r>
            <a:endParaRPr sz="800">
              <a:solidFill>
                <a:schemeClr val="dk1"/>
              </a:solidFill>
              <a:latin typeface="Calibri"/>
              <a:ea typeface="Calibri"/>
              <a:cs typeface="Calibri"/>
              <a:sym typeface="Calibri"/>
            </a:endParaRPr>
          </a:p>
        </p:txBody>
      </p:sp>
      <p:sp>
        <p:nvSpPr>
          <p:cNvPr id="225" name="Google Shape;225;p21"/>
          <p:cNvSpPr/>
          <p:nvPr/>
        </p:nvSpPr>
        <p:spPr>
          <a:xfrm>
            <a:off x="7977911" y="2379726"/>
            <a:ext cx="548640" cy="274320"/>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6" name="Google Shape;226;p21"/>
          <p:cNvSpPr/>
          <p:nvPr/>
        </p:nvSpPr>
        <p:spPr>
          <a:xfrm>
            <a:off x="7977911" y="2379726"/>
            <a:ext cx="548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800"/>
              <a:buFont typeface="Calibri"/>
              <a:buNone/>
            </a:pPr>
            <a:r>
              <a:rPr b="1" lang="de" sz="800">
                <a:solidFill>
                  <a:srgbClr val="134E63"/>
                </a:solidFill>
                <a:latin typeface="Calibri"/>
                <a:ea typeface="Calibri"/>
                <a:cs typeface="Calibri"/>
                <a:sym typeface="Calibri"/>
              </a:rPr>
              <a:t>9 UC</a:t>
            </a:r>
            <a:endParaRPr sz="800">
              <a:solidFill>
                <a:schemeClr val="dk1"/>
              </a:solidFill>
              <a:latin typeface="Calibri"/>
              <a:ea typeface="Calibri"/>
              <a:cs typeface="Calibri"/>
              <a:sym typeface="Calibri"/>
            </a:endParaRPr>
          </a:p>
        </p:txBody>
      </p:sp>
      <p:sp>
        <p:nvSpPr>
          <p:cNvPr id="227" name="Google Shape;227;p21"/>
          <p:cNvSpPr/>
          <p:nvPr/>
        </p:nvSpPr>
        <p:spPr>
          <a:xfrm>
            <a:off x="425196" y="3017520"/>
            <a:ext cx="3992385" cy="720090"/>
          </a:xfrm>
          <a:prstGeom prst="roundRect">
            <a:avLst>
              <a:gd fmla="val 7619"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8" name="Google Shape;228;p21"/>
          <p:cNvSpPr/>
          <p:nvPr/>
        </p:nvSpPr>
        <p:spPr>
          <a:xfrm>
            <a:off x="617220" y="3113532"/>
            <a:ext cx="8229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800"/>
              <a:buFont typeface="Calibri"/>
              <a:buNone/>
            </a:pPr>
            <a:r>
              <a:rPr b="1" lang="de" sz="800">
                <a:solidFill>
                  <a:srgbClr val="1C7293"/>
                </a:solidFill>
                <a:latin typeface="Calibri"/>
                <a:ea typeface="Calibri"/>
                <a:cs typeface="Calibri"/>
                <a:sym typeface="Calibri"/>
              </a:rPr>
              <a:t>FA-5</a:t>
            </a:r>
            <a:endParaRPr sz="800">
              <a:solidFill>
                <a:schemeClr val="dk1"/>
              </a:solidFill>
              <a:latin typeface="Calibri"/>
              <a:ea typeface="Calibri"/>
              <a:cs typeface="Calibri"/>
              <a:sym typeface="Calibri"/>
            </a:endParaRPr>
          </a:p>
        </p:txBody>
      </p:sp>
      <p:sp>
        <p:nvSpPr>
          <p:cNvPr id="229" name="Google Shape;229;p21"/>
          <p:cNvSpPr/>
          <p:nvPr/>
        </p:nvSpPr>
        <p:spPr>
          <a:xfrm>
            <a:off x="617220" y="3264408"/>
            <a:ext cx="296368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Echtzeit-Benachrichtigungen</a:t>
            </a:r>
            <a:endParaRPr sz="1100">
              <a:solidFill>
                <a:schemeClr val="dk1"/>
              </a:solidFill>
              <a:latin typeface="Calibri"/>
              <a:ea typeface="Calibri"/>
              <a:cs typeface="Calibri"/>
              <a:sym typeface="Calibri"/>
            </a:endParaRPr>
          </a:p>
        </p:txBody>
      </p:sp>
      <p:sp>
        <p:nvSpPr>
          <p:cNvPr id="230" name="Google Shape;230;p21"/>
          <p:cNvSpPr/>
          <p:nvPr/>
        </p:nvSpPr>
        <p:spPr>
          <a:xfrm>
            <a:off x="617220" y="3483864"/>
            <a:ext cx="296368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WebSocket-Verbindungen, Channels, Push, persistente Notifications</a:t>
            </a:r>
            <a:endParaRPr sz="800">
              <a:solidFill>
                <a:schemeClr val="dk1"/>
              </a:solidFill>
              <a:latin typeface="Calibri"/>
              <a:ea typeface="Calibri"/>
              <a:cs typeface="Calibri"/>
              <a:sym typeface="Calibri"/>
            </a:endParaRPr>
          </a:p>
        </p:txBody>
      </p:sp>
      <p:sp>
        <p:nvSpPr>
          <p:cNvPr id="231" name="Google Shape;231;p21"/>
          <p:cNvSpPr/>
          <p:nvPr/>
        </p:nvSpPr>
        <p:spPr>
          <a:xfrm>
            <a:off x="3676917" y="3236976"/>
            <a:ext cx="548640" cy="274320"/>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2" name="Google Shape;232;p21"/>
          <p:cNvSpPr/>
          <p:nvPr/>
        </p:nvSpPr>
        <p:spPr>
          <a:xfrm>
            <a:off x="3676917" y="3236976"/>
            <a:ext cx="548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800"/>
              <a:buFont typeface="Calibri"/>
              <a:buNone/>
            </a:pPr>
            <a:r>
              <a:rPr b="1" lang="de" sz="800">
                <a:solidFill>
                  <a:srgbClr val="134E63"/>
                </a:solidFill>
                <a:latin typeface="Calibri"/>
                <a:ea typeface="Calibri"/>
                <a:cs typeface="Calibri"/>
                <a:sym typeface="Calibri"/>
              </a:rPr>
              <a:t>7 UC</a:t>
            </a:r>
            <a:endParaRPr sz="800">
              <a:solidFill>
                <a:schemeClr val="dk1"/>
              </a:solidFill>
              <a:latin typeface="Calibri"/>
              <a:ea typeface="Calibri"/>
              <a:cs typeface="Calibri"/>
              <a:sym typeface="Calibri"/>
            </a:endParaRPr>
          </a:p>
        </p:txBody>
      </p:sp>
      <p:sp>
        <p:nvSpPr>
          <p:cNvPr id="233" name="Google Shape;233;p21"/>
          <p:cNvSpPr/>
          <p:nvPr/>
        </p:nvSpPr>
        <p:spPr>
          <a:xfrm>
            <a:off x="4726191" y="3017520"/>
            <a:ext cx="3992385" cy="720090"/>
          </a:xfrm>
          <a:prstGeom prst="roundRect">
            <a:avLst>
              <a:gd fmla="val 7619"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4" name="Google Shape;234;p21"/>
          <p:cNvSpPr/>
          <p:nvPr/>
        </p:nvSpPr>
        <p:spPr>
          <a:xfrm>
            <a:off x="4918215" y="3113532"/>
            <a:ext cx="8229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800"/>
              <a:buFont typeface="Calibri"/>
              <a:buNone/>
            </a:pPr>
            <a:r>
              <a:rPr b="1" lang="de" sz="800">
                <a:solidFill>
                  <a:srgbClr val="1C7293"/>
                </a:solidFill>
                <a:latin typeface="Calibri"/>
                <a:ea typeface="Calibri"/>
                <a:cs typeface="Calibri"/>
                <a:sym typeface="Calibri"/>
              </a:rPr>
              <a:t>FA-6</a:t>
            </a:r>
            <a:endParaRPr sz="800">
              <a:solidFill>
                <a:schemeClr val="dk1"/>
              </a:solidFill>
              <a:latin typeface="Calibri"/>
              <a:ea typeface="Calibri"/>
              <a:cs typeface="Calibri"/>
              <a:sym typeface="Calibri"/>
            </a:endParaRPr>
          </a:p>
        </p:txBody>
      </p:sp>
      <p:sp>
        <p:nvSpPr>
          <p:cNvPr id="235" name="Google Shape;235;p21"/>
          <p:cNvSpPr/>
          <p:nvPr/>
        </p:nvSpPr>
        <p:spPr>
          <a:xfrm>
            <a:off x="4918215" y="3264408"/>
            <a:ext cx="296368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Webhooks &amp; Integrationen</a:t>
            </a:r>
            <a:endParaRPr sz="1100">
              <a:solidFill>
                <a:schemeClr val="dk1"/>
              </a:solidFill>
              <a:latin typeface="Calibri"/>
              <a:ea typeface="Calibri"/>
              <a:cs typeface="Calibri"/>
              <a:sym typeface="Calibri"/>
            </a:endParaRPr>
          </a:p>
        </p:txBody>
      </p:sp>
      <p:sp>
        <p:nvSpPr>
          <p:cNvPr id="236" name="Google Shape;236;p21"/>
          <p:cNvSpPr/>
          <p:nvPr/>
        </p:nvSpPr>
        <p:spPr>
          <a:xfrm>
            <a:off x="4918215" y="3483864"/>
            <a:ext cx="296368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Registrierung, Retry, Delivery-Log, Test-Delivery</a:t>
            </a:r>
            <a:endParaRPr sz="800">
              <a:solidFill>
                <a:schemeClr val="dk1"/>
              </a:solidFill>
              <a:latin typeface="Calibri"/>
              <a:ea typeface="Calibri"/>
              <a:cs typeface="Calibri"/>
              <a:sym typeface="Calibri"/>
            </a:endParaRPr>
          </a:p>
        </p:txBody>
      </p:sp>
      <p:sp>
        <p:nvSpPr>
          <p:cNvPr id="237" name="Google Shape;237;p21"/>
          <p:cNvSpPr/>
          <p:nvPr/>
        </p:nvSpPr>
        <p:spPr>
          <a:xfrm>
            <a:off x="7977911" y="3236976"/>
            <a:ext cx="548640" cy="274320"/>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8" name="Google Shape;238;p21"/>
          <p:cNvSpPr/>
          <p:nvPr/>
        </p:nvSpPr>
        <p:spPr>
          <a:xfrm>
            <a:off x="7977911" y="3236976"/>
            <a:ext cx="548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800"/>
              <a:buFont typeface="Calibri"/>
              <a:buNone/>
            </a:pPr>
            <a:r>
              <a:rPr b="1" lang="de" sz="800">
                <a:solidFill>
                  <a:srgbClr val="134E63"/>
                </a:solidFill>
                <a:latin typeface="Calibri"/>
                <a:ea typeface="Calibri"/>
                <a:cs typeface="Calibri"/>
                <a:sym typeface="Calibri"/>
              </a:rPr>
              <a:t>9 UC</a:t>
            </a:r>
            <a:endParaRPr sz="800">
              <a:solidFill>
                <a:schemeClr val="dk1"/>
              </a:solidFill>
              <a:latin typeface="Calibri"/>
              <a:ea typeface="Calibri"/>
              <a:cs typeface="Calibri"/>
              <a:sym typeface="Calibri"/>
            </a:endParaRPr>
          </a:p>
        </p:txBody>
      </p:sp>
      <p:sp>
        <p:nvSpPr>
          <p:cNvPr id="239" name="Google Shape;239;p21"/>
          <p:cNvSpPr/>
          <p:nvPr/>
        </p:nvSpPr>
        <p:spPr>
          <a:xfrm>
            <a:off x="425196" y="3874770"/>
            <a:ext cx="3992385" cy="720090"/>
          </a:xfrm>
          <a:prstGeom prst="roundRect">
            <a:avLst>
              <a:gd fmla="val 7619"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0" name="Google Shape;240;p21"/>
          <p:cNvSpPr/>
          <p:nvPr/>
        </p:nvSpPr>
        <p:spPr>
          <a:xfrm>
            <a:off x="617220" y="3970782"/>
            <a:ext cx="8229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800"/>
              <a:buFont typeface="Calibri"/>
              <a:buNone/>
            </a:pPr>
            <a:r>
              <a:rPr b="1" lang="de" sz="800">
                <a:solidFill>
                  <a:srgbClr val="1C7293"/>
                </a:solidFill>
                <a:latin typeface="Calibri"/>
                <a:ea typeface="Calibri"/>
                <a:cs typeface="Calibri"/>
                <a:sym typeface="Calibri"/>
              </a:rPr>
              <a:t>FA-7</a:t>
            </a:r>
            <a:endParaRPr sz="800">
              <a:solidFill>
                <a:schemeClr val="dk1"/>
              </a:solidFill>
              <a:latin typeface="Calibri"/>
              <a:ea typeface="Calibri"/>
              <a:cs typeface="Calibri"/>
              <a:sym typeface="Calibri"/>
            </a:endParaRPr>
          </a:p>
        </p:txBody>
      </p:sp>
      <p:sp>
        <p:nvSpPr>
          <p:cNvPr id="241" name="Google Shape;241;p21"/>
          <p:cNvSpPr/>
          <p:nvPr/>
        </p:nvSpPr>
        <p:spPr>
          <a:xfrm>
            <a:off x="617220" y="4121658"/>
            <a:ext cx="296368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Board-Typen zur Laufzeit</a:t>
            </a:r>
            <a:endParaRPr sz="1100">
              <a:solidFill>
                <a:schemeClr val="dk1"/>
              </a:solidFill>
              <a:latin typeface="Calibri"/>
              <a:ea typeface="Calibri"/>
              <a:cs typeface="Calibri"/>
              <a:sym typeface="Calibri"/>
            </a:endParaRPr>
          </a:p>
        </p:txBody>
      </p:sp>
      <p:sp>
        <p:nvSpPr>
          <p:cNvPr id="242" name="Google Shape;242;p21"/>
          <p:cNvSpPr/>
          <p:nvPr/>
        </p:nvSpPr>
        <p:spPr>
          <a:xfrm>
            <a:off x="617220" y="4341114"/>
            <a:ext cx="296368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Registrierung neuer Board-Typen inkl. Spalten &amp; Darstellung</a:t>
            </a:r>
            <a:endParaRPr sz="800">
              <a:solidFill>
                <a:schemeClr val="dk1"/>
              </a:solidFill>
              <a:latin typeface="Calibri"/>
              <a:ea typeface="Calibri"/>
              <a:cs typeface="Calibri"/>
              <a:sym typeface="Calibri"/>
            </a:endParaRPr>
          </a:p>
        </p:txBody>
      </p:sp>
      <p:sp>
        <p:nvSpPr>
          <p:cNvPr id="243" name="Google Shape;243;p21"/>
          <p:cNvSpPr/>
          <p:nvPr/>
        </p:nvSpPr>
        <p:spPr>
          <a:xfrm>
            <a:off x="3676917" y="4094226"/>
            <a:ext cx="548640" cy="274320"/>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4" name="Google Shape;244;p21"/>
          <p:cNvSpPr/>
          <p:nvPr/>
        </p:nvSpPr>
        <p:spPr>
          <a:xfrm>
            <a:off x="3676917" y="4094226"/>
            <a:ext cx="548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800"/>
              <a:buFont typeface="Calibri"/>
              <a:buNone/>
            </a:pPr>
            <a:r>
              <a:rPr b="1" lang="de" sz="800">
                <a:solidFill>
                  <a:srgbClr val="134E63"/>
                </a:solidFill>
                <a:latin typeface="Calibri"/>
                <a:ea typeface="Calibri"/>
                <a:cs typeface="Calibri"/>
                <a:sym typeface="Calibri"/>
              </a:rPr>
              <a:t>—</a:t>
            </a:r>
            <a:endParaRPr sz="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49" name="Shape 249"/>
        <p:cNvGrpSpPr/>
        <p:nvPr/>
      </p:nvGrpSpPr>
      <p:grpSpPr>
        <a:xfrm>
          <a:off x="0" y="0"/>
          <a:ext cx="0" cy="0"/>
          <a:chOff x="0" y="0"/>
          <a:chExt cx="0" cy="0"/>
        </a:xfrm>
      </p:grpSpPr>
      <p:sp>
        <p:nvSpPr>
          <p:cNvPr id="250" name="Google Shape;250;p22"/>
          <p:cNvSpPr/>
          <p:nvPr/>
        </p:nvSpPr>
        <p:spPr>
          <a:xfrm>
            <a:off x="425196" y="288036"/>
            <a:ext cx="7543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900"/>
              <a:buFont typeface="Calibri"/>
              <a:buNone/>
            </a:pPr>
            <a:r>
              <a:rPr b="1" lang="de" sz="900">
                <a:solidFill>
                  <a:srgbClr val="1C7293"/>
                </a:solidFill>
                <a:latin typeface="Calibri"/>
                <a:ea typeface="Calibri"/>
                <a:cs typeface="Calibri"/>
                <a:sym typeface="Calibri"/>
              </a:rPr>
              <a:t>PROJEKTBESCHREIBUNG · ANFORDERUNGEN</a:t>
            </a:r>
            <a:endParaRPr sz="900">
              <a:solidFill>
                <a:schemeClr val="dk1"/>
              </a:solidFill>
              <a:latin typeface="Calibri"/>
              <a:ea typeface="Calibri"/>
              <a:cs typeface="Calibri"/>
              <a:sym typeface="Calibri"/>
            </a:endParaRPr>
          </a:p>
        </p:txBody>
      </p:sp>
      <p:sp>
        <p:nvSpPr>
          <p:cNvPr id="251" name="Google Shape;251;p22"/>
          <p:cNvSpPr/>
          <p:nvPr/>
        </p:nvSpPr>
        <p:spPr>
          <a:xfrm>
            <a:off x="425196" y="493776"/>
            <a:ext cx="829818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2300"/>
              <a:buFont typeface="Calibri"/>
              <a:buNone/>
            </a:pPr>
            <a:r>
              <a:rPr b="1" lang="de" sz="2300">
                <a:solidFill>
                  <a:srgbClr val="17242F"/>
                </a:solidFill>
                <a:latin typeface="Calibri"/>
                <a:ea typeface="Calibri"/>
                <a:cs typeface="Calibri"/>
                <a:sym typeface="Calibri"/>
              </a:rPr>
              <a:t>Nichtfunktionale Anforderungen</a:t>
            </a:r>
            <a:endParaRPr sz="2300">
              <a:solidFill>
                <a:schemeClr val="dk1"/>
              </a:solidFill>
              <a:latin typeface="Calibri"/>
              <a:ea typeface="Calibri"/>
              <a:cs typeface="Calibri"/>
              <a:sym typeface="Calibri"/>
            </a:endParaRPr>
          </a:p>
        </p:txBody>
      </p:sp>
      <p:sp>
        <p:nvSpPr>
          <p:cNvPr id="252" name="Google Shape;252;p22"/>
          <p:cNvSpPr/>
          <p:nvPr/>
        </p:nvSpPr>
        <p:spPr>
          <a:xfrm>
            <a:off x="425196" y="10012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1000"/>
              <a:buFont typeface="Calibri"/>
              <a:buNone/>
            </a:pPr>
            <a:r>
              <a:rPr lang="de" sz="1000">
                <a:solidFill>
                  <a:srgbClr val="5E6E7C"/>
                </a:solidFill>
                <a:latin typeface="Calibri"/>
                <a:ea typeface="Calibri"/>
                <a:cs typeface="Calibri"/>
                <a:sym typeface="Calibri"/>
              </a:rPr>
              <a:t>Abgeleitet aus den 12 verbindlichen Architekturprinzipien unserer Architektur-Referenz — Abweichung erfordert ein ADR</a:t>
            </a:r>
            <a:endParaRPr sz="1000">
              <a:solidFill>
                <a:schemeClr val="dk1"/>
              </a:solidFill>
              <a:latin typeface="Calibri"/>
              <a:ea typeface="Calibri"/>
              <a:cs typeface="Calibri"/>
              <a:sym typeface="Calibri"/>
            </a:endParaRPr>
          </a:p>
        </p:txBody>
      </p:sp>
      <p:sp>
        <p:nvSpPr>
          <p:cNvPr id="253" name="Google Shape;253;p22"/>
          <p:cNvSpPr/>
          <p:nvPr/>
        </p:nvSpPr>
        <p:spPr>
          <a:xfrm>
            <a:off x="425196" y="1316736"/>
            <a:ext cx="1898466" cy="1453896"/>
          </a:xfrm>
          <a:prstGeom prst="roundRect">
            <a:avLst>
              <a:gd fmla="val 3774"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4" name="Google Shape;254;p22"/>
          <p:cNvSpPr/>
          <p:nvPr/>
        </p:nvSpPr>
        <p:spPr>
          <a:xfrm>
            <a:off x="617220" y="1495044"/>
            <a:ext cx="301752" cy="301752"/>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5" name="Google Shape;255;p22"/>
          <p:cNvSpPr/>
          <p:nvPr/>
        </p:nvSpPr>
        <p:spPr>
          <a:xfrm>
            <a:off x="617220" y="1495044"/>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de" sz="1000">
                <a:solidFill>
                  <a:srgbClr val="FFFFFF"/>
                </a:solidFill>
                <a:latin typeface="Calibri"/>
                <a:ea typeface="Calibri"/>
                <a:cs typeface="Calibri"/>
                <a:sym typeface="Calibri"/>
              </a:rPr>
              <a:t>1</a:t>
            </a:r>
            <a:endParaRPr sz="1000">
              <a:solidFill>
                <a:schemeClr val="dk1"/>
              </a:solidFill>
              <a:latin typeface="Calibri"/>
              <a:ea typeface="Calibri"/>
              <a:cs typeface="Calibri"/>
              <a:sym typeface="Calibri"/>
            </a:endParaRPr>
          </a:p>
        </p:txBody>
      </p:sp>
      <p:sp>
        <p:nvSpPr>
          <p:cNvPr id="256" name="Google Shape;256;p22"/>
          <p:cNvSpPr/>
          <p:nvPr/>
        </p:nvSpPr>
        <p:spPr>
          <a:xfrm>
            <a:off x="617220" y="1865376"/>
            <a:ext cx="151441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Skalierbarkeit</a:t>
            </a:r>
            <a:endParaRPr sz="1100">
              <a:solidFill>
                <a:schemeClr val="dk1"/>
              </a:solidFill>
              <a:latin typeface="Calibri"/>
              <a:ea typeface="Calibri"/>
              <a:cs typeface="Calibri"/>
              <a:sym typeface="Calibri"/>
            </a:endParaRPr>
          </a:p>
        </p:txBody>
      </p:sp>
      <p:sp>
        <p:nvSpPr>
          <p:cNvPr id="257" name="Google Shape;257;p22"/>
          <p:cNvSpPr/>
          <p:nvPr/>
        </p:nvSpPr>
        <p:spPr>
          <a:xfrm>
            <a:off x="617220" y="2071116"/>
            <a:ext cx="151441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Dienste unabhängig skalierbar, Instanzen austauschbar — Zustand liegt außerhalb.</a:t>
            </a:r>
            <a:endParaRPr sz="800">
              <a:solidFill>
                <a:schemeClr val="dk1"/>
              </a:solidFill>
              <a:latin typeface="Calibri"/>
              <a:ea typeface="Calibri"/>
              <a:cs typeface="Calibri"/>
              <a:sym typeface="Calibri"/>
            </a:endParaRPr>
          </a:p>
        </p:txBody>
      </p:sp>
      <p:sp>
        <p:nvSpPr>
          <p:cNvPr id="258" name="Google Shape;258;p22"/>
          <p:cNvSpPr/>
          <p:nvPr/>
        </p:nvSpPr>
        <p:spPr>
          <a:xfrm>
            <a:off x="617220" y="2468880"/>
            <a:ext cx="720090" cy="219456"/>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9" name="Google Shape;259;p22"/>
          <p:cNvSpPr/>
          <p:nvPr/>
        </p:nvSpPr>
        <p:spPr>
          <a:xfrm>
            <a:off x="617220" y="2468880"/>
            <a:ext cx="72009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700"/>
              <a:buFont typeface="Calibri"/>
              <a:buNone/>
            </a:pPr>
            <a:r>
              <a:rPr b="1" lang="de" sz="700">
                <a:solidFill>
                  <a:srgbClr val="134E63"/>
                </a:solidFill>
                <a:latin typeface="Calibri"/>
                <a:ea typeface="Calibri"/>
                <a:cs typeface="Calibri"/>
                <a:sym typeface="Calibri"/>
              </a:rPr>
              <a:t>P2 · P5</a:t>
            </a:r>
            <a:endParaRPr sz="700">
              <a:solidFill>
                <a:schemeClr val="dk1"/>
              </a:solidFill>
              <a:latin typeface="Calibri"/>
              <a:ea typeface="Calibri"/>
              <a:cs typeface="Calibri"/>
              <a:sym typeface="Calibri"/>
            </a:endParaRPr>
          </a:p>
        </p:txBody>
      </p:sp>
      <p:sp>
        <p:nvSpPr>
          <p:cNvPr id="260" name="Google Shape;260;p22"/>
          <p:cNvSpPr/>
          <p:nvPr/>
        </p:nvSpPr>
        <p:spPr>
          <a:xfrm>
            <a:off x="2556834" y="1316736"/>
            <a:ext cx="1898466" cy="1453896"/>
          </a:xfrm>
          <a:prstGeom prst="roundRect">
            <a:avLst>
              <a:gd fmla="val 3774"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1" name="Google Shape;261;p22"/>
          <p:cNvSpPr/>
          <p:nvPr/>
        </p:nvSpPr>
        <p:spPr>
          <a:xfrm>
            <a:off x="2748858" y="1495044"/>
            <a:ext cx="301752" cy="301752"/>
          </a:xfrm>
          <a:prstGeom prst="ellipse">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2" name="Google Shape;262;p22"/>
          <p:cNvSpPr/>
          <p:nvPr/>
        </p:nvSpPr>
        <p:spPr>
          <a:xfrm>
            <a:off x="2748858" y="1495044"/>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de" sz="1000">
                <a:solidFill>
                  <a:srgbClr val="FFFFFF"/>
                </a:solidFill>
                <a:latin typeface="Calibri"/>
                <a:ea typeface="Calibri"/>
                <a:cs typeface="Calibri"/>
                <a:sym typeface="Calibri"/>
              </a:rPr>
              <a:t>2</a:t>
            </a:r>
            <a:endParaRPr sz="1000">
              <a:solidFill>
                <a:schemeClr val="dk1"/>
              </a:solidFill>
              <a:latin typeface="Calibri"/>
              <a:ea typeface="Calibri"/>
              <a:cs typeface="Calibri"/>
              <a:sym typeface="Calibri"/>
            </a:endParaRPr>
          </a:p>
        </p:txBody>
      </p:sp>
      <p:sp>
        <p:nvSpPr>
          <p:cNvPr id="263" name="Google Shape;263;p22"/>
          <p:cNvSpPr/>
          <p:nvPr/>
        </p:nvSpPr>
        <p:spPr>
          <a:xfrm>
            <a:off x="2748858" y="1865376"/>
            <a:ext cx="151441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Konsistenz</a:t>
            </a:r>
            <a:endParaRPr sz="1100">
              <a:solidFill>
                <a:schemeClr val="dk1"/>
              </a:solidFill>
              <a:latin typeface="Calibri"/>
              <a:ea typeface="Calibri"/>
              <a:cs typeface="Calibri"/>
              <a:sym typeface="Calibri"/>
            </a:endParaRPr>
          </a:p>
        </p:txBody>
      </p:sp>
      <p:sp>
        <p:nvSpPr>
          <p:cNvPr id="264" name="Google Shape;264;p22"/>
          <p:cNvSpPr/>
          <p:nvPr/>
        </p:nvSpPr>
        <p:spPr>
          <a:xfrm>
            <a:off x="2748858" y="2071116"/>
            <a:ext cx="151441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Strikte ACID nur im Service. Outbox koppelt DB-Änderung und Event in einer Tx.</a:t>
            </a:r>
            <a:endParaRPr sz="800">
              <a:solidFill>
                <a:schemeClr val="dk1"/>
              </a:solidFill>
              <a:latin typeface="Calibri"/>
              <a:ea typeface="Calibri"/>
              <a:cs typeface="Calibri"/>
              <a:sym typeface="Calibri"/>
            </a:endParaRPr>
          </a:p>
        </p:txBody>
      </p:sp>
      <p:sp>
        <p:nvSpPr>
          <p:cNvPr id="265" name="Google Shape;265;p22"/>
          <p:cNvSpPr/>
          <p:nvPr/>
        </p:nvSpPr>
        <p:spPr>
          <a:xfrm>
            <a:off x="2748858" y="2468880"/>
            <a:ext cx="720090" cy="219456"/>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6" name="Google Shape;266;p22"/>
          <p:cNvSpPr/>
          <p:nvPr/>
        </p:nvSpPr>
        <p:spPr>
          <a:xfrm>
            <a:off x="2748858" y="2468880"/>
            <a:ext cx="72009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700"/>
              <a:buFont typeface="Calibri"/>
              <a:buNone/>
            </a:pPr>
            <a:r>
              <a:rPr b="1" lang="de" sz="700">
                <a:solidFill>
                  <a:srgbClr val="134E63"/>
                </a:solidFill>
                <a:latin typeface="Calibri"/>
                <a:ea typeface="Calibri"/>
                <a:cs typeface="Calibri"/>
                <a:sym typeface="Calibri"/>
              </a:rPr>
              <a:t>P8</a:t>
            </a:r>
            <a:endParaRPr sz="700">
              <a:solidFill>
                <a:schemeClr val="dk1"/>
              </a:solidFill>
              <a:latin typeface="Calibri"/>
              <a:ea typeface="Calibri"/>
              <a:cs typeface="Calibri"/>
              <a:sym typeface="Calibri"/>
            </a:endParaRPr>
          </a:p>
        </p:txBody>
      </p:sp>
      <p:sp>
        <p:nvSpPr>
          <p:cNvPr id="267" name="Google Shape;267;p22"/>
          <p:cNvSpPr/>
          <p:nvPr/>
        </p:nvSpPr>
        <p:spPr>
          <a:xfrm>
            <a:off x="4688472" y="1316736"/>
            <a:ext cx="1898466" cy="1453896"/>
          </a:xfrm>
          <a:prstGeom prst="roundRect">
            <a:avLst>
              <a:gd fmla="val 3774"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8" name="Google Shape;268;p22"/>
          <p:cNvSpPr/>
          <p:nvPr/>
        </p:nvSpPr>
        <p:spPr>
          <a:xfrm>
            <a:off x="4880496" y="1495044"/>
            <a:ext cx="301752" cy="301752"/>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9" name="Google Shape;269;p22"/>
          <p:cNvSpPr/>
          <p:nvPr/>
        </p:nvSpPr>
        <p:spPr>
          <a:xfrm>
            <a:off x="4880496" y="1495044"/>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de" sz="1000">
                <a:solidFill>
                  <a:srgbClr val="FFFFFF"/>
                </a:solidFill>
                <a:latin typeface="Calibri"/>
                <a:ea typeface="Calibri"/>
                <a:cs typeface="Calibri"/>
                <a:sym typeface="Calibri"/>
              </a:rPr>
              <a:t>3</a:t>
            </a:r>
            <a:endParaRPr sz="1000">
              <a:solidFill>
                <a:schemeClr val="dk1"/>
              </a:solidFill>
              <a:latin typeface="Calibri"/>
              <a:ea typeface="Calibri"/>
              <a:cs typeface="Calibri"/>
              <a:sym typeface="Calibri"/>
            </a:endParaRPr>
          </a:p>
        </p:txBody>
      </p:sp>
      <p:sp>
        <p:nvSpPr>
          <p:cNvPr id="270" name="Google Shape;270;p22"/>
          <p:cNvSpPr/>
          <p:nvPr/>
        </p:nvSpPr>
        <p:spPr>
          <a:xfrm>
            <a:off x="4880496" y="1865376"/>
            <a:ext cx="151441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Zuverlässigkeit</a:t>
            </a:r>
            <a:endParaRPr sz="1100">
              <a:solidFill>
                <a:schemeClr val="dk1"/>
              </a:solidFill>
              <a:latin typeface="Calibri"/>
              <a:ea typeface="Calibri"/>
              <a:cs typeface="Calibri"/>
              <a:sym typeface="Calibri"/>
            </a:endParaRPr>
          </a:p>
        </p:txBody>
      </p:sp>
      <p:sp>
        <p:nvSpPr>
          <p:cNvPr id="271" name="Google Shape;271;p22"/>
          <p:cNvSpPr/>
          <p:nvPr/>
        </p:nvSpPr>
        <p:spPr>
          <a:xfrm>
            <a:off x="4880496" y="2071116"/>
            <a:ext cx="151441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Jedes Event darf mehrfach ankommen — idempotente Handler, Dead-Letter-Queue.</a:t>
            </a:r>
            <a:endParaRPr sz="800">
              <a:solidFill>
                <a:schemeClr val="dk1"/>
              </a:solidFill>
              <a:latin typeface="Calibri"/>
              <a:ea typeface="Calibri"/>
              <a:cs typeface="Calibri"/>
              <a:sym typeface="Calibri"/>
            </a:endParaRPr>
          </a:p>
        </p:txBody>
      </p:sp>
      <p:sp>
        <p:nvSpPr>
          <p:cNvPr id="272" name="Google Shape;272;p22"/>
          <p:cNvSpPr/>
          <p:nvPr/>
        </p:nvSpPr>
        <p:spPr>
          <a:xfrm>
            <a:off x="4880496" y="2468880"/>
            <a:ext cx="720090" cy="219456"/>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3" name="Google Shape;273;p22"/>
          <p:cNvSpPr/>
          <p:nvPr/>
        </p:nvSpPr>
        <p:spPr>
          <a:xfrm>
            <a:off x="4880496" y="2468880"/>
            <a:ext cx="72009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700"/>
              <a:buFont typeface="Calibri"/>
              <a:buNone/>
            </a:pPr>
            <a:r>
              <a:rPr b="1" lang="de" sz="700">
                <a:solidFill>
                  <a:srgbClr val="134E63"/>
                </a:solidFill>
                <a:latin typeface="Calibri"/>
                <a:ea typeface="Calibri"/>
                <a:cs typeface="Calibri"/>
                <a:sym typeface="Calibri"/>
              </a:rPr>
              <a:t>P9</a:t>
            </a:r>
            <a:endParaRPr sz="700">
              <a:solidFill>
                <a:schemeClr val="dk1"/>
              </a:solidFill>
              <a:latin typeface="Calibri"/>
              <a:ea typeface="Calibri"/>
              <a:cs typeface="Calibri"/>
              <a:sym typeface="Calibri"/>
            </a:endParaRPr>
          </a:p>
        </p:txBody>
      </p:sp>
      <p:sp>
        <p:nvSpPr>
          <p:cNvPr id="274" name="Google Shape;274;p22"/>
          <p:cNvSpPr/>
          <p:nvPr/>
        </p:nvSpPr>
        <p:spPr>
          <a:xfrm>
            <a:off x="6820109" y="1316736"/>
            <a:ext cx="1898466" cy="1453896"/>
          </a:xfrm>
          <a:prstGeom prst="roundRect">
            <a:avLst>
              <a:gd fmla="val 3774"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5" name="Google Shape;275;p22"/>
          <p:cNvSpPr/>
          <p:nvPr/>
        </p:nvSpPr>
        <p:spPr>
          <a:xfrm>
            <a:off x="7012133" y="1495044"/>
            <a:ext cx="301752" cy="301752"/>
          </a:xfrm>
          <a:prstGeom prst="ellipse">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6" name="Google Shape;276;p22"/>
          <p:cNvSpPr/>
          <p:nvPr/>
        </p:nvSpPr>
        <p:spPr>
          <a:xfrm>
            <a:off x="7012133" y="1495044"/>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de" sz="1000">
                <a:solidFill>
                  <a:srgbClr val="FFFFFF"/>
                </a:solidFill>
                <a:latin typeface="Calibri"/>
                <a:ea typeface="Calibri"/>
                <a:cs typeface="Calibri"/>
                <a:sym typeface="Calibri"/>
              </a:rPr>
              <a:t>4</a:t>
            </a:r>
            <a:endParaRPr sz="1000">
              <a:solidFill>
                <a:schemeClr val="dk1"/>
              </a:solidFill>
              <a:latin typeface="Calibri"/>
              <a:ea typeface="Calibri"/>
              <a:cs typeface="Calibri"/>
              <a:sym typeface="Calibri"/>
            </a:endParaRPr>
          </a:p>
        </p:txBody>
      </p:sp>
      <p:sp>
        <p:nvSpPr>
          <p:cNvPr id="277" name="Google Shape;277;p22"/>
          <p:cNvSpPr/>
          <p:nvPr/>
        </p:nvSpPr>
        <p:spPr>
          <a:xfrm>
            <a:off x="7012133" y="1865376"/>
            <a:ext cx="151441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Resilienz</a:t>
            </a:r>
            <a:endParaRPr sz="1100">
              <a:solidFill>
                <a:schemeClr val="dk1"/>
              </a:solidFill>
              <a:latin typeface="Calibri"/>
              <a:ea typeface="Calibri"/>
              <a:cs typeface="Calibri"/>
              <a:sym typeface="Calibri"/>
            </a:endParaRPr>
          </a:p>
        </p:txBody>
      </p:sp>
      <p:sp>
        <p:nvSpPr>
          <p:cNvPr id="278" name="Google Shape;278;p22"/>
          <p:cNvSpPr/>
          <p:nvPr/>
        </p:nvSpPr>
        <p:spPr>
          <a:xfrm>
            <a:off x="7012133" y="2071116"/>
            <a:ext cx="151441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Timeouts, Retries und Circuit Breaker auf jedem ausgehenden Aufruf.</a:t>
            </a:r>
            <a:endParaRPr sz="800">
              <a:solidFill>
                <a:schemeClr val="dk1"/>
              </a:solidFill>
              <a:latin typeface="Calibri"/>
              <a:ea typeface="Calibri"/>
              <a:cs typeface="Calibri"/>
              <a:sym typeface="Calibri"/>
            </a:endParaRPr>
          </a:p>
        </p:txBody>
      </p:sp>
      <p:sp>
        <p:nvSpPr>
          <p:cNvPr id="279" name="Google Shape;279;p22"/>
          <p:cNvSpPr/>
          <p:nvPr/>
        </p:nvSpPr>
        <p:spPr>
          <a:xfrm>
            <a:off x="7012133" y="2468880"/>
            <a:ext cx="720090" cy="219456"/>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0" name="Google Shape;280;p22"/>
          <p:cNvSpPr/>
          <p:nvPr/>
        </p:nvSpPr>
        <p:spPr>
          <a:xfrm>
            <a:off x="7012133" y="2468880"/>
            <a:ext cx="72009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700"/>
              <a:buFont typeface="Calibri"/>
              <a:buNone/>
            </a:pPr>
            <a:r>
              <a:rPr b="1" lang="de" sz="700">
                <a:solidFill>
                  <a:srgbClr val="134E63"/>
                </a:solidFill>
                <a:latin typeface="Calibri"/>
                <a:ea typeface="Calibri"/>
                <a:cs typeface="Calibri"/>
                <a:sym typeface="Calibri"/>
              </a:rPr>
              <a:t>P10</a:t>
            </a:r>
            <a:endParaRPr sz="700">
              <a:solidFill>
                <a:schemeClr val="dk1"/>
              </a:solidFill>
              <a:latin typeface="Calibri"/>
              <a:ea typeface="Calibri"/>
              <a:cs typeface="Calibri"/>
              <a:sym typeface="Calibri"/>
            </a:endParaRPr>
          </a:p>
        </p:txBody>
      </p:sp>
      <p:sp>
        <p:nvSpPr>
          <p:cNvPr id="281" name="Google Shape;281;p22"/>
          <p:cNvSpPr/>
          <p:nvPr/>
        </p:nvSpPr>
        <p:spPr>
          <a:xfrm>
            <a:off x="425196" y="2976372"/>
            <a:ext cx="1898466" cy="1453896"/>
          </a:xfrm>
          <a:prstGeom prst="roundRect">
            <a:avLst>
              <a:gd fmla="val 3774"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2" name="Google Shape;282;p22"/>
          <p:cNvSpPr/>
          <p:nvPr/>
        </p:nvSpPr>
        <p:spPr>
          <a:xfrm>
            <a:off x="617220" y="3154680"/>
            <a:ext cx="301752" cy="301752"/>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3" name="Google Shape;283;p22"/>
          <p:cNvSpPr/>
          <p:nvPr/>
        </p:nvSpPr>
        <p:spPr>
          <a:xfrm>
            <a:off x="617220" y="3154680"/>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de" sz="1000">
                <a:solidFill>
                  <a:srgbClr val="FFFFFF"/>
                </a:solidFill>
                <a:latin typeface="Calibri"/>
                <a:ea typeface="Calibri"/>
                <a:cs typeface="Calibri"/>
                <a:sym typeface="Calibri"/>
              </a:rPr>
              <a:t>5</a:t>
            </a:r>
            <a:endParaRPr sz="1000">
              <a:solidFill>
                <a:schemeClr val="dk1"/>
              </a:solidFill>
              <a:latin typeface="Calibri"/>
              <a:ea typeface="Calibri"/>
              <a:cs typeface="Calibri"/>
              <a:sym typeface="Calibri"/>
            </a:endParaRPr>
          </a:p>
        </p:txBody>
      </p:sp>
      <p:sp>
        <p:nvSpPr>
          <p:cNvPr id="284" name="Google Shape;284;p22"/>
          <p:cNvSpPr/>
          <p:nvPr/>
        </p:nvSpPr>
        <p:spPr>
          <a:xfrm>
            <a:off x="617220" y="3525012"/>
            <a:ext cx="151441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Sicherheit</a:t>
            </a:r>
            <a:endParaRPr sz="1100">
              <a:solidFill>
                <a:schemeClr val="dk1"/>
              </a:solidFill>
              <a:latin typeface="Calibri"/>
              <a:ea typeface="Calibri"/>
              <a:cs typeface="Calibri"/>
              <a:sym typeface="Calibri"/>
            </a:endParaRPr>
          </a:p>
        </p:txBody>
      </p:sp>
      <p:sp>
        <p:nvSpPr>
          <p:cNvPr id="285" name="Google Shape;285;p22"/>
          <p:cNvSpPr/>
          <p:nvPr/>
        </p:nvSpPr>
        <p:spPr>
          <a:xfrm>
            <a:off x="617220" y="3730752"/>
            <a:ext cx="151441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TLS, JWT je Service validiert, Service-Tokens intern, Secrets getrennt.</a:t>
            </a:r>
            <a:endParaRPr sz="800">
              <a:solidFill>
                <a:schemeClr val="dk1"/>
              </a:solidFill>
              <a:latin typeface="Calibri"/>
              <a:ea typeface="Calibri"/>
              <a:cs typeface="Calibri"/>
              <a:sym typeface="Calibri"/>
            </a:endParaRPr>
          </a:p>
        </p:txBody>
      </p:sp>
      <p:sp>
        <p:nvSpPr>
          <p:cNvPr id="286" name="Google Shape;286;p22"/>
          <p:cNvSpPr/>
          <p:nvPr/>
        </p:nvSpPr>
        <p:spPr>
          <a:xfrm>
            <a:off x="617220" y="4128516"/>
            <a:ext cx="720090" cy="219456"/>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7" name="Google Shape;287;p22"/>
          <p:cNvSpPr/>
          <p:nvPr/>
        </p:nvSpPr>
        <p:spPr>
          <a:xfrm>
            <a:off x="617220" y="4128516"/>
            <a:ext cx="72009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700"/>
              <a:buFont typeface="Calibri"/>
              <a:buNone/>
            </a:pPr>
            <a:r>
              <a:rPr b="1" lang="de" sz="700">
                <a:solidFill>
                  <a:srgbClr val="134E63"/>
                </a:solidFill>
                <a:latin typeface="Calibri"/>
                <a:ea typeface="Calibri"/>
                <a:cs typeface="Calibri"/>
                <a:sym typeface="Calibri"/>
              </a:rPr>
              <a:t>P11</a:t>
            </a:r>
            <a:endParaRPr sz="700">
              <a:solidFill>
                <a:schemeClr val="dk1"/>
              </a:solidFill>
              <a:latin typeface="Calibri"/>
              <a:ea typeface="Calibri"/>
              <a:cs typeface="Calibri"/>
              <a:sym typeface="Calibri"/>
            </a:endParaRPr>
          </a:p>
        </p:txBody>
      </p:sp>
      <p:sp>
        <p:nvSpPr>
          <p:cNvPr id="288" name="Google Shape;288;p22"/>
          <p:cNvSpPr/>
          <p:nvPr/>
        </p:nvSpPr>
        <p:spPr>
          <a:xfrm>
            <a:off x="2556834" y="2976372"/>
            <a:ext cx="1898466" cy="1453896"/>
          </a:xfrm>
          <a:prstGeom prst="roundRect">
            <a:avLst>
              <a:gd fmla="val 3774"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9" name="Google Shape;289;p22"/>
          <p:cNvSpPr/>
          <p:nvPr/>
        </p:nvSpPr>
        <p:spPr>
          <a:xfrm>
            <a:off x="2748858" y="3154680"/>
            <a:ext cx="301752" cy="301752"/>
          </a:xfrm>
          <a:prstGeom prst="ellipse">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0" name="Google Shape;290;p22"/>
          <p:cNvSpPr/>
          <p:nvPr/>
        </p:nvSpPr>
        <p:spPr>
          <a:xfrm>
            <a:off x="2748858" y="3154680"/>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de" sz="1000">
                <a:solidFill>
                  <a:srgbClr val="FFFFFF"/>
                </a:solidFill>
                <a:latin typeface="Calibri"/>
                <a:ea typeface="Calibri"/>
                <a:cs typeface="Calibri"/>
                <a:sym typeface="Calibri"/>
              </a:rPr>
              <a:t>6</a:t>
            </a:r>
            <a:endParaRPr sz="1000">
              <a:solidFill>
                <a:schemeClr val="dk1"/>
              </a:solidFill>
              <a:latin typeface="Calibri"/>
              <a:ea typeface="Calibri"/>
              <a:cs typeface="Calibri"/>
              <a:sym typeface="Calibri"/>
            </a:endParaRPr>
          </a:p>
        </p:txBody>
      </p:sp>
      <p:sp>
        <p:nvSpPr>
          <p:cNvPr id="291" name="Google Shape;291;p22"/>
          <p:cNvSpPr/>
          <p:nvPr/>
        </p:nvSpPr>
        <p:spPr>
          <a:xfrm>
            <a:off x="2748858" y="3525012"/>
            <a:ext cx="151441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Beobachtbarkeit</a:t>
            </a:r>
            <a:endParaRPr sz="1100">
              <a:solidFill>
                <a:schemeClr val="dk1"/>
              </a:solidFill>
              <a:latin typeface="Calibri"/>
              <a:ea typeface="Calibri"/>
              <a:cs typeface="Calibri"/>
              <a:sym typeface="Calibri"/>
            </a:endParaRPr>
          </a:p>
        </p:txBody>
      </p:sp>
      <p:sp>
        <p:nvSpPr>
          <p:cNvPr id="292" name="Google Shape;292;p22"/>
          <p:cNvSpPr/>
          <p:nvPr/>
        </p:nvSpPr>
        <p:spPr>
          <a:xfrm>
            <a:off x="2748858" y="3730752"/>
            <a:ext cx="151441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Strukturierte Logs, Metriken und Distributed Tracing in jedem Service.</a:t>
            </a:r>
            <a:endParaRPr sz="800">
              <a:solidFill>
                <a:schemeClr val="dk1"/>
              </a:solidFill>
              <a:latin typeface="Calibri"/>
              <a:ea typeface="Calibri"/>
              <a:cs typeface="Calibri"/>
              <a:sym typeface="Calibri"/>
            </a:endParaRPr>
          </a:p>
        </p:txBody>
      </p:sp>
      <p:sp>
        <p:nvSpPr>
          <p:cNvPr id="293" name="Google Shape;293;p22"/>
          <p:cNvSpPr/>
          <p:nvPr/>
        </p:nvSpPr>
        <p:spPr>
          <a:xfrm>
            <a:off x="2748858" y="4128516"/>
            <a:ext cx="720090" cy="219456"/>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4" name="Google Shape;294;p22"/>
          <p:cNvSpPr/>
          <p:nvPr/>
        </p:nvSpPr>
        <p:spPr>
          <a:xfrm>
            <a:off x="2748858" y="4128516"/>
            <a:ext cx="72009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700"/>
              <a:buFont typeface="Calibri"/>
              <a:buNone/>
            </a:pPr>
            <a:r>
              <a:rPr b="1" lang="de" sz="700">
                <a:solidFill>
                  <a:srgbClr val="134E63"/>
                </a:solidFill>
                <a:latin typeface="Calibri"/>
                <a:ea typeface="Calibri"/>
                <a:cs typeface="Calibri"/>
                <a:sym typeface="Calibri"/>
              </a:rPr>
              <a:t>P12</a:t>
            </a:r>
            <a:endParaRPr sz="700">
              <a:solidFill>
                <a:schemeClr val="dk1"/>
              </a:solidFill>
              <a:latin typeface="Calibri"/>
              <a:ea typeface="Calibri"/>
              <a:cs typeface="Calibri"/>
              <a:sym typeface="Calibri"/>
            </a:endParaRPr>
          </a:p>
        </p:txBody>
      </p:sp>
      <p:sp>
        <p:nvSpPr>
          <p:cNvPr id="295" name="Google Shape;295;p22"/>
          <p:cNvSpPr/>
          <p:nvPr/>
        </p:nvSpPr>
        <p:spPr>
          <a:xfrm>
            <a:off x="4688472" y="2976372"/>
            <a:ext cx="1898466" cy="1453896"/>
          </a:xfrm>
          <a:prstGeom prst="roundRect">
            <a:avLst>
              <a:gd fmla="val 3774"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6" name="Google Shape;296;p22"/>
          <p:cNvSpPr/>
          <p:nvPr/>
        </p:nvSpPr>
        <p:spPr>
          <a:xfrm>
            <a:off x="4880496" y="3154680"/>
            <a:ext cx="301752" cy="301752"/>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7" name="Google Shape;297;p22"/>
          <p:cNvSpPr/>
          <p:nvPr/>
        </p:nvSpPr>
        <p:spPr>
          <a:xfrm>
            <a:off x="4880496" y="3154680"/>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de" sz="1000">
                <a:solidFill>
                  <a:srgbClr val="FFFFFF"/>
                </a:solidFill>
                <a:latin typeface="Calibri"/>
                <a:ea typeface="Calibri"/>
                <a:cs typeface="Calibri"/>
                <a:sym typeface="Calibri"/>
              </a:rPr>
              <a:t>7</a:t>
            </a:r>
            <a:endParaRPr sz="1000">
              <a:solidFill>
                <a:schemeClr val="dk1"/>
              </a:solidFill>
              <a:latin typeface="Calibri"/>
              <a:ea typeface="Calibri"/>
              <a:cs typeface="Calibri"/>
              <a:sym typeface="Calibri"/>
            </a:endParaRPr>
          </a:p>
        </p:txBody>
      </p:sp>
      <p:sp>
        <p:nvSpPr>
          <p:cNvPr id="298" name="Google Shape;298;p22"/>
          <p:cNvSpPr/>
          <p:nvPr/>
        </p:nvSpPr>
        <p:spPr>
          <a:xfrm>
            <a:off x="4880496" y="3525012"/>
            <a:ext cx="151441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Erweiterbarkeit</a:t>
            </a:r>
            <a:endParaRPr sz="1100">
              <a:solidFill>
                <a:schemeClr val="dk1"/>
              </a:solidFill>
              <a:latin typeface="Calibri"/>
              <a:ea typeface="Calibri"/>
              <a:cs typeface="Calibri"/>
              <a:sym typeface="Calibri"/>
            </a:endParaRPr>
          </a:p>
        </p:txBody>
      </p:sp>
      <p:sp>
        <p:nvSpPr>
          <p:cNvPr id="299" name="Google Shape;299;p22"/>
          <p:cNvSpPr/>
          <p:nvPr/>
        </p:nvSpPr>
        <p:spPr>
          <a:xfrm>
            <a:off x="4880496" y="3730752"/>
            <a:ext cx="151441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Lose Kopplung, API-first, neue Board-Typen ohne Deploy.</a:t>
            </a:r>
            <a:endParaRPr sz="800">
              <a:solidFill>
                <a:schemeClr val="dk1"/>
              </a:solidFill>
              <a:latin typeface="Calibri"/>
              <a:ea typeface="Calibri"/>
              <a:cs typeface="Calibri"/>
              <a:sym typeface="Calibri"/>
            </a:endParaRPr>
          </a:p>
        </p:txBody>
      </p:sp>
      <p:sp>
        <p:nvSpPr>
          <p:cNvPr id="300" name="Google Shape;300;p22"/>
          <p:cNvSpPr/>
          <p:nvPr/>
        </p:nvSpPr>
        <p:spPr>
          <a:xfrm>
            <a:off x="4880496" y="4128516"/>
            <a:ext cx="720090" cy="219456"/>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1" name="Google Shape;301;p22"/>
          <p:cNvSpPr/>
          <p:nvPr/>
        </p:nvSpPr>
        <p:spPr>
          <a:xfrm>
            <a:off x="4880496" y="4128516"/>
            <a:ext cx="72009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700"/>
              <a:buFont typeface="Calibri"/>
              <a:buNone/>
            </a:pPr>
            <a:r>
              <a:rPr b="1" lang="de" sz="700">
                <a:solidFill>
                  <a:srgbClr val="134E63"/>
                </a:solidFill>
                <a:latin typeface="Calibri"/>
                <a:ea typeface="Calibri"/>
                <a:cs typeface="Calibri"/>
                <a:sym typeface="Calibri"/>
              </a:rPr>
              <a:t>P3 · P7</a:t>
            </a:r>
            <a:endParaRPr sz="700">
              <a:solidFill>
                <a:schemeClr val="dk1"/>
              </a:solidFill>
              <a:latin typeface="Calibri"/>
              <a:ea typeface="Calibri"/>
              <a:cs typeface="Calibri"/>
              <a:sym typeface="Calibri"/>
            </a:endParaRPr>
          </a:p>
        </p:txBody>
      </p:sp>
      <p:sp>
        <p:nvSpPr>
          <p:cNvPr id="302" name="Google Shape;302;p22"/>
          <p:cNvSpPr/>
          <p:nvPr/>
        </p:nvSpPr>
        <p:spPr>
          <a:xfrm>
            <a:off x="6820109" y="2976372"/>
            <a:ext cx="1898466" cy="1453896"/>
          </a:xfrm>
          <a:prstGeom prst="roundRect">
            <a:avLst>
              <a:gd fmla="val 3774"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3" name="Google Shape;303;p22"/>
          <p:cNvSpPr/>
          <p:nvPr/>
        </p:nvSpPr>
        <p:spPr>
          <a:xfrm>
            <a:off x="7012133" y="3154680"/>
            <a:ext cx="301752" cy="301752"/>
          </a:xfrm>
          <a:prstGeom prst="ellipse">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4" name="Google Shape;304;p22"/>
          <p:cNvSpPr/>
          <p:nvPr/>
        </p:nvSpPr>
        <p:spPr>
          <a:xfrm>
            <a:off x="7012133" y="3154680"/>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de" sz="1000">
                <a:solidFill>
                  <a:srgbClr val="FFFFFF"/>
                </a:solidFill>
                <a:latin typeface="Calibri"/>
                <a:ea typeface="Calibri"/>
                <a:cs typeface="Calibri"/>
                <a:sym typeface="Calibri"/>
              </a:rPr>
              <a:t>8</a:t>
            </a:r>
            <a:endParaRPr sz="1000">
              <a:solidFill>
                <a:schemeClr val="dk1"/>
              </a:solidFill>
              <a:latin typeface="Calibri"/>
              <a:ea typeface="Calibri"/>
              <a:cs typeface="Calibri"/>
              <a:sym typeface="Calibri"/>
            </a:endParaRPr>
          </a:p>
        </p:txBody>
      </p:sp>
      <p:sp>
        <p:nvSpPr>
          <p:cNvPr id="305" name="Google Shape;305;p22"/>
          <p:cNvSpPr/>
          <p:nvPr/>
        </p:nvSpPr>
        <p:spPr>
          <a:xfrm>
            <a:off x="7012133" y="3525012"/>
            <a:ext cx="151441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Betreibbarkeit</a:t>
            </a:r>
            <a:endParaRPr sz="1100">
              <a:solidFill>
                <a:schemeClr val="dk1"/>
              </a:solidFill>
              <a:latin typeface="Calibri"/>
              <a:ea typeface="Calibri"/>
              <a:cs typeface="Calibri"/>
              <a:sym typeface="Calibri"/>
            </a:endParaRPr>
          </a:p>
        </p:txBody>
      </p:sp>
      <p:sp>
        <p:nvSpPr>
          <p:cNvPr id="306" name="Google Shape;306;p22"/>
          <p:cNvSpPr/>
          <p:nvPr/>
        </p:nvSpPr>
        <p:spPr>
          <a:xfrm>
            <a:off x="7012133" y="3730752"/>
            <a:ext cx="151441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Reproduzierbarer Start mit einem Kommando — lokal wie auf dem Server.</a:t>
            </a:r>
            <a:endParaRPr sz="800">
              <a:solidFill>
                <a:schemeClr val="dk1"/>
              </a:solidFill>
              <a:latin typeface="Calibri"/>
              <a:ea typeface="Calibri"/>
              <a:cs typeface="Calibri"/>
              <a:sym typeface="Calibri"/>
            </a:endParaRPr>
          </a:p>
        </p:txBody>
      </p:sp>
      <p:sp>
        <p:nvSpPr>
          <p:cNvPr id="307" name="Google Shape;307;p22"/>
          <p:cNvSpPr/>
          <p:nvPr/>
        </p:nvSpPr>
        <p:spPr>
          <a:xfrm>
            <a:off x="7012133" y="4128516"/>
            <a:ext cx="720090" cy="219456"/>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8" name="Google Shape;308;p22"/>
          <p:cNvSpPr/>
          <p:nvPr/>
        </p:nvSpPr>
        <p:spPr>
          <a:xfrm>
            <a:off x="7012133" y="4128516"/>
            <a:ext cx="72009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700"/>
              <a:buFont typeface="Calibri"/>
              <a:buNone/>
            </a:pPr>
            <a:r>
              <a:rPr b="1" lang="de" sz="700">
                <a:solidFill>
                  <a:srgbClr val="134E63"/>
                </a:solidFill>
                <a:latin typeface="Calibri"/>
                <a:ea typeface="Calibri"/>
                <a:cs typeface="Calibri"/>
                <a:sym typeface="Calibri"/>
              </a:rPr>
              <a:t>Lastenheft</a:t>
            </a:r>
            <a:endParaRPr sz="7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313" name="Shape 313"/>
        <p:cNvGrpSpPr/>
        <p:nvPr/>
      </p:nvGrpSpPr>
      <p:grpSpPr>
        <a:xfrm>
          <a:off x="0" y="0"/>
          <a:ext cx="0" cy="0"/>
          <a:chOff x="0" y="0"/>
          <a:chExt cx="0" cy="0"/>
        </a:xfrm>
      </p:grpSpPr>
      <p:sp>
        <p:nvSpPr>
          <p:cNvPr id="314" name="Google Shape;314;p23"/>
          <p:cNvSpPr/>
          <p:nvPr/>
        </p:nvSpPr>
        <p:spPr>
          <a:xfrm>
            <a:off x="425196" y="288036"/>
            <a:ext cx="7543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900"/>
              <a:buFont typeface="Calibri"/>
              <a:buNone/>
            </a:pPr>
            <a:r>
              <a:rPr b="1" lang="de" sz="900">
                <a:solidFill>
                  <a:srgbClr val="1C7293"/>
                </a:solidFill>
                <a:latin typeface="Calibri"/>
                <a:ea typeface="Calibri"/>
                <a:cs typeface="Calibri"/>
                <a:sym typeface="Calibri"/>
              </a:rPr>
              <a:t>PROJEKTBESCHREIBUNG · USER-STORIES</a:t>
            </a:r>
            <a:endParaRPr sz="900">
              <a:solidFill>
                <a:schemeClr val="dk1"/>
              </a:solidFill>
              <a:latin typeface="Calibri"/>
              <a:ea typeface="Calibri"/>
              <a:cs typeface="Calibri"/>
              <a:sym typeface="Calibri"/>
            </a:endParaRPr>
          </a:p>
        </p:txBody>
      </p:sp>
      <p:sp>
        <p:nvSpPr>
          <p:cNvPr id="315" name="Google Shape;315;p23"/>
          <p:cNvSpPr/>
          <p:nvPr/>
        </p:nvSpPr>
        <p:spPr>
          <a:xfrm>
            <a:off x="425196" y="493776"/>
            <a:ext cx="829818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2300"/>
              <a:buFont typeface="Calibri"/>
              <a:buNone/>
            </a:pPr>
            <a:r>
              <a:rPr b="1" lang="de" sz="2300">
                <a:solidFill>
                  <a:srgbClr val="17242F"/>
                </a:solidFill>
                <a:latin typeface="Calibri"/>
                <a:ea typeface="Calibri"/>
                <a:cs typeface="Calibri"/>
                <a:sym typeface="Calibri"/>
              </a:rPr>
              <a:t>Repräsentative User-Stories</a:t>
            </a:r>
            <a:endParaRPr sz="2300">
              <a:solidFill>
                <a:schemeClr val="dk1"/>
              </a:solidFill>
              <a:latin typeface="Calibri"/>
              <a:ea typeface="Calibri"/>
              <a:cs typeface="Calibri"/>
              <a:sym typeface="Calibri"/>
            </a:endParaRPr>
          </a:p>
        </p:txBody>
      </p:sp>
      <p:sp>
        <p:nvSpPr>
          <p:cNvPr id="316" name="Google Shape;316;p23"/>
          <p:cNvSpPr/>
          <p:nvPr/>
        </p:nvSpPr>
        <p:spPr>
          <a:xfrm>
            <a:off x="425196" y="10012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1000"/>
              <a:buFont typeface="Calibri"/>
              <a:buNone/>
            </a:pPr>
            <a:r>
              <a:rPr lang="de" sz="1000">
                <a:solidFill>
                  <a:srgbClr val="5E6E7C"/>
                </a:solidFill>
                <a:latin typeface="Calibri"/>
                <a:ea typeface="Calibri"/>
                <a:cs typeface="Calibri"/>
                <a:sym typeface="Calibri"/>
              </a:rPr>
              <a:t>Jede Story ist auf einen dokumentierten Use-Case rückführbar</a:t>
            </a:r>
            <a:endParaRPr sz="1000">
              <a:solidFill>
                <a:schemeClr val="dk1"/>
              </a:solidFill>
              <a:latin typeface="Calibri"/>
              <a:ea typeface="Calibri"/>
              <a:cs typeface="Calibri"/>
              <a:sym typeface="Calibri"/>
            </a:endParaRPr>
          </a:p>
        </p:txBody>
      </p:sp>
      <p:sp>
        <p:nvSpPr>
          <p:cNvPr id="317" name="Google Shape;317;p23"/>
          <p:cNvSpPr/>
          <p:nvPr/>
        </p:nvSpPr>
        <p:spPr>
          <a:xfrm>
            <a:off x="425196" y="1303020"/>
            <a:ext cx="3992385" cy="1028700"/>
          </a:xfrm>
          <a:prstGeom prst="roundRect">
            <a:avLst>
              <a:gd fmla="val 5333"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8" name="Google Shape;318;p23"/>
          <p:cNvSpPr/>
          <p:nvPr/>
        </p:nvSpPr>
        <p:spPr>
          <a:xfrm>
            <a:off x="617220" y="1440180"/>
            <a:ext cx="901827" cy="219456"/>
          </a:xfrm>
          <a:prstGeom prst="roundRect">
            <a:avLst>
              <a:gd fmla="val 50000" name="adj"/>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9" name="Google Shape;319;p23"/>
          <p:cNvSpPr/>
          <p:nvPr/>
        </p:nvSpPr>
        <p:spPr>
          <a:xfrm>
            <a:off x="617220" y="1440180"/>
            <a:ext cx="901827"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b="1" lang="de" sz="700">
                <a:solidFill>
                  <a:srgbClr val="FFFFFF"/>
                </a:solidFill>
                <a:latin typeface="Calibri"/>
                <a:ea typeface="Calibri"/>
                <a:cs typeface="Calibri"/>
                <a:sym typeface="Calibri"/>
              </a:rPr>
              <a:t>Projekt-Admin</a:t>
            </a:r>
            <a:endParaRPr sz="700">
              <a:solidFill>
                <a:schemeClr val="dk1"/>
              </a:solidFill>
              <a:latin typeface="Calibri"/>
              <a:ea typeface="Calibri"/>
              <a:cs typeface="Calibri"/>
              <a:sym typeface="Calibri"/>
            </a:endParaRPr>
          </a:p>
        </p:txBody>
      </p:sp>
      <p:sp>
        <p:nvSpPr>
          <p:cNvPr id="320" name="Google Shape;320;p23"/>
          <p:cNvSpPr/>
          <p:nvPr/>
        </p:nvSpPr>
        <p:spPr>
          <a:xfrm>
            <a:off x="617220" y="1700784"/>
            <a:ext cx="3608337"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lang="de" sz="900">
                <a:solidFill>
                  <a:srgbClr val="17242F"/>
                </a:solidFill>
                <a:latin typeface="Calibri"/>
                <a:ea typeface="Calibri"/>
                <a:cs typeface="Calibri"/>
                <a:sym typeface="Calibri"/>
              </a:rPr>
              <a:t>Als Projekt-Admin möchte ich Mitglieder mit Rollen einladen, um Zugriffsrechte differenziert zu steuern.</a:t>
            </a:r>
            <a:endParaRPr sz="900">
              <a:solidFill>
                <a:schemeClr val="dk1"/>
              </a:solidFill>
              <a:latin typeface="Calibri"/>
              <a:ea typeface="Calibri"/>
              <a:cs typeface="Calibri"/>
              <a:sym typeface="Calibri"/>
            </a:endParaRPr>
          </a:p>
        </p:txBody>
      </p:sp>
      <p:sp>
        <p:nvSpPr>
          <p:cNvPr id="321" name="Google Shape;321;p23"/>
          <p:cNvSpPr/>
          <p:nvPr/>
        </p:nvSpPr>
        <p:spPr>
          <a:xfrm>
            <a:off x="4726191" y="1303020"/>
            <a:ext cx="3992385" cy="1028700"/>
          </a:xfrm>
          <a:prstGeom prst="roundRect">
            <a:avLst>
              <a:gd fmla="val 5333"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2" name="Google Shape;322;p23"/>
          <p:cNvSpPr/>
          <p:nvPr/>
        </p:nvSpPr>
        <p:spPr>
          <a:xfrm>
            <a:off x="4918215" y="1440180"/>
            <a:ext cx="901827" cy="219456"/>
          </a:xfrm>
          <a:prstGeom prst="roundRect">
            <a:avLst>
              <a:gd fmla="val 50000" name="adj"/>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3" name="Google Shape;323;p23"/>
          <p:cNvSpPr/>
          <p:nvPr/>
        </p:nvSpPr>
        <p:spPr>
          <a:xfrm>
            <a:off x="4918215" y="1440180"/>
            <a:ext cx="901827"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b="1" lang="de" sz="700">
                <a:solidFill>
                  <a:srgbClr val="FFFFFF"/>
                </a:solidFill>
                <a:latin typeface="Calibri"/>
                <a:ea typeface="Calibri"/>
                <a:cs typeface="Calibri"/>
                <a:sym typeface="Calibri"/>
              </a:rPr>
              <a:t>Team-Mitglied</a:t>
            </a:r>
            <a:endParaRPr sz="700">
              <a:solidFill>
                <a:schemeClr val="dk1"/>
              </a:solidFill>
              <a:latin typeface="Calibri"/>
              <a:ea typeface="Calibri"/>
              <a:cs typeface="Calibri"/>
              <a:sym typeface="Calibri"/>
            </a:endParaRPr>
          </a:p>
        </p:txBody>
      </p:sp>
      <p:sp>
        <p:nvSpPr>
          <p:cNvPr id="324" name="Google Shape;324;p23"/>
          <p:cNvSpPr/>
          <p:nvPr/>
        </p:nvSpPr>
        <p:spPr>
          <a:xfrm>
            <a:off x="4918215" y="1700784"/>
            <a:ext cx="3608337"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lang="de" sz="900">
                <a:solidFill>
                  <a:srgbClr val="17242F"/>
                </a:solidFill>
                <a:latin typeface="Calibri"/>
                <a:ea typeface="Calibri"/>
                <a:cs typeface="Calibri"/>
                <a:sym typeface="Calibri"/>
              </a:rPr>
              <a:t>Als Team-Mitglied möchte ich Aufgaben zwischen Spalten verschieben, um den Fortschritt sichtbar zu machen.</a:t>
            </a:r>
            <a:endParaRPr sz="900">
              <a:solidFill>
                <a:schemeClr val="dk1"/>
              </a:solidFill>
              <a:latin typeface="Calibri"/>
              <a:ea typeface="Calibri"/>
              <a:cs typeface="Calibri"/>
              <a:sym typeface="Calibri"/>
            </a:endParaRPr>
          </a:p>
        </p:txBody>
      </p:sp>
      <p:sp>
        <p:nvSpPr>
          <p:cNvPr id="325" name="Google Shape;325;p23"/>
          <p:cNvSpPr/>
          <p:nvPr/>
        </p:nvSpPr>
        <p:spPr>
          <a:xfrm>
            <a:off x="425196" y="2503170"/>
            <a:ext cx="3992385" cy="1028700"/>
          </a:xfrm>
          <a:prstGeom prst="roundRect">
            <a:avLst>
              <a:gd fmla="val 5333"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6" name="Google Shape;326;p23"/>
          <p:cNvSpPr/>
          <p:nvPr/>
        </p:nvSpPr>
        <p:spPr>
          <a:xfrm>
            <a:off x="617220" y="2640330"/>
            <a:ext cx="901827" cy="219456"/>
          </a:xfrm>
          <a:prstGeom prst="roundRect">
            <a:avLst>
              <a:gd fmla="val 50000" name="adj"/>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7" name="Google Shape;327;p23"/>
          <p:cNvSpPr/>
          <p:nvPr/>
        </p:nvSpPr>
        <p:spPr>
          <a:xfrm>
            <a:off x="617220" y="2640330"/>
            <a:ext cx="901827"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b="1" lang="de" sz="700">
                <a:solidFill>
                  <a:srgbClr val="FFFFFF"/>
                </a:solidFill>
                <a:latin typeface="Calibri"/>
                <a:ea typeface="Calibri"/>
                <a:cs typeface="Calibri"/>
                <a:sym typeface="Calibri"/>
              </a:rPr>
              <a:t>Team-Mitglied</a:t>
            </a:r>
            <a:endParaRPr sz="700">
              <a:solidFill>
                <a:schemeClr val="dk1"/>
              </a:solidFill>
              <a:latin typeface="Calibri"/>
              <a:ea typeface="Calibri"/>
              <a:cs typeface="Calibri"/>
              <a:sym typeface="Calibri"/>
            </a:endParaRPr>
          </a:p>
        </p:txBody>
      </p:sp>
      <p:sp>
        <p:nvSpPr>
          <p:cNvPr id="328" name="Google Shape;328;p23"/>
          <p:cNvSpPr/>
          <p:nvPr/>
        </p:nvSpPr>
        <p:spPr>
          <a:xfrm>
            <a:off x="617220" y="2900934"/>
            <a:ext cx="3608337"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lang="de" sz="900">
                <a:solidFill>
                  <a:srgbClr val="17242F"/>
                </a:solidFill>
                <a:latin typeface="Calibri"/>
                <a:ea typeface="Calibri"/>
                <a:cs typeface="Calibri"/>
                <a:sym typeface="Calibri"/>
              </a:rPr>
              <a:t>Als Team-Mitglied möchte ich Änderungen anderer sofort sehen, ohne die Seite neu zu laden.</a:t>
            </a:r>
            <a:endParaRPr sz="900">
              <a:solidFill>
                <a:schemeClr val="dk1"/>
              </a:solidFill>
              <a:latin typeface="Calibri"/>
              <a:ea typeface="Calibri"/>
              <a:cs typeface="Calibri"/>
              <a:sym typeface="Calibri"/>
            </a:endParaRPr>
          </a:p>
        </p:txBody>
      </p:sp>
      <p:sp>
        <p:nvSpPr>
          <p:cNvPr id="329" name="Google Shape;329;p23"/>
          <p:cNvSpPr/>
          <p:nvPr/>
        </p:nvSpPr>
        <p:spPr>
          <a:xfrm>
            <a:off x="4726191" y="2503170"/>
            <a:ext cx="3992385" cy="1028700"/>
          </a:xfrm>
          <a:prstGeom prst="roundRect">
            <a:avLst>
              <a:gd fmla="val 5333"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0" name="Google Shape;330;p23"/>
          <p:cNvSpPr/>
          <p:nvPr/>
        </p:nvSpPr>
        <p:spPr>
          <a:xfrm>
            <a:off x="4918215" y="2640330"/>
            <a:ext cx="901827" cy="219456"/>
          </a:xfrm>
          <a:prstGeom prst="roundRect">
            <a:avLst>
              <a:gd fmla="val 50000" name="adj"/>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1" name="Google Shape;331;p23"/>
          <p:cNvSpPr/>
          <p:nvPr/>
        </p:nvSpPr>
        <p:spPr>
          <a:xfrm>
            <a:off x="4918215" y="2640330"/>
            <a:ext cx="901827"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b="1" lang="de" sz="700">
                <a:solidFill>
                  <a:srgbClr val="FFFFFF"/>
                </a:solidFill>
                <a:latin typeface="Calibri"/>
                <a:ea typeface="Calibri"/>
                <a:cs typeface="Calibri"/>
                <a:sym typeface="Calibri"/>
              </a:rPr>
              <a:t>Team-Mitglied</a:t>
            </a:r>
            <a:endParaRPr sz="700">
              <a:solidFill>
                <a:schemeClr val="dk1"/>
              </a:solidFill>
              <a:latin typeface="Calibri"/>
              <a:ea typeface="Calibri"/>
              <a:cs typeface="Calibri"/>
              <a:sym typeface="Calibri"/>
            </a:endParaRPr>
          </a:p>
        </p:txBody>
      </p:sp>
      <p:sp>
        <p:nvSpPr>
          <p:cNvPr id="332" name="Google Shape;332;p23"/>
          <p:cNvSpPr/>
          <p:nvPr/>
        </p:nvSpPr>
        <p:spPr>
          <a:xfrm>
            <a:off x="4918215" y="2900934"/>
            <a:ext cx="3608337"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lang="de" sz="900">
                <a:solidFill>
                  <a:srgbClr val="17242F"/>
                </a:solidFill>
                <a:latin typeface="Calibri"/>
                <a:ea typeface="Calibri"/>
                <a:cs typeface="Calibri"/>
                <a:sym typeface="Calibri"/>
              </a:rPr>
              <a:t>Als Team-Mitglied möchte ich Dokumente versioniert ablegen, um frühere Stände wiederherstellen zu können.</a:t>
            </a:r>
            <a:endParaRPr sz="900">
              <a:solidFill>
                <a:schemeClr val="dk1"/>
              </a:solidFill>
              <a:latin typeface="Calibri"/>
              <a:ea typeface="Calibri"/>
              <a:cs typeface="Calibri"/>
              <a:sym typeface="Calibri"/>
            </a:endParaRPr>
          </a:p>
        </p:txBody>
      </p:sp>
      <p:sp>
        <p:nvSpPr>
          <p:cNvPr id="333" name="Google Shape;333;p23"/>
          <p:cNvSpPr/>
          <p:nvPr/>
        </p:nvSpPr>
        <p:spPr>
          <a:xfrm>
            <a:off x="425196" y="3703320"/>
            <a:ext cx="3992385" cy="1028700"/>
          </a:xfrm>
          <a:prstGeom prst="roundRect">
            <a:avLst>
              <a:gd fmla="val 5333"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4" name="Google Shape;334;p23"/>
          <p:cNvSpPr/>
          <p:nvPr/>
        </p:nvSpPr>
        <p:spPr>
          <a:xfrm>
            <a:off x="617220" y="3840480"/>
            <a:ext cx="1004697" cy="219456"/>
          </a:xfrm>
          <a:prstGeom prst="roundRect">
            <a:avLst>
              <a:gd fmla="val 50000" name="adj"/>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5" name="Google Shape;335;p23"/>
          <p:cNvSpPr/>
          <p:nvPr/>
        </p:nvSpPr>
        <p:spPr>
          <a:xfrm>
            <a:off x="617220" y="3840480"/>
            <a:ext cx="1004697"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b="1" lang="de" sz="700">
                <a:solidFill>
                  <a:srgbClr val="FFFFFF"/>
                </a:solidFill>
                <a:latin typeface="Calibri"/>
                <a:ea typeface="Calibri"/>
                <a:cs typeface="Calibri"/>
                <a:sym typeface="Calibri"/>
              </a:rPr>
              <a:t>Externes System</a:t>
            </a:r>
            <a:endParaRPr sz="700">
              <a:solidFill>
                <a:schemeClr val="dk1"/>
              </a:solidFill>
              <a:latin typeface="Calibri"/>
              <a:ea typeface="Calibri"/>
              <a:cs typeface="Calibri"/>
              <a:sym typeface="Calibri"/>
            </a:endParaRPr>
          </a:p>
        </p:txBody>
      </p:sp>
      <p:sp>
        <p:nvSpPr>
          <p:cNvPr id="336" name="Google Shape;336;p23"/>
          <p:cNvSpPr/>
          <p:nvPr/>
        </p:nvSpPr>
        <p:spPr>
          <a:xfrm>
            <a:off x="617220" y="4101084"/>
            <a:ext cx="3608337"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lang="de" sz="900">
                <a:solidFill>
                  <a:srgbClr val="17242F"/>
                </a:solidFill>
                <a:latin typeface="Calibri"/>
                <a:ea typeface="Calibri"/>
                <a:cs typeface="Calibri"/>
                <a:sym typeface="Calibri"/>
              </a:rPr>
              <a:t>Als externes System möchte ich per Webhook über Änderungen informiert werden, um CI/CD-Pipelines anzustoßen.</a:t>
            </a:r>
            <a:endParaRPr sz="900">
              <a:solidFill>
                <a:schemeClr val="dk1"/>
              </a:solidFill>
              <a:latin typeface="Calibri"/>
              <a:ea typeface="Calibri"/>
              <a:cs typeface="Calibri"/>
              <a:sym typeface="Calibri"/>
            </a:endParaRPr>
          </a:p>
        </p:txBody>
      </p:sp>
      <p:sp>
        <p:nvSpPr>
          <p:cNvPr id="337" name="Google Shape;337;p23"/>
          <p:cNvSpPr/>
          <p:nvPr/>
        </p:nvSpPr>
        <p:spPr>
          <a:xfrm>
            <a:off x="4726191" y="3703320"/>
            <a:ext cx="3992385" cy="1028700"/>
          </a:xfrm>
          <a:prstGeom prst="roundRect">
            <a:avLst>
              <a:gd fmla="val 5333"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8" name="Google Shape;338;p23"/>
          <p:cNvSpPr/>
          <p:nvPr/>
        </p:nvSpPr>
        <p:spPr>
          <a:xfrm>
            <a:off x="4918215" y="3840480"/>
            <a:ext cx="541782" cy="219456"/>
          </a:xfrm>
          <a:prstGeom prst="roundRect">
            <a:avLst>
              <a:gd fmla="val 50000" name="adj"/>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9" name="Google Shape;339;p23"/>
          <p:cNvSpPr/>
          <p:nvPr/>
        </p:nvSpPr>
        <p:spPr>
          <a:xfrm>
            <a:off x="4918215" y="3840480"/>
            <a:ext cx="54178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b="1" lang="de" sz="700">
                <a:solidFill>
                  <a:srgbClr val="FFFFFF"/>
                </a:solidFill>
                <a:latin typeface="Calibri"/>
                <a:ea typeface="Calibri"/>
                <a:cs typeface="Calibri"/>
                <a:sym typeface="Calibri"/>
              </a:rPr>
              <a:t>Nutzer</a:t>
            </a:r>
            <a:endParaRPr sz="700">
              <a:solidFill>
                <a:schemeClr val="dk1"/>
              </a:solidFill>
              <a:latin typeface="Calibri"/>
              <a:ea typeface="Calibri"/>
              <a:cs typeface="Calibri"/>
              <a:sym typeface="Calibri"/>
            </a:endParaRPr>
          </a:p>
        </p:txBody>
      </p:sp>
      <p:sp>
        <p:nvSpPr>
          <p:cNvPr id="340" name="Google Shape;340;p23"/>
          <p:cNvSpPr/>
          <p:nvPr/>
        </p:nvSpPr>
        <p:spPr>
          <a:xfrm>
            <a:off x="4918215" y="4101084"/>
            <a:ext cx="3608337"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lang="de" sz="900">
                <a:solidFill>
                  <a:srgbClr val="17242F"/>
                </a:solidFill>
                <a:latin typeface="Calibri"/>
                <a:ea typeface="Calibri"/>
                <a:cs typeface="Calibri"/>
                <a:sym typeface="Calibri"/>
              </a:rPr>
              <a:t>Als Nutzer möchte ich meine Tasks direkt in Claude abfragen, ohne die Oberfläche zu öffnen.</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B2A"/>
        </a:solidFill>
      </p:bgPr>
    </p:bg>
    <p:spTree>
      <p:nvGrpSpPr>
        <p:cNvPr id="345" name="Shape 345"/>
        <p:cNvGrpSpPr/>
        <p:nvPr/>
      </p:nvGrpSpPr>
      <p:grpSpPr>
        <a:xfrm>
          <a:off x="0" y="0"/>
          <a:ext cx="0" cy="0"/>
          <a:chOff x="0" y="0"/>
          <a:chExt cx="0" cy="0"/>
        </a:xfrm>
      </p:grpSpPr>
      <p:sp>
        <p:nvSpPr>
          <p:cNvPr id="346" name="Google Shape;346;p24"/>
          <p:cNvSpPr/>
          <p:nvPr/>
        </p:nvSpPr>
        <p:spPr>
          <a:xfrm>
            <a:off x="7269480" y="3223260"/>
            <a:ext cx="617220" cy="617220"/>
          </a:xfrm>
          <a:prstGeom prst="roundRect">
            <a:avLst>
              <a:gd fmla="val 8889" name="adj"/>
            </a:avLst>
          </a:prstGeom>
          <a:solidFill>
            <a:srgbClr val="12263A">
              <a:alpha val="54902"/>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7" name="Google Shape;347;p24"/>
          <p:cNvSpPr/>
          <p:nvPr/>
        </p:nvSpPr>
        <p:spPr>
          <a:xfrm>
            <a:off x="7989570" y="3223260"/>
            <a:ext cx="617220" cy="617220"/>
          </a:xfrm>
          <a:prstGeom prst="roundRect">
            <a:avLst>
              <a:gd fmla="val 8889" name="adj"/>
            </a:avLst>
          </a:prstGeom>
          <a:solidFill>
            <a:srgbClr val="134E63">
              <a:alpha val="6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8" name="Google Shape;348;p24"/>
          <p:cNvSpPr/>
          <p:nvPr/>
        </p:nvSpPr>
        <p:spPr>
          <a:xfrm>
            <a:off x="7269480" y="3943350"/>
            <a:ext cx="617220" cy="617220"/>
          </a:xfrm>
          <a:prstGeom prst="roundRect">
            <a:avLst>
              <a:gd fmla="val 8889" name="adj"/>
            </a:avLst>
          </a:prstGeom>
          <a:solidFill>
            <a:srgbClr val="134E63">
              <a:alpha val="6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9" name="Google Shape;349;p24"/>
          <p:cNvSpPr/>
          <p:nvPr/>
        </p:nvSpPr>
        <p:spPr>
          <a:xfrm>
            <a:off x="7989570" y="3943350"/>
            <a:ext cx="617220" cy="617220"/>
          </a:xfrm>
          <a:prstGeom prst="roundRect">
            <a:avLst>
              <a:gd fmla="val 8889" name="adj"/>
            </a:avLst>
          </a:prstGeom>
          <a:solidFill>
            <a:srgbClr val="12263A">
              <a:alpha val="4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0" name="Google Shape;350;p24"/>
          <p:cNvSpPr/>
          <p:nvPr/>
        </p:nvSpPr>
        <p:spPr>
          <a:xfrm>
            <a:off x="425196" y="1405890"/>
            <a:ext cx="205740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4B6"/>
              </a:buClr>
              <a:buSzPts val="7200"/>
              <a:buFont typeface="Calibri"/>
              <a:buNone/>
            </a:pPr>
            <a:r>
              <a:rPr b="1" lang="de" sz="7200">
                <a:solidFill>
                  <a:srgbClr val="2EC4B6"/>
                </a:solidFill>
                <a:latin typeface="Calibri"/>
                <a:ea typeface="Calibri"/>
                <a:cs typeface="Calibri"/>
                <a:sym typeface="Calibri"/>
              </a:rPr>
              <a:t>03</a:t>
            </a:r>
            <a:endParaRPr sz="7200">
              <a:solidFill>
                <a:schemeClr val="dk1"/>
              </a:solidFill>
              <a:latin typeface="Calibri"/>
              <a:ea typeface="Calibri"/>
              <a:cs typeface="Calibri"/>
              <a:sym typeface="Calibri"/>
            </a:endParaRPr>
          </a:p>
        </p:txBody>
      </p:sp>
      <p:sp>
        <p:nvSpPr>
          <p:cNvPr id="351" name="Google Shape;351;p24"/>
          <p:cNvSpPr/>
          <p:nvPr/>
        </p:nvSpPr>
        <p:spPr>
          <a:xfrm>
            <a:off x="425196" y="2400300"/>
            <a:ext cx="720090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lang="de" sz="3000">
                <a:solidFill>
                  <a:srgbClr val="FFFFFF"/>
                </a:solidFill>
                <a:latin typeface="Calibri"/>
                <a:ea typeface="Calibri"/>
                <a:cs typeface="Calibri"/>
                <a:sym typeface="Calibri"/>
              </a:rPr>
              <a:t>Entwurf</a:t>
            </a:r>
            <a:endParaRPr sz="3000">
              <a:solidFill>
                <a:schemeClr val="dk1"/>
              </a:solidFill>
              <a:latin typeface="Calibri"/>
              <a:ea typeface="Calibri"/>
              <a:cs typeface="Calibri"/>
              <a:sym typeface="Calibri"/>
            </a:endParaRPr>
          </a:p>
        </p:txBody>
      </p:sp>
      <p:cxnSp>
        <p:nvCxnSpPr>
          <p:cNvPr id="352" name="Google Shape;352;p24"/>
          <p:cNvCxnSpPr/>
          <p:nvPr/>
        </p:nvCxnSpPr>
        <p:spPr>
          <a:xfrm>
            <a:off x="425196" y="3086100"/>
            <a:ext cx="1783080" cy="0"/>
          </a:xfrm>
          <a:prstGeom prst="straightConnector1">
            <a:avLst/>
          </a:prstGeom>
          <a:noFill/>
          <a:ln cap="flat" cmpd="sng" w="25400">
            <a:solidFill>
              <a:srgbClr val="1C7293"/>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357" name="Shape 357"/>
        <p:cNvGrpSpPr/>
        <p:nvPr/>
      </p:nvGrpSpPr>
      <p:grpSpPr>
        <a:xfrm>
          <a:off x="0" y="0"/>
          <a:ext cx="0" cy="0"/>
          <a:chOff x="0" y="0"/>
          <a:chExt cx="0" cy="0"/>
        </a:xfrm>
      </p:grpSpPr>
      <p:sp>
        <p:nvSpPr>
          <p:cNvPr id="358" name="Google Shape;358;p25"/>
          <p:cNvSpPr/>
          <p:nvPr/>
        </p:nvSpPr>
        <p:spPr>
          <a:xfrm>
            <a:off x="5668566" y="2167128"/>
            <a:ext cx="952800" cy="781800"/>
          </a:xfrm>
          <a:prstGeom prst="roundRect">
            <a:avLst>
              <a:gd fmla="val 614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4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9" name="Google Shape;359;p25"/>
          <p:cNvSpPr/>
          <p:nvPr/>
        </p:nvSpPr>
        <p:spPr>
          <a:xfrm>
            <a:off x="425196" y="288036"/>
            <a:ext cx="7543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900"/>
              <a:buFont typeface="Calibri"/>
              <a:buNone/>
            </a:pPr>
            <a:r>
              <a:rPr b="1" lang="de" sz="900">
                <a:solidFill>
                  <a:srgbClr val="1C7293"/>
                </a:solidFill>
                <a:latin typeface="Calibri"/>
                <a:ea typeface="Calibri"/>
                <a:cs typeface="Calibri"/>
                <a:sym typeface="Calibri"/>
              </a:rPr>
              <a:t>ENTWURF · ARCHITEKTURBILD</a:t>
            </a:r>
            <a:endParaRPr sz="900">
              <a:solidFill>
                <a:schemeClr val="dk1"/>
              </a:solidFill>
              <a:latin typeface="Calibri"/>
              <a:ea typeface="Calibri"/>
              <a:cs typeface="Calibri"/>
              <a:sym typeface="Calibri"/>
            </a:endParaRPr>
          </a:p>
        </p:txBody>
      </p:sp>
      <p:sp>
        <p:nvSpPr>
          <p:cNvPr id="360" name="Google Shape;360;p25"/>
          <p:cNvSpPr/>
          <p:nvPr/>
        </p:nvSpPr>
        <p:spPr>
          <a:xfrm>
            <a:off x="425196" y="493776"/>
            <a:ext cx="829818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2300"/>
              <a:buFont typeface="Calibri"/>
              <a:buNone/>
            </a:pPr>
            <a:r>
              <a:rPr b="1" lang="de" sz="2300">
                <a:solidFill>
                  <a:srgbClr val="17242F"/>
                </a:solidFill>
                <a:latin typeface="Calibri"/>
                <a:ea typeface="Calibri"/>
                <a:cs typeface="Calibri"/>
                <a:sym typeface="Calibri"/>
              </a:rPr>
              <a:t>Komponenten und ihre Interaktion</a:t>
            </a:r>
            <a:endParaRPr sz="2300">
              <a:solidFill>
                <a:schemeClr val="dk1"/>
              </a:solidFill>
              <a:latin typeface="Calibri"/>
              <a:ea typeface="Calibri"/>
              <a:cs typeface="Calibri"/>
              <a:sym typeface="Calibri"/>
            </a:endParaRPr>
          </a:p>
        </p:txBody>
      </p:sp>
      <p:sp>
        <p:nvSpPr>
          <p:cNvPr id="361" name="Google Shape;361;p25"/>
          <p:cNvSpPr/>
          <p:nvPr/>
        </p:nvSpPr>
        <p:spPr>
          <a:xfrm>
            <a:off x="2297430" y="1028700"/>
            <a:ext cx="1920240" cy="397764"/>
          </a:xfrm>
          <a:prstGeom prst="roundRect">
            <a:avLst>
              <a:gd fmla="val 12069" name="adj"/>
            </a:avLst>
          </a:prstGeom>
          <a:solidFill>
            <a:srgbClr val="12263A"/>
          </a:solidFill>
          <a:ln>
            <a:noFill/>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2" name="Google Shape;362;p25"/>
          <p:cNvSpPr/>
          <p:nvPr/>
        </p:nvSpPr>
        <p:spPr>
          <a:xfrm>
            <a:off x="2393442" y="1062990"/>
            <a:ext cx="17145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Browser / Client</a:t>
            </a:r>
            <a:endParaRPr sz="900">
              <a:solidFill>
                <a:schemeClr val="dk1"/>
              </a:solidFill>
              <a:latin typeface="Calibri"/>
              <a:ea typeface="Calibri"/>
              <a:cs typeface="Calibri"/>
              <a:sym typeface="Calibri"/>
            </a:endParaRPr>
          </a:p>
        </p:txBody>
      </p:sp>
      <p:sp>
        <p:nvSpPr>
          <p:cNvPr id="363" name="Google Shape;363;p25"/>
          <p:cNvSpPr/>
          <p:nvPr/>
        </p:nvSpPr>
        <p:spPr>
          <a:xfrm>
            <a:off x="2393442" y="1234440"/>
            <a:ext cx="17145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4"/>
              </a:buClr>
              <a:buSzPts val="700"/>
              <a:buFont typeface="Calibri"/>
              <a:buNone/>
            </a:pPr>
            <a:r>
              <a:rPr lang="de" sz="700">
                <a:solidFill>
                  <a:srgbClr val="9FB3C4"/>
                </a:solidFill>
                <a:latin typeface="Calibri"/>
                <a:ea typeface="Calibri"/>
                <a:cs typeface="Calibri"/>
                <a:sym typeface="Calibri"/>
              </a:rPr>
              <a:t>React SPA · View-Registry</a:t>
            </a:r>
            <a:endParaRPr sz="700">
              <a:solidFill>
                <a:schemeClr val="dk1"/>
              </a:solidFill>
              <a:latin typeface="Calibri"/>
              <a:ea typeface="Calibri"/>
              <a:cs typeface="Calibri"/>
              <a:sym typeface="Calibri"/>
            </a:endParaRPr>
          </a:p>
        </p:txBody>
      </p:sp>
      <p:sp>
        <p:nvSpPr>
          <p:cNvPr id="364" name="Google Shape;364;p25"/>
          <p:cNvSpPr/>
          <p:nvPr/>
        </p:nvSpPr>
        <p:spPr>
          <a:xfrm>
            <a:off x="4903470" y="1028700"/>
            <a:ext cx="1920240" cy="397764"/>
          </a:xfrm>
          <a:prstGeom prst="roundRect">
            <a:avLst>
              <a:gd fmla="val 12069" name="adj"/>
            </a:avLst>
          </a:prstGeom>
          <a:solidFill>
            <a:srgbClr val="12263A"/>
          </a:solidFill>
          <a:ln>
            <a:noFill/>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5" name="Google Shape;365;p25"/>
          <p:cNvSpPr/>
          <p:nvPr/>
        </p:nvSpPr>
        <p:spPr>
          <a:xfrm>
            <a:off x="4999482" y="1062990"/>
            <a:ext cx="17145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MCP Client</a:t>
            </a:r>
            <a:endParaRPr sz="900">
              <a:solidFill>
                <a:schemeClr val="dk1"/>
              </a:solidFill>
              <a:latin typeface="Calibri"/>
              <a:ea typeface="Calibri"/>
              <a:cs typeface="Calibri"/>
              <a:sym typeface="Calibri"/>
            </a:endParaRPr>
          </a:p>
        </p:txBody>
      </p:sp>
      <p:sp>
        <p:nvSpPr>
          <p:cNvPr id="366" name="Google Shape;366;p25"/>
          <p:cNvSpPr/>
          <p:nvPr/>
        </p:nvSpPr>
        <p:spPr>
          <a:xfrm>
            <a:off x="4999482" y="1234440"/>
            <a:ext cx="17145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4"/>
              </a:buClr>
              <a:buSzPts val="700"/>
              <a:buFont typeface="Calibri"/>
              <a:buNone/>
            </a:pPr>
            <a:r>
              <a:rPr lang="de" sz="700">
                <a:solidFill>
                  <a:srgbClr val="9FB3C4"/>
                </a:solidFill>
                <a:latin typeface="Calibri"/>
                <a:ea typeface="Calibri"/>
                <a:cs typeface="Calibri"/>
                <a:sym typeface="Calibri"/>
              </a:rPr>
              <a:t>Agent (z. B. Claude)</a:t>
            </a:r>
            <a:endParaRPr sz="700">
              <a:solidFill>
                <a:schemeClr val="dk1"/>
              </a:solidFill>
              <a:latin typeface="Calibri"/>
              <a:ea typeface="Calibri"/>
              <a:cs typeface="Calibri"/>
              <a:sym typeface="Calibri"/>
            </a:endParaRPr>
          </a:p>
        </p:txBody>
      </p:sp>
      <p:sp>
        <p:nvSpPr>
          <p:cNvPr id="367" name="Google Shape;367;p25"/>
          <p:cNvSpPr/>
          <p:nvPr/>
        </p:nvSpPr>
        <p:spPr>
          <a:xfrm rot="5400000">
            <a:off x="3168396" y="1440180"/>
            <a:ext cx="123444" cy="109728"/>
          </a:xfrm>
          <a:prstGeom prst="rightArrow">
            <a:avLst>
              <a:gd fmla="val 50000" name="adj1"/>
              <a:gd fmla="val 50000" name="adj2"/>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8" name="Google Shape;368;p25"/>
          <p:cNvSpPr/>
          <p:nvPr/>
        </p:nvSpPr>
        <p:spPr>
          <a:xfrm rot="5400000">
            <a:off x="5774436" y="1440180"/>
            <a:ext cx="123444" cy="109728"/>
          </a:xfrm>
          <a:prstGeom prst="rightArrow">
            <a:avLst>
              <a:gd fmla="val 50000" name="adj1"/>
              <a:gd fmla="val 50000" name="adj2"/>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9" name="Google Shape;369;p25"/>
          <p:cNvSpPr/>
          <p:nvPr/>
        </p:nvSpPr>
        <p:spPr>
          <a:xfrm>
            <a:off x="3326130" y="1412748"/>
            <a:ext cx="150876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600"/>
              <a:buFont typeface="Calibri"/>
              <a:buNone/>
            </a:pPr>
            <a:r>
              <a:rPr lang="de" sz="600">
                <a:solidFill>
                  <a:srgbClr val="1C7293"/>
                </a:solidFill>
                <a:latin typeface="Calibri"/>
                <a:ea typeface="Calibri"/>
                <a:cs typeface="Calibri"/>
                <a:sym typeface="Calibri"/>
              </a:rPr>
              <a:t>HTTPS · WebSocket (/ws)</a:t>
            </a:r>
            <a:endParaRPr sz="600">
              <a:solidFill>
                <a:schemeClr val="dk1"/>
              </a:solidFill>
              <a:latin typeface="Calibri"/>
              <a:ea typeface="Calibri"/>
              <a:cs typeface="Calibri"/>
              <a:sym typeface="Calibri"/>
            </a:endParaRPr>
          </a:p>
        </p:txBody>
      </p:sp>
      <p:sp>
        <p:nvSpPr>
          <p:cNvPr id="370" name="Google Shape;370;p25"/>
          <p:cNvSpPr/>
          <p:nvPr/>
        </p:nvSpPr>
        <p:spPr>
          <a:xfrm>
            <a:off x="5932170" y="1412748"/>
            <a:ext cx="150876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4E63"/>
              </a:buClr>
              <a:buSzPts val="600"/>
              <a:buFont typeface="Calibri"/>
              <a:buNone/>
            </a:pPr>
            <a:r>
              <a:rPr lang="de" sz="600">
                <a:solidFill>
                  <a:srgbClr val="134E63"/>
                </a:solidFill>
                <a:latin typeface="Calibri"/>
                <a:ea typeface="Calibri"/>
                <a:cs typeface="Calibri"/>
                <a:sym typeface="Calibri"/>
              </a:rPr>
              <a:t>/mcp · Bearer PAT</a:t>
            </a:r>
            <a:endParaRPr sz="600">
              <a:solidFill>
                <a:schemeClr val="dk1"/>
              </a:solidFill>
              <a:latin typeface="Calibri"/>
              <a:ea typeface="Calibri"/>
              <a:cs typeface="Calibri"/>
              <a:sym typeface="Calibri"/>
            </a:endParaRPr>
          </a:p>
        </p:txBody>
      </p:sp>
      <p:sp>
        <p:nvSpPr>
          <p:cNvPr id="371" name="Google Shape;371;p25"/>
          <p:cNvSpPr/>
          <p:nvPr/>
        </p:nvSpPr>
        <p:spPr>
          <a:xfrm>
            <a:off x="425196" y="1604772"/>
            <a:ext cx="8293379" cy="425196"/>
          </a:xfrm>
          <a:prstGeom prst="roundRect">
            <a:avLst>
              <a:gd fmla="val 12903" name="adj"/>
            </a:avLst>
          </a:prstGeom>
          <a:solidFill>
            <a:srgbClr val="1C7293"/>
          </a:solidFill>
          <a:ln>
            <a:noFill/>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2" name="Google Shape;372;p25"/>
          <p:cNvSpPr/>
          <p:nvPr/>
        </p:nvSpPr>
        <p:spPr>
          <a:xfrm>
            <a:off x="630936" y="1645920"/>
            <a:ext cx="34290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de" sz="1000">
                <a:solidFill>
                  <a:srgbClr val="FFFFFF"/>
                </a:solidFill>
                <a:latin typeface="Calibri"/>
                <a:ea typeface="Calibri"/>
                <a:cs typeface="Calibri"/>
                <a:sym typeface="Calibri"/>
              </a:rPr>
              <a:t>Traefik API Gateway   ·   :80 / :443</a:t>
            </a:r>
            <a:endParaRPr sz="1000">
              <a:solidFill>
                <a:schemeClr val="dk1"/>
              </a:solidFill>
              <a:latin typeface="Calibri"/>
              <a:ea typeface="Calibri"/>
              <a:cs typeface="Calibri"/>
              <a:sym typeface="Calibri"/>
            </a:endParaRPr>
          </a:p>
        </p:txBody>
      </p:sp>
      <p:sp>
        <p:nvSpPr>
          <p:cNvPr id="373" name="Google Shape;373;p25"/>
          <p:cNvSpPr/>
          <p:nvPr/>
        </p:nvSpPr>
        <p:spPr>
          <a:xfrm>
            <a:off x="630936" y="1824228"/>
            <a:ext cx="78867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EAF2"/>
              </a:buClr>
              <a:buSzPts val="700"/>
              <a:buFont typeface="Calibri"/>
              <a:buNone/>
            </a:pPr>
            <a:r>
              <a:rPr lang="de" sz="700">
                <a:solidFill>
                  <a:srgbClr val="D6EAF2"/>
                </a:solidFill>
                <a:latin typeface="Calibri"/>
                <a:ea typeface="Calibri"/>
                <a:cs typeface="Calibri"/>
                <a:sym typeface="Calibri"/>
              </a:rPr>
              <a:t>TLS-Terminierung · Routing · Rate-Limiting · CORS   —   JWT/PAT werden je Service geprüft, nicht hier (Zero-Trust)</a:t>
            </a:r>
            <a:endParaRPr sz="700">
              <a:solidFill>
                <a:schemeClr val="dk1"/>
              </a:solidFill>
              <a:latin typeface="Calibri"/>
              <a:ea typeface="Calibri"/>
              <a:cs typeface="Calibri"/>
              <a:sym typeface="Calibri"/>
            </a:endParaRPr>
          </a:p>
        </p:txBody>
      </p:sp>
      <p:sp>
        <p:nvSpPr>
          <p:cNvPr id="374" name="Google Shape;374;p25"/>
          <p:cNvSpPr/>
          <p:nvPr/>
        </p:nvSpPr>
        <p:spPr>
          <a:xfrm>
            <a:off x="425196" y="2167128"/>
            <a:ext cx="952662" cy="781812"/>
          </a:xfrm>
          <a:prstGeom prst="roundRect">
            <a:avLst>
              <a:gd fmla="val 614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5" name="Google Shape;375;p25"/>
          <p:cNvSpPr/>
          <p:nvPr/>
        </p:nvSpPr>
        <p:spPr>
          <a:xfrm>
            <a:off x="425196" y="2167128"/>
            <a:ext cx="952662" cy="48006"/>
          </a:xfrm>
          <a:prstGeom prst="rect">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6" name="Google Shape;376;p25"/>
          <p:cNvSpPr/>
          <p:nvPr/>
        </p:nvSpPr>
        <p:spPr>
          <a:xfrm>
            <a:off x="466344" y="2263140"/>
            <a:ext cx="870366" cy="2057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42F"/>
              </a:buClr>
              <a:buSzPts val="700"/>
              <a:buFont typeface="Calibri"/>
              <a:buNone/>
            </a:pPr>
            <a:r>
              <a:rPr b="1" lang="de" sz="700">
                <a:solidFill>
                  <a:srgbClr val="17242F"/>
                </a:solidFill>
                <a:latin typeface="Calibri"/>
                <a:ea typeface="Calibri"/>
                <a:cs typeface="Calibri"/>
                <a:sym typeface="Calibri"/>
              </a:rPr>
              <a:t>Auth</a:t>
            </a:r>
            <a:endParaRPr sz="700">
              <a:solidFill>
                <a:schemeClr val="dk1"/>
              </a:solidFill>
              <a:latin typeface="Calibri"/>
              <a:ea typeface="Calibri"/>
              <a:cs typeface="Calibri"/>
              <a:sym typeface="Calibri"/>
            </a:endParaRPr>
          </a:p>
        </p:txBody>
      </p:sp>
      <p:sp>
        <p:nvSpPr>
          <p:cNvPr id="377" name="Google Shape;377;p25"/>
          <p:cNvSpPr/>
          <p:nvPr/>
        </p:nvSpPr>
        <p:spPr>
          <a:xfrm>
            <a:off x="709503" y="2510028"/>
            <a:ext cx="384048" cy="137160"/>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8" name="Google Shape;378;p25"/>
          <p:cNvSpPr/>
          <p:nvPr/>
        </p:nvSpPr>
        <p:spPr>
          <a:xfrm>
            <a:off x="709503" y="2510028"/>
            <a:ext cx="384048" cy="137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600"/>
              <a:buFont typeface="Calibri"/>
              <a:buNone/>
            </a:pPr>
            <a:r>
              <a:rPr b="1" lang="de" sz="600">
                <a:solidFill>
                  <a:srgbClr val="134E63"/>
                </a:solidFill>
                <a:latin typeface="Calibri"/>
                <a:ea typeface="Calibri"/>
                <a:cs typeface="Calibri"/>
                <a:sym typeface="Calibri"/>
              </a:rPr>
              <a:t>8001</a:t>
            </a:r>
            <a:endParaRPr sz="600">
              <a:solidFill>
                <a:schemeClr val="dk1"/>
              </a:solidFill>
              <a:latin typeface="Calibri"/>
              <a:ea typeface="Calibri"/>
              <a:cs typeface="Calibri"/>
              <a:sym typeface="Calibri"/>
            </a:endParaRPr>
          </a:p>
        </p:txBody>
      </p:sp>
      <p:sp>
        <p:nvSpPr>
          <p:cNvPr id="379" name="Google Shape;379;p25"/>
          <p:cNvSpPr/>
          <p:nvPr/>
        </p:nvSpPr>
        <p:spPr>
          <a:xfrm>
            <a:off x="452628" y="2798064"/>
            <a:ext cx="897798"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8416"/>
              </a:buClr>
              <a:buSzPts val="500"/>
              <a:buFont typeface="Calibri"/>
              <a:buNone/>
            </a:pPr>
            <a:r>
              <a:rPr b="1" lang="de" sz="500">
                <a:solidFill>
                  <a:srgbClr val="C48416"/>
                </a:solidFill>
                <a:latin typeface="Calibri"/>
                <a:ea typeface="Calibri"/>
                <a:cs typeface="Calibri"/>
                <a:sym typeface="Calibri"/>
              </a:rPr>
              <a:t>pub</a:t>
            </a:r>
            <a:endParaRPr sz="500">
              <a:solidFill>
                <a:schemeClr val="dk1"/>
              </a:solidFill>
              <a:latin typeface="Calibri"/>
              <a:ea typeface="Calibri"/>
              <a:cs typeface="Calibri"/>
              <a:sym typeface="Calibri"/>
            </a:endParaRPr>
          </a:p>
        </p:txBody>
      </p:sp>
      <p:sp>
        <p:nvSpPr>
          <p:cNvPr id="380" name="Google Shape;380;p25"/>
          <p:cNvSpPr/>
          <p:nvPr/>
        </p:nvSpPr>
        <p:spPr>
          <a:xfrm>
            <a:off x="1473870" y="2167128"/>
            <a:ext cx="952662" cy="781812"/>
          </a:xfrm>
          <a:prstGeom prst="roundRect">
            <a:avLst>
              <a:gd fmla="val 614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1" name="Google Shape;381;p25"/>
          <p:cNvSpPr/>
          <p:nvPr/>
        </p:nvSpPr>
        <p:spPr>
          <a:xfrm>
            <a:off x="1473870" y="2167128"/>
            <a:ext cx="952662" cy="48006"/>
          </a:xfrm>
          <a:prstGeom prst="rect">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2" name="Google Shape;382;p25"/>
          <p:cNvSpPr/>
          <p:nvPr/>
        </p:nvSpPr>
        <p:spPr>
          <a:xfrm>
            <a:off x="1515018" y="2263140"/>
            <a:ext cx="870366" cy="2057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42F"/>
              </a:buClr>
              <a:buSzPts val="700"/>
              <a:buFont typeface="Calibri"/>
              <a:buNone/>
            </a:pPr>
            <a:r>
              <a:rPr b="1" lang="de" sz="700">
                <a:solidFill>
                  <a:srgbClr val="17242F"/>
                </a:solidFill>
                <a:latin typeface="Calibri"/>
                <a:ea typeface="Calibri"/>
                <a:cs typeface="Calibri"/>
                <a:sym typeface="Calibri"/>
              </a:rPr>
              <a:t>Project</a:t>
            </a:r>
            <a:endParaRPr sz="700">
              <a:solidFill>
                <a:schemeClr val="dk1"/>
              </a:solidFill>
              <a:latin typeface="Calibri"/>
              <a:ea typeface="Calibri"/>
              <a:cs typeface="Calibri"/>
              <a:sym typeface="Calibri"/>
            </a:endParaRPr>
          </a:p>
        </p:txBody>
      </p:sp>
      <p:sp>
        <p:nvSpPr>
          <p:cNvPr id="383" name="Google Shape;383;p25"/>
          <p:cNvSpPr/>
          <p:nvPr/>
        </p:nvSpPr>
        <p:spPr>
          <a:xfrm>
            <a:off x="1758177" y="2510028"/>
            <a:ext cx="384048" cy="137160"/>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4" name="Google Shape;384;p25"/>
          <p:cNvSpPr/>
          <p:nvPr/>
        </p:nvSpPr>
        <p:spPr>
          <a:xfrm>
            <a:off x="1758177" y="2510028"/>
            <a:ext cx="384048" cy="137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600"/>
              <a:buFont typeface="Calibri"/>
              <a:buNone/>
            </a:pPr>
            <a:r>
              <a:rPr b="1" lang="de" sz="600">
                <a:solidFill>
                  <a:srgbClr val="134E63"/>
                </a:solidFill>
                <a:latin typeface="Calibri"/>
                <a:ea typeface="Calibri"/>
                <a:cs typeface="Calibri"/>
                <a:sym typeface="Calibri"/>
              </a:rPr>
              <a:t>8002</a:t>
            </a:r>
            <a:endParaRPr sz="600">
              <a:solidFill>
                <a:schemeClr val="dk1"/>
              </a:solidFill>
              <a:latin typeface="Calibri"/>
              <a:ea typeface="Calibri"/>
              <a:cs typeface="Calibri"/>
              <a:sym typeface="Calibri"/>
            </a:endParaRPr>
          </a:p>
        </p:txBody>
      </p:sp>
      <p:sp>
        <p:nvSpPr>
          <p:cNvPr id="385" name="Google Shape;385;p25"/>
          <p:cNvSpPr/>
          <p:nvPr/>
        </p:nvSpPr>
        <p:spPr>
          <a:xfrm>
            <a:off x="1501302" y="2674620"/>
            <a:ext cx="897798"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500"/>
              <a:buFont typeface="Calibri"/>
              <a:buNone/>
            </a:pPr>
            <a:r>
              <a:rPr b="1" lang="de" sz="500">
                <a:solidFill>
                  <a:srgbClr val="134E63"/>
                </a:solidFill>
                <a:latin typeface="Calibri"/>
                <a:ea typeface="Calibri"/>
                <a:cs typeface="Calibri"/>
                <a:sym typeface="Calibri"/>
              </a:rPr>
              <a:t>★ autoritativ</a:t>
            </a:r>
            <a:endParaRPr sz="500">
              <a:solidFill>
                <a:schemeClr val="dk1"/>
              </a:solidFill>
              <a:latin typeface="Calibri"/>
              <a:ea typeface="Calibri"/>
              <a:cs typeface="Calibri"/>
              <a:sym typeface="Calibri"/>
            </a:endParaRPr>
          </a:p>
        </p:txBody>
      </p:sp>
      <p:sp>
        <p:nvSpPr>
          <p:cNvPr id="386" name="Google Shape;386;p25"/>
          <p:cNvSpPr/>
          <p:nvPr/>
        </p:nvSpPr>
        <p:spPr>
          <a:xfrm>
            <a:off x="1501302" y="2798064"/>
            <a:ext cx="897798"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8416"/>
              </a:buClr>
              <a:buSzPts val="500"/>
              <a:buFont typeface="Calibri"/>
              <a:buNone/>
            </a:pPr>
            <a:r>
              <a:rPr b="1" lang="de" sz="500">
                <a:solidFill>
                  <a:srgbClr val="C48416"/>
                </a:solidFill>
                <a:latin typeface="Calibri"/>
                <a:ea typeface="Calibri"/>
                <a:cs typeface="Calibri"/>
                <a:sym typeface="Calibri"/>
              </a:rPr>
              <a:t>pub · sub</a:t>
            </a:r>
            <a:endParaRPr sz="500">
              <a:solidFill>
                <a:schemeClr val="dk1"/>
              </a:solidFill>
              <a:latin typeface="Calibri"/>
              <a:ea typeface="Calibri"/>
              <a:cs typeface="Calibri"/>
              <a:sym typeface="Calibri"/>
            </a:endParaRPr>
          </a:p>
        </p:txBody>
      </p:sp>
      <p:sp>
        <p:nvSpPr>
          <p:cNvPr id="387" name="Google Shape;387;p25"/>
          <p:cNvSpPr/>
          <p:nvPr/>
        </p:nvSpPr>
        <p:spPr>
          <a:xfrm>
            <a:off x="2522544" y="2167128"/>
            <a:ext cx="952662" cy="781812"/>
          </a:xfrm>
          <a:prstGeom prst="roundRect">
            <a:avLst>
              <a:gd fmla="val 614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8" name="Google Shape;388;p25"/>
          <p:cNvSpPr/>
          <p:nvPr/>
        </p:nvSpPr>
        <p:spPr>
          <a:xfrm>
            <a:off x="2522544" y="2167128"/>
            <a:ext cx="952662" cy="48006"/>
          </a:xfrm>
          <a:prstGeom prst="rect">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9" name="Google Shape;389;p25"/>
          <p:cNvSpPr/>
          <p:nvPr/>
        </p:nvSpPr>
        <p:spPr>
          <a:xfrm>
            <a:off x="2563692" y="2263140"/>
            <a:ext cx="870366" cy="2057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42F"/>
              </a:buClr>
              <a:buSzPts val="700"/>
              <a:buFont typeface="Calibri"/>
              <a:buNone/>
            </a:pPr>
            <a:r>
              <a:rPr b="1" lang="de" sz="700">
                <a:solidFill>
                  <a:srgbClr val="17242F"/>
                </a:solidFill>
                <a:latin typeface="Calibri"/>
                <a:ea typeface="Calibri"/>
                <a:cs typeface="Calibri"/>
                <a:sym typeface="Calibri"/>
              </a:rPr>
              <a:t>Task</a:t>
            </a:r>
            <a:endParaRPr sz="700">
              <a:solidFill>
                <a:schemeClr val="dk1"/>
              </a:solidFill>
              <a:latin typeface="Calibri"/>
              <a:ea typeface="Calibri"/>
              <a:cs typeface="Calibri"/>
              <a:sym typeface="Calibri"/>
            </a:endParaRPr>
          </a:p>
        </p:txBody>
      </p:sp>
      <p:sp>
        <p:nvSpPr>
          <p:cNvPr id="390" name="Google Shape;390;p25"/>
          <p:cNvSpPr/>
          <p:nvPr/>
        </p:nvSpPr>
        <p:spPr>
          <a:xfrm>
            <a:off x="2806851" y="2510028"/>
            <a:ext cx="384048" cy="137160"/>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1" name="Google Shape;391;p25"/>
          <p:cNvSpPr/>
          <p:nvPr/>
        </p:nvSpPr>
        <p:spPr>
          <a:xfrm>
            <a:off x="2806851" y="2510028"/>
            <a:ext cx="384048" cy="137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600"/>
              <a:buFont typeface="Calibri"/>
              <a:buNone/>
            </a:pPr>
            <a:r>
              <a:rPr b="1" lang="de" sz="600">
                <a:solidFill>
                  <a:srgbClr val="134E63"/>
                </a:solidFill>
                <a:latin typeface="Calibri"/>
                <a:ea typeface="Calibri"/>
                <a:cs typeface="Calibri"/>
                <a:sym typeface="Calibri"/>
              </a:rPr>
              <a:t>8003</a:t>
            </a:r>
            <a:endParaRPr sz="600">
              <a:solidFill>
                <a:schemeClr val="dk1"/>
              </a:solidFill>
              <a:latin typeface="Calibri"/>
              <a:ea typeface="Calibri"/>
              <a:cs typeface="Calibri"/>
              <a:sym typeface="Calibri"/>
            </a:endParaRPr>
          </a:p>
        </p:txBody>
      </p:sp>
      <p:sp>
        <p:nvSpPr>
          <p:cNvPr id="392" name="Google Shape;392;p25"/>
          <p:cNvSpPr/>
          <p:nvPr/>
        </p:nvSpPr>
        <p:spPr>
          <a:xfrm>
            <a:off x="2549976" y="2798064"/>
            <a:ext cx="897798"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8416"/>
              </a:buClr>
              <a:buSzPts val="500"/>
              <a:buFont typeface="Calibri"/>
              <a:buNone/>
            </a:pPr>
            <a:r>
              <a:rPr b="1" lang="de" sz="500">
                <a:solidFill>
                  <a:srgbClr val="C48416"/>
                </a:solidFill>
                <a:latin typeface="Calibri"/>
                <a:ea typeface="Calibri"/>
                <a:cs typeface="Calibri"/>
                <a:sym typeface="Calibri"/>
              </a:rPr>
              <a:t>pub · sub</a:t>
            </a:r>
            <a:endParaRPr sz="500">
              <a:solidFill>
                <a:schemeClr val="dk1"/>
              </a:solidFill>
              <a:latin typeface="Calibri"/>
              <a:ea typeface="Calibri"/>
              <a:cs typeface="Calibri"/>
              <a:sym typeface="Calibri"/>
            </a:endParaRPr>
          </a:p>
        </p:txBody>
      </p:sp>
      <p:sp>
        <p:nvSpPr>
          <p:cNvPr id="393" name="Google Shape;393;p25"/>
          <p:cNvSpPr/>
          <p:nvPr/>
        </p:nvSpPr>
        <p:spPr>
          <a:xfrm>
            <a:off x="3571218" y="2167128"/>
            <a:ext cx="952662" cy="781812"/>
          </a:xfrm>
          <a:prstGeom prst="roundRect">
            <a:avLst>
              <a:gd fmla="val 614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4" name="Google Shape;394;p25"/>
          <p:cNvSpPr/>
          <p:nvPr/>
        </p:nvSpPr>
        <p:spPr>
          <a:xfrm>
            <a:off x="3571218" y="2167128"/>
            <a:ext cx="952662" cy="48006"/>
          </a:xfrm>
          <a:prstGeom prst="rect">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5" name="Google Shape;395;p25"/>
          <p:cNvSpPr/>
          <p:nvPr/>
        </p:nvSpPr>
        <p:spPr>
          <a:xfrm>
            <a:off x="3612366" y="2263140"/>
            <a:ext cx="870366" cy="2057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42F"/>
              </a:buClr>
              <a:buSzPts val="700"/>
              <a:buFont typeface="Calibri"/>
              <a:buNone/>
            </a:pPr>
            <a:r>
              <a:rPr b="1" lang="de" sz="700">
                <a:solidFill>
                  <a:srgbClr val="17242F"/>
                </a:solidFill>
                <a:latin typeface="Calibri"/>
                <a:ea typeface="Calibri"/>
                <a:cs typeface="Calibri"/>
                <a:sym typeface="Calibri"/>
              </a:rPr>
              <a:t>Document</a:t>
            </a:r>
            <a:endParaRPr sz="700">
              <a:solidFill>
                <a:schemeClr val="dk1"/>
              </a:solidFill>
              <a:latin typeface="Calibri"/>
              <a:ea typeface="Calibri"/>
              <a:cs typeface="Calibri"/>
              <a:sym typeface="Calibri"/>
            </a:endParaRPr>
          </a:p>
        </p:txBody>
      </p:sp>
      <p:sp>
        <p:nvSpPr>
          <p:cNvPr id="396" name="Google Shape;396;p25"/>
          <p:cNvSpPr/>
          <p:nvPr/>
        </p:nvSpPr>
        <p:spPr>
          <a:xfrm>
            <a:off x="3855525" y="2510028"/>
            <a:ext cx="384048" cy="137160"/>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7" name="Google Shape;397;p25"/>
          <p:cNvSpPr/>
          <p:nvPr/>
        </p:nvSpPr>
        <p:spPr>
          <a:xfrm>
            <a:off x="3855525" y="2510028"/>
            <a:ext cx="384048" cy="137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600"/>
              <a:buFont typeface="Calibri"/>
              <a:buNone/>
            </a:pPr>
            <a:r>
              <a:rPr b="1" lang="de" sz="600">
                <a:solidFill>
                  <a:srgbClr val="134E63"/>
                </a:solidFill>
                <a:latin typeface="Calibri"/>
                <a:ea typeface="Calibri"/>
                <a:cs typeface="Calibri"/>
                <a:sym typeface="Calibri"/>
              </a:rPr>
              <a:t>8004</a:t>
            </a:r>
            <a:endParaRPr sz="600">
              <a:solidFill>
                <a:schemeClr val="dk1"/>
              </a:solidFill>
              <a:latin typeface="Calibri"/>
              <a:ea typeface="Calibri"/>
              <a:cs typeface="Calibri"/>
              <a:sym typeface="Calibri"/>
            </a:endParaRPr>
          </a:p>
        </p:txBody>
      </p:sp>
      <p:sp>
        <p:nvSpPr>
          <p:cNvPr id="398" name="Google Shape;398;p25"/>
          <p:cNvSpPr/>
          <p:nvPr/>
        </p:nvSpPr>
        <p:spPr>
          <a:xfrm>
            <a:off x="3598650" y="2798064"/>
            <a:ext cx="897798"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8416"/>
              </a:buClr>
              <a:buSzPts val="500"/>
              <a:buFont typeface="Calibri"/>
              <a:buNone/>
            </a:pPr>
            <a:r>
              <a:rPr b="1" lang="de" sz="500">
                <a:solidFill>
                  <a:srgbClr val="C48416"/>
                </a:solidFill>
                <a:latin typeface="Calibri"/>
                <a:ea typeface="Calibri"/>
                <a:cs typeface="Calibri"/>
                <a:sym typeface="Calibri"/>
              </a:rPr>
              <a:t>pub · sub</a:t>
            </a:r>
            <a:endParaRPr sz="500">
              <a:solidFill>
                <a:schemeClr val="dk1"/>
              </a:solidFill>
              <a:latin typeface="Calibri"/>
              <a:ea typeface="Calibri"/>
              <a:cs typeface="Calibri"/>
              <a:sym typeface="Calibri"/>
            </a:endParaRPr>
          </a:p>
        </p:txBody>
      </p:sp>
      <p:sp>
        <p:nvSpPr>
          <p:cNvPr id="399" name="Google Shape;399;p25"/>
          <p:cNvSpPr/>
          <p:nvPr/>
        </p:nvSpPr>
        <p:spPr>
          <a:xfrm>
            <a:off x="4619892" y="2167128"/>
            <a:ext cx="952662" cy="781812"/>
          </a:xfrm>
          <a:prstGeom prst="roundRect">
            <a:avLst>
              <a:gd fmla="val 614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0" name="Google Shape;400;p25"/>
          <p:cNvSpPr/>
          <p:nvPr/>
        </p:nvSpPr>
        <p:spPr>
          <a:xfrm>
            <a:off x="4619892" y="2167128"/>
            <a:ext cx="952662" cy="48006"/>
          </a:xfrm>
          <a:prstGeom prst="rect">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1" name="Google Shape;401;p25"/>
          <p:cNvSpPr/>
          <p:nvPr/>
        </p:nvSpPr>
        <p:spPr>
          <a:xfrm>
            <a:off x="4661040" y="2263140"/>
            <a:ext cx="870366" cy="2057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42F"/>
              </a:buClr>
              <a:buSzPts val="700"/>
              <a:buFont typeface="Calibri"/>
              <a:buNone/>
            </a:pPr>
            <a:r>
              <a:rPr b="1" lang="de" sz="700">
                <a:solidFill>
                  <a:srgbClr val="17242F"/>
                </a:solidFill>
                <a:latin typeface="Calibri"/>
                <a:ea typeface="Calibri"/>
                <a:cs typeface="Calibri"/>
                <a:sym typeface="Calibri"/>
              </a:rPr>
              <a:t>Notification</a:t>
            </a:r>
            <a:endParaRPr sz="700">
              <a:solidFill>
                <a:schemeClr val="dk1"/>
              </a:solidFill>
              <a:latin typeface="Calibri"/>
              <a:ea typeface="Calibri"/>
              <a:cs typeface="Calibri"/>
              <a:sym typeface="Calibri"/>
            </a:endParaRPr>
          </a:p>
        </p:txBody>
      </p:sp>
      <p:sp>
        <p:nvSpPr>
          <p:cNvPr id="402" name="Google Shape;402;p25"/>
          <p:cNvSpPr/>
          <p:nvPr/>
        </p:nvSpPr>
        <p:spPr>
          <a:xfrm>
            <a:off x="4904199" y="2510028"/>
            <a:ext cx="384048" cy="137160"/>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3" name="Google Shape;403;p25"/>
          <p:cNvSpPr/>
          <p:nvPr/>
        </p:nvSpPr>
        <p:spPr>
          <a:xfrm>
            <a:off x="4904199" y="2510028"/>
            <a:ext cx="384048" cy="137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600"/>
              <a:buFont typeface="Calibri"/>
              <a:buNone/>
            </a:pPr>
            <a:r>
              <a:rPr b="1" lang="de" sz="600">
                <a:solidFill>
                  <a:srgbClr val="134E63"/>
                </a:solidFill>
                <a:latin typeface="Calibri"/>
                <a:ea typeface="Calibri"/>
                <a:cs typeface="Calibri"/>
                <a:sym typeface="Calibri"/>
              </a:rPr>
              <a:t>8005</a:t>
            </a:r>
            <a:endParaRPr sz="600">
              <a:solidFill>
                <a:schemeClr val="dk1"/>
              </a:solidFill>
              <a:latin typeface="Calibri"/>
              <a:ea typeface="Calibri"/>
              <a:cs typeface="Calibri"/>
              <a:sym typeface="Calibri"/>
            </a:endParaRPr>
          </a:p>
        </p:txBody>
      </p:sp>
      <p:sp>
        <p:nvSpPr>
          <p:cNvPr id="404" name="Google Shape;404;p25"/>
          <p:cNvSpPr/>
          <p:nvPr/>
        </p:nvSpPr>
        <p:spPr>
          <a:xfrm>
            <a:off x="4647324" y="2798064"/>
            <a:ext cx="897798"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8416"/>
              </a:buClr>
              <a:buSzPts val="500"/>
              <a:buFont typeface="Calibri"/>
              <a:buNone/>
            </a:pPr>
            <a:r>
              <a:rPr b="1" lang="de" sz="500">
                <a:solidFill>
                  <a:srgbClr val="C48416"/>
                </a:solidFill>
                <a:latin typeface="Calibri"/>
                <a:ea typeface="Calibri"/>
                <a:cs typeface="Calibri"/>
                <a:sym typeface="Calibri"/>
              </a:rPr>
              <a:t>pub · sub</a:t>
            </a:r>
            <a:endParaRPr sz="500">
              <a:solidFill>
                <a:schemeClr val="dk1"/>
              </a:solidFill>
              <a:latin typeface="Calibri"/>
              <a:ea typeface="Calibri"/>
              <a:cs typeface="Calibri"/>
              <a:sym typeface="Calibri"/>
            </a:endParaRPr>
          </a:p>
        </p:txBody>
      </p:sp>
      <p:sp>
        <p:nvSpPr>
          <p:cNvPr id="405" name="Google Shape;405;p25"/>
          <p:cNvSpPr/>
          <p:nvPr/>
        </p:nvSpPr>
        <p:spPr>
          <a:xfrm>
            <a:off x="7765913" y="2167128"/>
            <a:ext cx="952662" cy="781812"/>
          </a:xfrm>
          <a:prstGeom prst="roundRect">
            <a:avLst>
              <a:gd fmla="val 6140" name="adj"/>
            </a:avLst>
          </a:prstGeom>
          <a:solidFill>
            <a:schemeClr val="lt1"/>
          </a:solidFill>
          <a:ln cap="flat" cmpd="sng" w="12700">
            <a:solidFill>
              <a:srgbClr val="12263A"/>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6" name="Google Shape;406;p25"/>
          <p:cNvSpPr/>
          <p:nvPr/>
        </p:nvSpPr>
        <p:spPr>
          <a:xfrm>
            <a:off x="5668566" y="2167128"/>
            <a:ext cx="952800" cy="48000"/>
          </a:xfrm>
          <a:prstGeom prst="rect">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7" name="Google Shape;407;p25"/>
          <p:cNvSpPr/>
          <p:nvPr/>
        </p:nvSpPr>
        <p:spPr>
          <a:xfrm>
            <a:off x="5709714" y="2263140"/>
            <a:ext cx="8703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42F"/>
              </a:buClr>
              <a:buSzPts val="700"/>
              <a:buFont typeface="Calibri"/>
              <a:buNone/>
            </a:pPr>
            <a:r>
              <a:rPr b="1" lang="de" sz="700">
                <a:solidFill>
                  <a:srgbClr val="17242F"/>
                </a:solidFill>
                <a:latin typeface="Calibri"/>
                <a:ea typeface="Calibri"/>
                <a:cs typeface="Calibri"/>
                <a:sym typeface="Calibri"/>
              </a:rPr>
              <a:t>Plugin</a:t>
            </a:r>
            <a:endParaRPr sz="700">
              <a:solidFill>
                <a:schemeClr val="dk1"/>
              </a:solidFill>
              <a:latin typeface="Calibri"/>
              <a:ea typeface="Calibri"/>
              <a:cs typeface="Calibri"/>
              <a:sym typeface="Calibri"/>
            </a:endParaRPr>
          </a:p>
        </p:txBody>
      </p:sp>
      <p:sp>
        <p:nvSpPr>
          <p:cNvPr id="408" name="Google Shape;408;p25"/>
          <p:cNvSpPr/>
          <p:nvPr/>
        </p:nvSpPr>
        <p:spPr>
          <a:xfrm>
            <a:off x="5952872" y="2510028"/>
            <a:ext cx="384000" cy="137100"/>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9" name="Google Shape;409;p25"/>
          <p:cNvSpPr/>
          <p:nvPr/>
        </p:nvSpPr>
        <p:spPr>
          <a:xfrm>
            <a:off x="5952872" y="2510028"/>
            <a:ext cx="384000" cy="13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600"/>
              <a:buFont typeface="Calibri"/>
              <a:buNone/>
            </a:pPr>
            <a:r>
              <a:rPr b="1" lang="de" sz="600">
                <a:solidFill>
                  <a:srgbClr val="134E63"/>
                </a:solidFill>
                <a:latin typeface="Calibri"/>
                <a:ea typeface="Calibri"/>
                <a:cs typeface="Calibri"/>
                <a:sym typeface="Calibri"/>
              </a:rPr>
              <a:t>8006</a:t>
            </a:r>
            <a:endParaRPr sz="600">
              <a:solidFill>
                <a:schemeClr val="dk1"/>
              </a:solidFill>
              <a:latin typeface="Calibri"/>
              <a:ea typeface="Calibri"/>
              <a:cs typeface="Calibri"/>
              <a:sym typeface="Calibri"/>
            </a:endParaRPr>
          </a:p>
        </p:txBody>
      </p:sp>
      <p:sp>
        <p:nvSpPr>
          <p:cNvPr id="410" name="Google Shape;410;p25"/>
          <p:cNvSpPr/>
          <p:nvPr/>
        </p:nvSpPr>
        <p:spPr>
          <a:xfrm>
            <a:off x="5695997" y="2798064"/>
            <a:ext cx="8979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8416"/>
              </a:buClr>
              <a:buSzPts val="500"/>
              <a:buFont typeface="Calibri"/>
              <a:buNone/>
            </a:pPr>
            <a:r>
              <a:rPr b="1" lang="de" sz="500">
                <a:solidFill>
                  <a:srgbClr val="C48416"/>
                </a:solidFill>
                <a:latin typeface="Calibri"/>
                <a:ea typeface="Calibri"/>
                <a:cs typeface="Calibri"/>
                <a:sym typeface="Calibri"/>
              </a:rPr>
              <a:t>pub </a:t>
            </a:r>
            <a:r>
              <a:rPr b="1" lang="de" sz="500">
                <a:solidFill>
                  <a:srgbClr val="C48416"/>
                </a:solidFill>
                <a:latin typeface="Calibri"/>
                <a:ea typeface="Calibri"/>
                <a:cs typeface="Calibri"/>
                <a:sym typeface="Calibri"/>
              </a:rPr>
              <a:t>·</a:t>
            </a:r>
            <a:r>
              <a:rPr b="1" lang="de" sz="500">
                <a:solidFill>
                  <a:srgbClr val="C48416"/>
                </a:solidFill>
                <a:latin typeface="Calibri"/>
                <a:ea typeface="Calibri"/>
                <a:cs typeface="Calibri"/>
                <a:sym typeface="Calibri"/>
              </a:rPr>
              <a:t> sub</a:t>
            </a:r>
            <a:endParaRPr sz="500">
              <a:solidFill>
                <a:schemeClr val="dk1"/>
              </a:solidFill>
              <a:latin typeface="Calibri"/>
              <a:ea typeface="Calibri"/>
              <a:cs typeface="Calibri"/>
              <a:sym typeface="Calibri"/>
            </a:endParaRPr>
          </a:p>
        </p:txBody>
      </p:sp>
      <p:sp>
        <p:nvSpPr>
          <p:cNvPr id="411" name="Google Shape;411;p25"/>
          <p:cNvSpPr/>
          <p:nvPr/>
        </p:nvSpPr>
        <p:spPr>
          <a:xfrm>
            <a:off x="7765913" y="2158724"/>
            <a:ext cx="952800" cy="48000"/>
          </a:xfrm>
          <a:prstGeom prst="rect">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2" name="Google Shape;412;p25"/>
          <p:cNvSpPr/>
          <p:nvPr/>
        </p:nvSpPr>
        <p:spPr>
          <a:xfrm>
            <a:off x="7807061" y="2263140"/>
            <a:ext cx="870366" cy="2057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b="1" lang="de" sz="700">
                <a:solidFill>
                  <a:srgbClr val="17242F"/>
                </a:solidFill>
                <a:latin typeface="Calibri"/>
                <a:ea typeface="Calibri"/>
                <a:cs typeface="Calibri"/>
                <a:sym typeface="Calibri"/>
              </a:rPr>
              <a:t>MCP Server</a:t>
            </a:r>
            <a:endParaRPr sz="700">
              <a:solidFill>
                <a:srgbClr val="17242F"/>
              </a:solidFill>
              <a:latin typeface="Calibri"/>
              <a:ea typeface="Calibri"/>
              <a:cs typeface="Calibri"/>
              <a:sym typeface="Calibri"/>
            </a:endParaRPr>
          </a:p>
        </p:txBody>
      </p:sp>
      <p:sp>
        <p:nvSpPr>
          <p:cNvPr id="413" name="Google Shape;413;p25"/>
          <p:cNvSpPr/>
          <p:nvPr/>
        </p:nvSpPr>
        <p:spPr>
          <a:xfrm>
            <a:off x="8050220" y="2510028"/>
            <a:ext cx="384048" cy="137160"/>
          </a:xfrm>
          <a:prstGeom prst="roundRect">
            <a:avLst>
              <a:gd fmla="val 50000" name="adj"/>
            </a:avLst>
          </a:prstGeom>
          <a:solidFill>
            <a:srgbClr val="134E6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4" name="Google Shape;414;p25"/>
          <p:cNvSpPr/>
          <p:nvPr/>
        </p:nvSpPr>
        <p:spPr>
          <a:xfrm>
            <a:off x="8113150" y="2510025"/>
            <a:ext cx="268500" cy="13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Calibri"/>
              <a:buNone/>
            </a:pPr>
            <a:r>
              <a:rPr b="1" lang="de" sz="600">
                <a:solidFill>
                  <a:srgbClr val="FFFFFF"/>
                </a:solidFill>
                <a:latin typeface="Calibri"/>
                <a:ea typeface="Calibri"/>
                <a:cs typeface="Calibri"/>
                <a:sym typeface="Calibri"/>
              </a:rPr>
              <a:t>/mcp</a:t>
            </a:r>
            <a:endParaRPr sz="600">
              <a:solidFill>
                <a:schemeClr val="dk1"/>
              </a:solidFill>
              <a:latin typeface="Calibri"/>
              <a:ea typeface="Calibri"/>
              <a:cs typeface="Calibri"/>
              <a:sym typeface="Calibri"/>
            </a:endParaRPr>
          </a:p>
        </p:txBody>
      </p:sp>
      <p:sp>
        <p:nvSpPr>
          <p:cNvPr id="415" name="Google Shape;415;p25"/>
          <p:cNvSpPr/>
          <p:nvPr/>
        </p:nvSpPr>
        <p:spPr>
          <a:xfrm>
            <a:off x="7793345" y="2798064"/>
            <a:ext cx="897798"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C4B6"/>
              </a:buClr>
              <a:buSzPts val="500"/>
              <a:buFont typeface="Calibri"/>
              <a:buNone/>
            </a:pPr>
            <a:r>
              <a:rPr b="1" lang="de" sz="500">
                <a:solidFill>
                  <a:srgbClr val="2EC4B6"/>
                </a:solidFill>
                <a:latin typeface="Calibri"/>
                <a:ea typeface="Calibri"/>
                <a:cs typeface="Calibri"/>
                <a:sym typeface="Calibri"/>
              </a:rPr>
              <a:t>kein Event</a:t>
            </a:r>
            <a:endParaRPr sz="500">
              <a:solidFill>
                <a:schemeClr val="dk1"/>
              </a:solidFill>
              <a:latin typeface="Calibri"/>
              <a:ea typeface="Calibri"/>
              <a:cs typeface="Calibri"/>
              <a:sym typeface="Calibri"/>
            </a:endParaRPr>
          </a:p>
        </p:txBody>
      </p:sp>
      <p:sp>
        <p:nvSpPr>
          <p:cNvPr id="416" name="Google Shape;416;p25"/>
          <p:cNvSpPr/>
          <p:nvPr/>
        </p:nvSpPr>
        <p:spPr>
          <a:xfrm>
            <a:off x="425199" y="3140975"/>
            <a:ext cx="7244700" cy="397800"/>
          </a:xfrm>
          <a:prstGeom prst="roundRect">
            <a:avLst>
              <a:gd fmla="val 13793" name="adj"/>
            </a:avLst>
          </a:prstGeom>
          <a:solidFill>
            <a:srgbClr val="FFF4EA"/>
          </a:solidFill>
          <a:ln cap="flat" cmpd="sng" w="15225">
            <a:solidFill>
              <a:srgbClr val="F4A259"/>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7" name="Google Shape;417;p25"/>
          <p:cNvSpPr/>
          <p:nvPr/>
        </p:nvSpPr>
        <p:spPr>
          <a:xfrm>
            <a:off x="448174" y="3271275"/>
            <a:ext cx="7194300" cy="1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4A06"/>
              </a:buClr>
              <a:buSzPts val="900"/>
              <a:buFont typeface="Calibri"/>
              <a:buNone/>
            </a:pPr>
            <a:r>
              <a:rPr b="1" lang="de" sz="900">
                <a:solidFill>
                  <a:srgbClr val="9A4A06"/>
                </a:solidFill>
                <a:latin typeface="Calibri"/>
                <a:ea typeface="Calibri"/>
                <a:cs typeface="Calibri"/>
                <a:sym typeface="Calibri"/>
              </a:rPr>
              <a:t>RabbitMQ · teamboard.events (Topic Exchange) + Auth Tokens</a:t>
            </a:r>
            <a:endParaRPr sz="900">
              <a:solidFill>
                <a:schemeClr val="dk1"/>
              </a:solidFill>
              <a:latin typeface="Calibri"/>
              <a:ea typeface="Calibri"/>
              <a:cs typeface="Calibri"/>
              <a:sym typeface="Calibri"/>
            </a:endParaRPr>
          </a:p>
        </p:txBody>
      </p:sp>
      <p:sp>
        <p:nvSpPr>
          <p:cNvPr id="418" name="Google Shape;418;p25"/>
          <p:cNvSpPr/>
          <p:nvPr/>
        </p:nvSpPr>
        <p:spPr>
          <a:xfrm>
            <a:off x="425196" y="3717036"/>
            <a:ext cx="2581579" cy="548640"/>
          </a:xfrm>
          <a:prstGeom prst="roundRect">
            <a:avLst>
              <a:gd fmla="val 875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9" name="Google Shape;419;p25"/>
          <p:cNvSpPr/>
          <p:nvPr/>
        </p:nvSpPr>
        <p:spPr>
          <a:xfrm>
            <a:off x="562356" y="3771900"/>
            <a:ext cx="23072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PostgreSQL 16</a:t>
            </a:r>
            <a:endParaRPr sz="900">
              <a:solidFill>
                <a:schemeClr val="dk1"/>
              </a:solidFill>
              <a:latin typeface="Calibri"/>
              <a:ea typeface="Calibri"/>
              <a:cs typeface="Calibri"/>
              <a:sym typeface="Calibri"/>
            </a:endParaRPr>
          </a:p>
        </p:txBody>
      </p:sp>
      <p:sp>
        <p:nvSpPr>
          <p:cNvPr id="420" name="Google Shape;420;p25"/>
          <p:cNvSpPr/>
          <p:nvPr/>
        </p:nvSpPr>
        <p:spPr>
          <a:xfrm>
            <a:off x="562356" y="3950208"/>
            <a:ext cx="23072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700"/>
              <a:buFont typeface="Calibri"/>
              <a:buNone/>
            </a:pPr>
            <a:r>
              <a:rPr lang="de" sz="700">
                <a:solidFill>
                  <a:srgbClr val="5E6E7C"/>
                </a:solidFill>
                <a:latin typeface="Calibri"/>
                <a:ea typeface="Calibri"/>
                <a:cs typeface="Calibri"/>
                <a:sym typeface="Calibri"/>
              </a:rPr>
              <a:t>eine logische DB je Service · SQL-Write + Outbox in einer Transaktion</a:t>
            </a:r>
            <a:endParaRPr sz="700">
              <a:solidFill>
                <a:schemeClr val="dk1"/>
              </a:solidFill>
              <a:latin typeface="Calibri"/>
              <a:ea typeface="Calibri"/>
              <a:cs typeface="Calibri"/>
              <a:sym typeface="Calibri"/>
            </a:endParaRPr>
          </a:p>
        </p:txBody>
      </p:sp>
      <p:sp>
        <p:nvSpPr>
          <p:cNvPr id="421" name="Google Shape;421;p25"/>
          <p:cNvSpPr/>
          <p:nvPr/>
        </p:nvSpPr>
        <p:spPr>
          <a:xfrm>
            <a:off x="6717164" y="2167053"/>
            <a:ext cx="952800" cy="781800"/>
          </a:xfrm>
          <a:prstGeom prst="roundRect">
            <a:avLst>
              <a:gd fmla="val 614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4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2" name="Google Shape;422;p25"/>
          <p:cNvSpPr/>
          <p:nvPr/>
        </p:nvSpPr>
        <p:spPr>
          <a:xfrm>
            <a:off x="7001546" y="2510028"/>
            <a:ext cx="384000" cy="137100"/>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3" name="Google Shape;423;p25"/>
          <p:cNvSpPr/>
          <p:nvPr/>
        </p:nvSpPr>
        <p:spPr>
          <a:xfrm>
            <a:off x="6758312" y="2263065"/>
            <a:ext cx="8703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42F"/>
              </a:buClr>
              <a:buSzPts val="700"/>
              <a:buFont typeface="Calibri"/>
              <a:buNone/>
            </a:pPr>
            <a:r>
              <a:rPr b="1" lang="de" sz="700">
                <a:solidFill>
                  <a:srgbClr val="17242F"/>
                </a:solidFill>
                <a:latin typeface="Calibri"/>
                <a:ea typeface="Calibri"/>
                <a:cs typeface="Calibri"/>
                <a:sym typeface="Calibri"/>
              </a:rPr>
              <a:t>Board Registry</a:t>
            </a:r>
            <a:endParaRPr sz="700">
              <a:solidFill>
                <a:schemeClr val="dk1"/>
              </a:solidFill>
              <a:latin typeface="Calibri"/>
              <a:ea typeface="Calibri"/>
              <a:cs typeface="Calibri"/>
              <a:sym typeface="Calibri"/>
            </a:endParaRPr>
          </a:p>
        </p:txBody>
      </p:sp>
      <p:sp>
        <p:nvSpPr>
          <p:cNvPr id="424" name="Google Shape;424;p25"/>
          <p:cNvSpPr/>
          <p:nvPr/>
        </p:nvSpPr>
        <p:spPr>
          <a:xfrm>
            <a:off x="7022571" y="2510028"/>
            <a:ext cx="384000" cy="13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600"/>
              <a:buFont typeface="Calibri"/>
              <a:buNone/>
            </a:pPr>
            <a:r>
              <a:rPr b="1" lang="de" sz="600">
                <a:solidFill>
                  <a:srgbClr val="134E63"/>
                </a:solidFill>
                <a:latin typeface="Calibri"/>
                <a:ea typeface="Calibri"/>
                <a:cs typeface="Calibri"/>
                <a:sym typeface="Calibri"/>
              </a:rPr>
              <a:t>8007</a:t>
            </a:r>
            <a:endParaRPr sz="600">
              <a:solidFill>
                <a:schemeClr val="dk1"/>
              </a:solidFill>
              <a:latin typeface="Calibri"/>
              <a:ea typeface="Calibri"/>
              <a:cs typeface="Calibri"/>
              <a:sym typeface="Calibri"/>
            </a:endParaRPr>
          </a:p>
        </p:txBody>
      </p:sp>
      <p:sp>
        <p:nvSpPr>
          <p:cNvPr id="425" name="Google Shape;425;p25"/>
          <p:cNvSpPr/>
          <p:nvPr/>
        </p:nvSpPr>
        <p:spPr>
          <a:xfrm>
            <a:off x="6744596" y="2674545"/>
            <a:ext cx="8979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500"/>
              <a:buFont typeface="Calibri"/>
              <a:buNone/>
            </a:pPr>
            <a:r>
              <a:rPr b="1" lang="de" sz="500">
                <a:solidFill>
                  <a:srgbClr val="134E63"/>
                </a:solidFill>
                <a:latin typeface="Calibri"/>
                <a:ea typeface="Calibri"/>
                <a:cs typeface="Calibri"/>
                <a:sym typeface="Calibri"/>
              </a:rPr>
              <a:t>★ autoritativ</a:t>
            </a:r>
            <a:endParaRPr sz="500">
              <a:solidFill>
                <a:schemeClr val="dk1"/>
              </a:solidFill>
              <a:latin typeface="Calibri"/>
              <a:ea typeface="Calibri"/>
              <a:cs typeface="Calibri"/>
              <a:sym typeface="Calibri"/>
            </a:endParaRPr>
          </a:p>
        </p:txBody>
      </p:sp>
      <p:sp>
        <p:nvSpPr>
          <p:cNvPr id="426" name="Google Shape;426;p25"/>
          <p:cNvSpPr/>
          <p:nvPr/>
        </p:nvSpPr>
        <p:spPr>
          <a:xfrm>
            <a:off x="6744596" y="2797989"/>
            <a:ext cx="8979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8416"/>
              </a:buClr>
              <a:buSzPts val="500"/>
              <a:buFont typeface="Calibri"/>
              <a:buNone/>
            </a:pPr>
            <a:r>
              <a:rPr b="1" lang="de" sz="500">
                <a:solidFill>
                  <a:srgbClr val="C48416"/>
                </a:solidFill>
                <a:latin typeface="Calibri"/>
                <a:ea typeface="Calibri"/>
                <a:cs typeface="Calibri"/>
                <a:sym typeface="Calibri"/>
              </a:rPr>
              <a:t>pub</a:t>
            </a:r>
            <a:endParaRPr sz="500">
              <a:solidFill>
                <a:schemeClr val="dk1"/>
              </a:solidFill>
              <a:latin typeface="Calibri"/>
              <a:ea typeface="Calibri"/>
              <a:cs typeface="Calibri"/>
              <a:sym typeface="Calibri"/>
            </a:endParaRPr>
          </a:p>
        </p:txBody>
      </p:sp>
      <p:sp>
        <p:nvSpPr>
          <p:cNvPr id="427" name="Google Shape;427;p25"/>
          <p:cNvSpPr/>
          <p:nvPr/>
        </p:nvSpPr>
        <p:spPr>
          <a:xfrm>
            <a:off x="6717164" y="2167053"/>
            <a:ext cx="952800" cy="48000"/>
          </a:xfrm>
          <a:prstGeom prst="rect">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8" name="Google Shape;428;p25"/>
          <p:cNvSpPr/>
          <p:nvPr/>
        </p:nvSpPr>
        <p:spPr>
          <a:xfrm>
            <a:off x="3281096" y="3717036"/>
            <a:ext cx="2581580" cy="548640"/>
          </a:xfrm>
          <a:prstGeom prst="roundRect">
            <a:avLst>
              <a:gd fmla="val 875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9" name="Google Shape;429;p25"/>
          <p:cNvSpPr/>
          <p:nvPr/>
        </p:nvSpPr>
        <p:spPr>
          <a:xfrm>
            <a:off x="3418256" y="3771900"/>
            <a:ext cx="23072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Redis 7</a:t>
            </a:r>
            <a:endParaRPr sz="900">
              <a:solidFill>
                <a:schemeClr val="dk1"/>
              </a:solidFill>
              <a:latin typeface="Calibri"/>
              <a:ea typeface="Calibri"/>
              <a:cs typeface="Calibri"/>
              <a:sym typeface="Calibri"/>
            </a:endParaRPr>
          </a:p>
        </p:txBody>
      </p:sp>
      <p:sp>
        <p:nvSpPr>
          <p:cNvPr id="430" name="Google Shape;430;p25"/>
          <p:cNvSpPr/>
          <p:nvPr/>
        </p:nvSpPr>
        <p:spPr>
          <a:xfrm>
            <a:off x="3418256" y="3950208"/>
            <a:ext cx="23072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700"/>
              <a:buFont typeface="Calibri"/>
              <a:buNone/>
            </a:pPr>
            <a:r>
              <a:rPr lang="de" sz="700">
                <a:solidFill>
                  <a:srgbClr val="5E6E7C"/>
                </a:solidFill>
                <a:latin typeface="Calibri"/>
                <a:ea typeface="Calibri"/>
                <a:cs typeface="Calibri"/>
                <a:sym typeface="Calibri"/>
              </a:rPr>
              <a:t>User </a:t>
            </a:r>
            <a:r>
              <a:rPr lang="de" sz="700">
                <a:solidFill>
                  <a:srgbClr val="5E6E7C"/>
                </a:solidFill>
                <a:latin typeface="Calibri"/>
                <a:ea typeface="Calibri"/>
                <a:cs typeface="Calibri"/>
                <a:sym typeface="Calibri"/>
              </a:rPr>
              <a:t>Permission-Cache  · WebSocket-Backplane</a:t>
            </a:r>
            <a:endParaRPr sz="700">
              <a:solidFill>
                <a:schemeClr val="dk1"/>
              </a:solidFill>
              <a:latin typeface="Calibri"/>
              <a:ea typeface="Calibri"/>
              <a:cs typeface="Calibri"/>
              <a:sym typeface="Calibri"/>
            </a:endParaRPr>
          </a:p>
        </p:txBody>
      </p:sp>
      <p:sp>
        <p:nvSpPr>
          <p:cNvPr id="431" name="Google Shape;431;p25"/>
          <p:cNvSpPr/>
          <p:nvPr/>
        </p:nvSpPr>
        <p:spPr>
          <a:xfrm>
            <a:off x="6136996" y="3717036"/>
            <a:ext cx="2581580" cy="548640"/>
          </a:xfrm>
          <a:prstGeom prst="roundRect">
            <a:avLst>
              <a:gd fmla="val 875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2" name="Google Shape;432;p25"/>
          <p:cNvSpPr/>
          <p:nvPr/>
        </p:nvSpPr>
        <p:spPr>
          <a:xfrm>
            <a:off x="6274156" y="3771900"/>
            <a:ext cx="2307259"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MinIO / S3</a:t>
            </a:r>
            <a:endParaRPr sz="900">
              <a:solidFill>
                <a:schemeClr val="dk1"/>
              </a:solidFill>
              <a:latin typeface="Calibri"/>
              <a:ea typeface="Calibri"/>
              <a:cs typeface="Calibri"/>
              <a:sym typeface="Calibri"/>
            </a:endParaRPr>
          </a:p>
        </p:txBody>
      </p:sp>
      <p:sp>
        <p:nvSpPr>
          <p:cNvPr id="433" name="Google Shape;433;p25"/>
          <p:cNvSpPr/>
          <p:nvPr/>
        </p:nvSpPr>
        <p:spPr>
          <a:xfrm>
            <a:off x="6274156" y="3950208"/>
            <a:ext cx="230725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700"/>
              <a:buFont typeface="Calibri"/>
              <a:buNone/>
            </a:pPr>
            <a:r>
              <a:rPr lang="de" sz="700">
                <a:solidFill>
                  <a:srgbClr val="5E6E7C"/>
                </a:solidFill>
                <a:latin typeface="Calibri"/>
                <a:ea typeface="Calibri"/>
                <a:cs typeface="Calibri"/>
                <a:sym typeface="Calibri"/>
              </a:rPr>
              <a:t>Dokument-Blobs · pre-signed Up-/Download · versioniert</a:t>
            </a:r>
            <a:endParaRPr sz="700">
              <a:solidFill>
                <a:schemeClr val="dk1"/>
              </a:solidFill>
              <a:latin typeface="Calibri"/>
              <a:ea typeface="Calibri"/>
              <a:cs typeface="Calibri"/>
              <a:sym typeface="Calibri"/>
            </a:endParaRPr>
          </a:p>
        </p:txBody>
      </p:sp>
      <p:sp>
        <p:nvSpPr>
          <p:cNvPr id="434" name="Google Shape;434;p25"/>
          <p:cNvSpPr/>
          <p:nvPr/>
        </p:nvSpPr>
        <p:spPr>
          <a:xfrm>
            <a:off x="6717244" y="2167128"/>
            <a:ext cx="952800" cy="48000"/>
          </a:xfrm>
          <a:prstGeom prst="rect">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5" name="Google Shape;435;p25"/>
          <p:cNvSpPr/>
          <p:nvPr/>
        </p:nvSpPr>
        <p:spPr>
          <a:xfrm>
            <a:off x="1473794" y="2173991"/>
            <a:ext cx="952800" cy="48000"/>
          </a:xfrm>
          <a:prstGeom prst="rect">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6" name="Google Shape;436;p25"/>
          <p:cNvSpPr/>
          <p:nvPr/>
        </p:nvSpPr>
        <p:spPr>
          <a:xfrm>
            <a:off x="7765919" y="2158728"/>
            <a:ext cx="952800" cy="48000"/>
          </a:xfrm>
          <a:prstGeom prst="rect">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6"/>
          <p:cNvSpPr txBox="1"/>
          <p:nvPr/>
        </p:nvSpPr>
        <p:spPr>
          <a:xfrm>
            <a:off x="425196" y="288036"/>
            <a:ext cx="754380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900" u="none" cap="none" strike="noStrike">
                <a:solidFill>
                  <a:srgbClr val="1C7293"/>
                </a:solidFill>
                <a:latin typeface="Calibri"/>
                <a:ea typeface="Calibri"/>
                <a:cs typeface="Calibri"/>
                <a:sym typeface="Calibri"/>
              </a:rPr>
              <a:t>ENTWURF · ZUSAMMENSPIEL</a:t>
            </a:r>
            <a:endParaRPr/>
          </a:p>
        </p:txBody>
      </p:sp>
      <p:sp>
        <p:nvSpPr>
          <p:cNvPr id="442" name="Google Shape;442;p26"/>
          <p:cNvSpPr txBox="1"/>
          <p:nvPr/>
        </p:nvSpPr>
        <p:spPr>
          <a:xfrm>
            <a:off x="425196" y="493776"/>
            <a:ext cx="8293608"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2300" u="none" cap="none" strike="noStrike">
                <a:solidFill>
                  <a:srgbClr val="17242F"/>
                </a:solidFill>
                <a:latin typeface="Calibri"/>
                <a:ea typeface="Calibri"/>
                <a:cs typeface="Calibri"/>
                <a:sym typeface="Calibri"/>
              </a:rPr>
              <a:t>Zusammenspiel der Kernkomponenten</a:t>
            </a:r>
            <a:endParaRPr/>
          </a:p>
        </p:txBody>
      </p:sp>
      <p:sp>
        <p:nvSpPr>
          <p:cNvPr id="443" name="Google Shape;443;p26"/>
          <p:cNvSpPr txBox="1"/>
          <p:nvPr/>
        </p:nvSpPr>
        <p:spPr>
          <a:xfrm>
            <a:off x="425196" y="969264"/>
            <a:ext cx="8293500" cy="177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de" sz="1150" u="none" cap="none" strike="noStrike">
                <a:solidFill>
                  <a:srgbClr val="5E6E7C"/>
                </a:solidFill>
                <a:latin typeface="Calibri"/>
                <a:ea typeface="Calibri"/>
                <a:cs typeface="Calibri"/>
                <a:sym typeface="Calibri"/>
              </a:rPr>
              <a:t>Ereignisse entkoppeln, wenige synchrone Aufrufe halten den Kern konsistent.</a:t>
            </a:r>
            <a:endParaRPr/>
          </a:p>
        </p:txBody>
      </p:sp>
      <p:sp>
        <p:nvSpPr>
          <p:cNvPr id="444" name="Google Shape;444;p26"/>
          <p:cNvSpPr/>
          <p:nvPr/>
        </p:nvSpPr>
        <p:spPr>
          <a:xfrm>
            <a:off x="758952" y="1417320"/>
            <a:ext cx="7626096" cy="457200"/>
          </a:xfrm>
          <a:prstGeom prst="roundRect">
            <a:avLst>
              <a:gd fmla="val 10000" name="adj"/>
            </a:avLst>
          </a:prstGeom>
          <a:solidFill>
            <a:srgbClr val="12263A"/>
          </a:solidFill>
          <a:ln>
            <a:noFill/>
          </a:ln>
          <a:effectLst>
            <a:outerShdw blurRad="50800" rotWithShape="0" dir="5400000" dist="25400">
              <a:srgbClr val="17242F">
                <a:alpha val="18039"/>
              </a:srgbClr>
            </a:outerShdw>
          </a:effectLst>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None/>
            </a:pPr>
            <a:r>
              <a:rPr b="1" i="0" lang="de" sz="1250" u="none" cap="none" strike="noStrike">
                <a:solidFill>
                  <a:srgbClr val="FFFFFF"/>
                </a:solidFill>
                <a:latin typeface="Calibri"/>
                <a:ea typeface="Calibri"/>
                <a:cs typeface="Calibri"/>
                <a:sym typeface="Calibri"/>
              </a:rPr>
              <a:t>Client  ·  Frontend</a:t>
            </a:r>
            <a:endParaRPr/>
          </a:p>
        </p:txBody>
      </p:sp>
      <p:sp>
        <p:nvSpPr>
          <p:cNvPr id="445" name="Google Shape;445;p26"/>
          <p:cNvSpPr/>
          <p:nvPr/>
        </p:nvSpPr>
        <p:spPr>
          <a:xfrm>
            <a:off x="758952" y="2240280"/>
            <a:ext cx="1783080" cy="841248"/>
          </a:xfrm>
          <a:prstGeom prst="roundRect">
            <a:avLst>
              <a:gd fmla="val 10000" name="adj"/>
            </a:avLst>
          </a:prstGeom>
          <a:solidFill>
            <a:srgbClr val="F4F7FA"/>
          </a:solidFill>
          <a:ln cap="flat" cmpd="sng" w="12700">
            <a:solidFill>
              <a:srgbClr val="D7E0E8"/>
            </a:solidFill>
            <a:prstDash val="solid"/>
            <a:round/>
            <a:headEnd len="sm" w="sm" type="none"/>
            <a:tailEnd len="sm" w="sm" type="none"/>
          </a:ln>
          <a:effectLst>
            <a:outerShdw blurRad="50800" rotWithShape="0" dir="5400000" dist="25400">
              <a:srgbClr val="17242F">
                <a:alpha val="18039"/>
              </a:srgbClr>
            </a:outerShdw>
          </a:effectLst>
        </p:spPr>
        <p:txBody>
          <a:bodyPr anchorCtr="0" anchor="ctr" bIns="36575" lIns="36575" spcFirstLastPara="1" rIns="36575" wrap="square" tIns="36575">
            <a:noAutofit/>
          </a:bodyPr>
          <a:lstStyle/>
          <a:p>
            <a:pPr indent="0" lvl="0" marL="0" marR="0" rtl="0" algn="ctr">
              <a:lnSpc>
                <a:spcPct val="100000"/>
              </a:lnSpc>
              <a:spcBef>
                <a:spcPts val="0"/>
              </a:spcBef>
              <a:spcAft>
                <a:spcPts val="0"/>
              </a:spcAft>
              <a:buNone/>
            </a:pPr>
            <a:r>
              <a:rPr b="1" i="0" lang="de" sz="1300" u="none" cap="none" strike="noStrike">
                <a:solidFill>
                  <a:srgbClr val="17242F"/>
                </a:solidFill>
                <a:latin typeface="Calibri"/>
                <a:ea typeface="Calibri"/>
                <a:cs typeface="Calibri"/>
                <a:sym typeface="Calibri"/>
              </a:rPr>
              <a:t>Auth</a:t>
            </a:r>
            <a:endParaRPr/>
          </a:p>
          <a:p>
            <a:pPr indent="0" lvl="0" marL="0" marR="0" rtl="0" algn="ctr">
              <a:lnSpc>
                <a:spcPct val="100000"/>
              </a:lnSpc>
              <a:spcBef>
                <a:spcPts val="200"/>
              </a:spcBef>
              <a:spcAft>
                <a:spcPts val="0"/>
              </a:spcAft>
              <a:buNone/>
            </a:pPr>
            <a:r>
              <a:rPr b="0" i="0" lang="de" sz="950" u="none" cap="none" strike="noStrike">
                <a:solidFill>
                  <a:srgbClr val="5E6E7C"/>
                </a:solidFill>
                <a:latin typeface="Calibri"/>
                <a:ea typeface="Calibri"/>
                <a:cs typeface="Calibri"/>
                <a:sym typeface="Calibri"/>
              </a:rPr>
              <a:t>Tokens ausgeben</a:t>
            </a:r>
            <a:endParaRPr/>
          </a:p>
        </p:txBody>
      </p:sp>
      <p:cxnSp>
        <p:nvCxnSpPr>
          <p:cNvPr id="446" name="Google Shape;446;p26"/>
          <p:cNvCxnSpPr/>
          <p:nvPr/>
        </p:nvCxnSpPr>
        <p:spPr>
          <a:xfrm>
            <a:off x="1650492" y="1874519"/>
            <a:ext cx="0" cy="347473"/>
          </a:xfrm>
          <a:prstGeom prst="straightConnector1">
            <a:avLst/>
          </a:prstGeom>
          <a:noFill/>
          <a:ln cap="flat" cmpd="sng" w="15875">
            <a:solidFill>
              <a:srgbClr val="9FB3C4"/>
            </a:solidFill>
            <a:prstDash val="dash"/>
            <a:round/>
            <a:headEnd len="sm" w="sm" type="none"/>
            <a:tailEnd len="med" w="med" type="triangle"/>
          </a:ln>
        </p:spPr>
      </p:cxnSp>
      <p:sp>
        <p:nvSpPr>
          <p:cNvPr id="447" name="Google Shape;447;p26"/>
          <p:cNvSpPr/>
          <p:nvPr/>
        </p:nvSpPr>
        <p:spPr>
          <a:xfrm>
            <a:off x="2706624" y="2240280"/>
            <a:ext cx="1783080" cy="841248"/>
          </a:xfrm>
          <a:prstGeom prst="roundRect">
            <a:avLst>
              <a:gd fmla="val 10000" name="adj"/>
            </a:avLst>
          </a:prstGeom>
          <a:solidFill>
            <a:srgbClr val="F4F7FA"/>
          </a:solidFill>
          <a:ln cap="flat" cmpd="sng" w="12700">
            <a:solidFill>
              <a:srgbClr val="D7E0E8"/>
            </a:solidFill>
            <a:prstDash val="solid"/>
            <a:round/>
            <a:headEnd len="sm" w="sm" type="none"/>
            <a:tailEnd len="sm" w="sm" type="none"/>
          </a:ln>
          <a:effectLst>
            <a:outerShdw blurRad="50800" rotWithShape="0" dir="5400000" dist="25400">
              <a:srgbClr val="17242F">
                <a:alpha val="18039"/>
              </a:srgbClr>
            </a:outerShdw>
          </a:effectLst>
        </p:spPr>
        <p:txBody>
          <a:bodyPr anchorCtr="0" anchor="ctr" bIns="36575" lIns="36575" spcFirstLastPara="1" rIns="36575" wrap="square" tIns="36575">
            <a:noAutofit/>
          </a:bodyPr>
          <a:lstStyle/>
          <a:p>
            <a:pPr indent="0" lvl="0" marL="0" marR="0" rtl="0" algn="ctr">
              <a:lnSpc>
                <a:spcPct val="100000"/>
              </a:lnSpc>
              <a:spcBef>
                <a:spcPts val="0"/>
              </a:spcBef>
              <a:spcAft>
                <a:spcPts val="0"/>
              </a:spcAft>
              <a:buNone/>
            </a:pPr>
            <a:r>
              <a:rPr b="1" i="0" lang="de" sz="1300" u="none" cap="none" strike="noStrike">
                <a:solidFill>
                  <a:srgbClr val="17242F"/>
                </a:solidFill>
                <a:latin typeface="Calibri"/>
                <a:ea typeface="Calibri"/>
                <a:cs typeface="Calibri"/>
                <a:sym typeface="Calibri"/>
              </a:rPr>
              <a:t>Project</a:t>
            </a:r>
            <a:endParaRPr/>
          </a:p>
          <a:p>
            <a:pPr indent="0" lvl="0" marL="0" marR="0" rtl="0" algn="ctr">
              <a:lnSpc>
                <a:spcPct val="100000"/>
              </a:lnSpc>
              <a:spcBef>
                <a:spcPts val="200"/>
              </a:spcBef>
              <a:spcAft>
                <a:spcPts val="0"/>
              </a:spcAft>
              <a:buNone/>
            </a:pPr>
            <a:r>
              <a:rPr b="0" i="0" lang="de" sz="950" u="none" cap="none" strike="noStrike">
                <a:solidFill>
                  <a:srgbClr val="5E6E7C"/>
                </a:solidFill>
                <a:latin typeface="Calibri"/>
                <a:ea typeface="Calibri"/>
                <a:cs typeface="Calibri"/>
                <a:sym typeface="Calibri"/>
              </a:rPr>
              <a:t>Autoritativ für User</a:t>
            </a:r>
            <a:br>
              <a:rPr b="0" i="0" lang="de" sz="950" u="none" cap="none" strike="noStrike">
                <a:solidFill>
                  <a:srgbClr val="5E6E7C"/>
                </a:solidFill>
                <a:latin typeface="Calibri"/>
                <a:ea typeface="Calibri"/>
                <a:cs typeface="Calibri"/>
                <a:sym typeface="Calibri"/>
              </a:rPr>
            </a:br>
            <a:r>
              <a:rPr b="0" i="0" lang="de" sz="950" u="none" cap="none" strike="noStrike">
                <a:solidFill>
                  <a:srgbClr val="5E6E7C"/>
                </a:solidFill>
                <a:latin typeface="Calibri"/>
                <a:ea typeface="Calibri"/>
                <a:cs typeface="Calibri"/>
                <a:sym typeface="Calibri"/>
              </a:rPr>
              <a:t>Berechtigungen</a:t>
            </a:r>
            <a:endParaRPr/>
          </a:p>
        </p:txBody>
      </p:sp>
      <p:cxnSp>
        <p:nvCxnSpPr>
          <p:cNvPr id="448" name="Google Shape;448;p26"/>
          <p:cNvCxnSpPr/>
          <p:nvPr/>
        </p:nvCxnSpPr>
        <p:spPr>
          <a:xfrm>
            <a:off x="3598164" y="1874519"/>
            <a:ext cx="0" cy="347473"/>
          </a:xfrm>
          <a:prstGeom prst="straightConnector1">
            <a:avLst/>
          </a:prstGeom>
          <a:noFill/>
          <a:ln cap="flat" cmpd="sng" w="15875">
            <a:solidFill>
              <a:srgbClr val="9FB3C4"/>
            </a:solidFill>
            <a:prstDash val="dash"/>
            <a:round/>
            <a:headEnd len="sm" w="sm" type="none"/>
            <a:tailEnd len="med" w="med" type="triangle"/>
          </a:ln>
        </p:spPr>
      </p:cxnSp>
      <p:sp>
        <p:nvSpPr>
          <p:cNvPr id="449" name="Google Shape;449;p26"/>
          <p:cNvSpPr/>
          <p:nvPr/>
        </p:nvSpPr>
        <p:spPr>
          <a:xfrm>
            <a:off x="4654296" y="2240280"/>
            <a:ext cx="1783080" cy="841248"/>
          </a:xfrm>
          <a:prstGeom prst="roundRect">
            <a:avLst>
              <a:gd fmla="val 10000" name="adj"/>
            </a:avLst>
          </a:prstGeom>
          <a:solidFill>
            <a:srgbClr val="F4F7FA"/>
          </a:solidFill>
          <a:ln cap="flat" cmpd="sng" w="12700">
            <a:solidFill>
              <a:srgbClr val="D7E0E8"/>
            </a:solidFill>
            <a:prstDash val="solid"/>
            <a:round/>
            <a:headEnd len="sm" w="sm" type="none"/>
            <a:tailEnd len="sm" w="sm" type="none"/>
          </a:ln>
          <a:effectLst>
            <a:outerShdw blurRad="50800" rotWithShape="0" dir="5400000" dist="25400">
              <a:srgbClr val="17242F">
                <a:alpha val="18039"/>
              </a:srgbClr>
            </a:outerShdw>
          </a:effectLst>
        </p:spPr>
        <p:txBody>
          <a:bodyPr anchorCtr="0" anchor="ctr" bIns="36575" lIns="36575" spcFirstLastPara="1" rIns="36575" wrap="square" tIns="36575">
            <a:noAutofit/>
          </a:bodyPr>
          <a:lstStyle/>
          <a:p>
            <a:pPr indent="0" lvl="0" marL="0" marR="0" rtl="0" algn="ctr">
              <a:lnSpc>
                <a:spcPct val="100000"/>
              </a:lnSpc>
              <a:spcBef>
                <a:spcPts val="0"/>
              </a:spcBef>
              <a:spcAft>
                <a:spcPts val="0"/>
              </a:spcAft>
              <a:buNone/>
            </a:pPr>
            <a:r>
              <a:rPr b="1" i="0" lang="de" sz="1300" u="none" cap="none" strike="noStrike">
                <a:solidFill>
                  <a:srgbClr val="17242F"/>
                </a:solidFill>
                <a:latin typeface="Calibri"/>
                <a:ea typeface="Calibri"/>
                <a:cs typeface="Calibri"/>
                <a:sym typeface="Calibri"/>
              </a:rPr>
              <a:t>Task</a:t>
            </a:r>
            <a:endParaRPr/>
          </a:p>
          <a:p>
            <a:pPr indent="0" lvl="0" marL="0" marR="0" rtl="0" algn="ctr">
              <a:lnSpc>
                <a:spcPct val="100000"/>
              </a:lnSpc>
              <a:spcBef>
                <a:spcPts val="200"/>
              </a:spcBef>
              <a:spcAft>
                <a:spcPts val="0"/>
              </a:spcAft>
              <a:buNone/>
            </a:pPr>
            <a:r>
              <a:rPr b="0" i="0" lang="de" sz="950" u="none" cap="none" strike="noStrike">
                <a:solidFill>
                  <a:srgbClr val="5E6E7C"/>
                </a:solidFill>
                <a:latin typeface="Calibri"/>
                <a:ea typeface="Calibri"/>
                <a:cs typeface="Calibri"/>
                <a:sym typeface="Calibri"/>
              </a:rPr>
              <a:t>Aufgaben,</a:t>
            </a:r>
            <a:br>
              <a:rPr b="0" i="0" lang="de" sz="950" u="none" cap="none" strike="noStrike">
                <a:solidFill>
                  <a:srgbClr val="5E6E7C"/>
                </a:solidFill>
                <a:latin typeface="Calibri"/>
                <a:ea typeface="Calibri"/>
                <a:cs typeface="Calibri"/>
                <a:sym typeface="Calibri"/>
              </a:rPr>
            </a:br>
            <a:r>
              <a:rPr b="0" i="0" lang="de" sz="950" u="none" cap="none" strike="noStrike">
                <a:solidFill>
                  <a:srgbClr val="5E6E7C"/>
                </a:solidFill>
                <a:latin typeface="Calibri"/>
                <a:ea typeface="Calibri"/>
                <a:cs typeface="Calibri"/>
                <a:sym typeface="Calibri"/>
              </a:rPr>
              <a:t>Kommentare</a:t>
            </a:r>
            <a:endParaRPr/>
          </a:p>
        </p:txBody>
      </p:sp>
      <p:cxnSp>
        <p:nvCxnSpPr>
          <p:cNvPr id="450" name="Google Shape;450;p26"/>
          <p:cNvCxnSpPr/>
          <p:nvPr/>
        </p:nvCxnSpPr>
        <p:spPr>
          <a:xfrm>
            <a:off x="5545836" y="1874519"/>
            <a:ext cx="0" cy="347473"/>
          </a:xfrm>
          <a:prstGeom prst="straightConnector1">
            <a:avLst/>
          </a:prstGeom>
          <a:noFill/>
          <a:ln cap="flat" cmpd="sng" w="15875">
            <a:solidFill>
              <a:srgbClr val="9FB3C4"/>
            </a:solidFill>
            <a:prstDash val="dash"/>
            <a:round/>
            <a:headEnd len="sm" w="sm" type="none"/>
            <a:tailEnd len="med" w="med" type="triangle"/>
          </a:ln>
        </p:spPr>
      </p:cxnSp>
      <p:sp>
        <p:nvSpPr>
          <p:cNvPr id="451" name="Google Shape;451;p26"/>
          <p:cNvSpPr/>
          <p:nvPr/>
        </p:nvSpPr>
        <p:spPr>
          <a:xfrm>
            <a:off x="6601968" y="2240280"/>
            <a:ext cx="1783080" cy="841248"/>
          </a:xfrm>
          <a:prstGeom prst="roundRect">
            <a:avLst>
              <a:gd fmla="val 10000" name="adj"/>
            </a:avLst>
          </a:prstGeom>
          <a:solidFill>
            <a:srgbClr val="F4F7FA"/>
          </a:solidFill>
          <a:ln cap="flat" cmpd="sng" w="12700">
            <a:solidFill>
              <a:srgbClr val="D7E0E8"/>
            </a:solidFill>
            <a:prstDash val="solid"/>
            <a:round/>
            <a:headEnd len="sm" w="sm" type="none"/>
            <a:tailEnd len="sm" w="sm" type="none"/>
          </a:ln>
          <a:effectLst>
            <a:outerShdw blurRad="50800" rotWithShape="0" dir="5400000" dist="25400">
              <a:srgbClr val="17242F">
                <a:alpha val="18039"/>
              </a:srgbClr>
            </a:outerShdw>
          </a:effectLst>
        </p:spPr>
        <p:txBody>
          <a:bodyPr anchorCtr="0" anchor="ctr" bIns="36575" lIns="36575" spcFirstLastPara="1" rIns="36575" wrap="square" tIns="36575">
            <a:noAutofit/>
          </a:bodyPr>
          <a:lstStyle/>
          <a:p>
            <a:pPr indent="0" lvl="0" marL="0" marR="0" rtl="0" algn="ctr">
              <a:lnSpc>
                <a:spcPct val="100000"/>
              </a:lnSpc>
              <a:spcBef>
                <a:spcPts val="0"/>
              </a:spcBef>
              <a:spcAft>
                <a:spcPts val="0"/>
              </a:spcAft>
              <a:buNone/>
            </a:pPr>
            <a:r>
              <a:rPr b="1" i="0" lang="de" sz="1300" u="none" cap="none" strike="noStrike">
                <a:solidFill>
                  <a:srgbClr val="17242F"/>
                </a:solidFill>
                <a:latin typeface="Calibri"/>
                <a:ea typeface="Calibri"/>
                <a:cs typeface="Calibri"/>
                <a:sym typeface="Calibri"/>
              </a:rPr>
              <a:t>Document</a:t>
            </a:r>
            <a:endParaRPr/>
          </a:p>
          <a:p>
            <a:pPr indent="0" lvl="0" marL="0" marR="0" rtl="0" algn="ctr">
              <a:lnSpc>
                <a:spcPct val="100000"/>
              </a:lnSpc>
              <a:spcBef>
                <a:spcPts val="200"/>
              </a:spcBef>
              <a:spcAft>
                <a:spcPts val="0"/>
              </a:spcAft>
              <a:buNone/>
            </a:pPr>
            <a:r>
              <a:rPr b="0" i="0" lang="de" sz="950" u="none" cap="none" strike="noStrike">
                <a:solidFill>
                  <a:srgbClr val="5E6E7C"/>
                </a:solidFill>
                <a:latin typeface="Calibri"/>
                <a:ea typeface="Calibri"/>
                <a:cs typeface="Calibri"/>
                <a:sym typeface="Calibri"/>
              </a:rPr>
              <a:t>Metadaten &amp;</a:t>
            </a:r>
            <a:br>
              <a:rPr b="0" i="0" lang="de" sz="950" u="none" cap="none" strike="noStrike">
                <a:solidFill>
                  <a:srgbClr val="5E6E7C"/>
                </a:solidFill>
                <a:latin typeface="Calibri"/>
                <a:ea typeface="Calibri"/>
                <a:cs typeface="Calibri"/>
                <a:sym typeface="Calibri"/>
              </a:rPr>
            </a:br>
            <a:r>
              <a:rPr b="0" i="0" lang="de" sz="950" u="none" cap="none" strike="noStrike">
                <a:solidFill>
                  <a:srgbClr val="5E6E7C"/>
                </a:solidFill>
                <a:latin typeface="Calibri"/>
                <a:ea typeface="Calibri"/>
                <a:cs typeface="Calibri"/>
                <a:sym typeface="Calibri"/>
              </a:rPr>
              <a:t>Versionen</a:t>
            </a:r>
            <a:endParaRPr/>
          </a:p>
        </p:txBody>
      </p:sp>
      <p:cxnSp>
        <p:nvCxnSpPr>
          <p:cNvPr id="452" name="Google Shape;452;p26"/>
          <p:cNvCxnSpPr/>
          <p:nvPr/>
        </p:nvCxnSpPr>
        <p:spPr>
          <a:xfrm>
            <a:off x="7493508" y="1874519"/>
            <a:ext cx="0" cy="347473"/>
          </a:xfrm>
          <a:prstGeom prst="straightConnector1">
            <a:avLst/>
          </a:prstGeom>
          <a:noFill/>
          <a:ln cap="flat" cmpd="sng" w="15875">
            <a:solidFill>
              <a:srgbClr val="9FB3C4"/>
            </a:solidFill>
            <a:prstDash val="dash"/>
            <a:round/>
            <a:headEnd len="sm" w="sm" type="none"/>
            <a:tailEnd len="med" w="med" type="triangle"/>
          </a:ln>
        </p:spPr>
      </p:cxnSp>
      <p:sp>
        <p:nvSpPr>
          <p:cNvPr id="453" name="Google Shape;453;p26"/>
          <p:cNvSpPr/>
          <p:nvPr/>
        </p:nvSpPr>
        <p:spPr>
          <a:xfrm>
            <a:off x="758952" y="3529584"/>
            <a:ext cx="7626096" cy="475488"/>
          </a:xfrm>
          <a:prstGeom prst="roundRect">
            <a:avLst>
              <a:gd fmla="val 10000" name="adj"/>
            </a:avLst>
          </a:prstGeom>
          <a:solidFill>
            <a:srgbClr val="134E63"/>
          </a:solidFill>
          <a:ln>
            <a:noFill/>
          </a:ln>
          <a:effectLst>
            <a:outerShdw blurRad="50800" rotWithShape="0" dir="5400000" dist="25400">
              <a:srgbClr val="17242F">
                <a:alpha val="18039"/>
              </a:srgbClr>
            </a:outerShdw>
          </a:effectLst>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None/>
            </a:pPr>
            <a:r>
              <a:rPr b="1" i="0" lang="de" sz="1200" u="none" cap="none" strike="noStrike">
                <a:solidFill>
                  <a:srgbClr val="FFFFFF"/>
                </a:solidFill>
                <a:latin typeface="Calibri"/>
                <a:ea typeface="Calibri"/>
                <a:cs typeface="Calibri"/>
                <a:sym typeface="Calibri"/>
              </a:rPr>
              <a:t>Event-Bus   ·   RabbitMQ  ·  teamboard.events</a:t>
            </a:r>
            <a:endParaRPr/>
          </a:p>
        </p:txBody>
      </p:sp>
      <p:cxnSp>
        <p:nvCxnSpPr>
          <p:cNvPr id="454" name="Google Shape;454;p26"/>
          <p:cNvCxnSpPr/>
          <p:nvPr/>
        </p:nvCxnSpPr>
        <p:spPr>
          <a:xfrm>
            <a:off x="1650492" y="3081528"/>
            <a:ext cx="0" cy="429768"/>
          </a:xfrm>
          <a:prstGeom prst="straightConnector1">
            <a:avLst/>
          </a:prstGeom>
          <a:noFill/>
          <a:ln cap="flat" cmpd="sng" w="24125">
            <a:solidFill>
              <a:srgbClr val="1C7293"/>
            </a:solidFill>
            <a:prstDash val="solid"/>
            <a:round/>
            <a:headEnd len="sm" w="sm" type="none"/>
            <a:tailEnd len="med" w="med" type="triangle"/>
          </a:ln>
        </p:spPr>
      </p:cxnSp>
      <p:cxnSp>
        <p:nvCxnSpPr>
          <p:cNvPr id="455" name="Google Shape;455;p26"/>
          <p:cNvCxnSpPr/>
          <p:nvPr/>
        </p:nvCxnSpPr>
        <p:spPr>
          <a:xfrm>
            <a:off x="3598164" y="3081528"/>
            <a:ext cx="0" cy="429768"/>
          </a:xfrm>
          <a:prstGeom prst="straightConnector1">
            <a:avLst/>
          </a:prstGeom>
          <a:noFill/>
          <a:ln cap="flat" cmpd="sng" w="24125">
            <a:solidFill>
              <a:srgbClr val="1C7293"/>
            </a:solidFill>
            <a:prstDash val="solid"/>
            <a:round/>
            <a:headEnd len="sm" w="sm" type="none"/>
            <a:tailEnd len="med" w="med" type="triangle"/>
          </a:ln>
        </p:spPr>
      </p:cxnSp>
      <p:cxnSp>
        <p:nvCxnSpPr>
          <p:cNvPr id="456" name="Google Shape;456;p26"/>
          <p:cNvCxnSpPr/>
          <p:nvPr/>
        </p:nvCxnSpPr>
        <p:spPr>
          <a:xfrm>
            <a:off x="5545836" y="3081528"/>
            <a:ext cx="0" cy="429768"/>
          </a:xfrm>
          <a:prstGeom prst="straightConnector1">
            <a:avLst/>
          </a:prstGeom>
          <a:noFill/>
          <a:ln cap="flat" cmpd="sng" w="24125">
            <a:solidFill>
              <a:srgbClr val="1C7293"/>
            </a:solidFill>
            <a:prstDash val="solid"/>
            <a:round/>
            <a:headEnd len="sm" w="sm" type="none"/>
            <a:tailEnd len="med" w="med" type="triangle"/>
          </a:ln>
        </p:spPr>
      </p:cxnSp>
      <p:cxnSp>
        <p:nvCxnSpPr>
          <p:cNvPr id="457" name="Google Shape;457;p26"/>
          <p:cNvCxnSpPr/>
          <p:nvPr/>
        </p:nvCxnSpPr>
        <p:spPr>
          <a:xfrm>
            <a:off x="7493508" y="3081528"/>
            <a:ext cx="0" cy="429768"/>
          </a:xfrm>
          <a:prstGeom prst="straightConnector1">
            <a:avLst/>
          </a:prstGeom>
          <a:noFill/>
          <a:ln cap="flat" cmpd="sng" w="24125">
            <a:solidFill>
              <a:srgbClr val="1C7293"/>
            </a:solidFill>
            <a:prstDash val="solid"/>
            <a:round/>
            <a:headEnd len="sm" w="sm" type="none"/>
            <a:tailEnd len="med" w="med" type="triangle"/>
          </a:ln>
        </p:spPr>
      </p:cxnSp>
      <p:sp>
        <p:nvSpPr>
          <p:cNvPr id="458" name="Google Shape;458;p26"/>
          <p:cNvSpPr/>
          <p:nvPr/>
        </p:nvSpPr>
        <p:spPr>
          <a:xfrm>
            <a:off x="758952" y="4315968"/>
            <a:ext cx="2468880" cy="548640"/>
          </a:xfrm>
          <a:prstGeom prst="roundRect">
            <a:avLst>
              <a:gd fmla="val 12000" name="adj"/>
            </a:avLst>
          </a:prstGeom>
          <a:solidFill>
            <a:srgbClr val="E4EDF3"/>
          </a:solidFill>
          <a:ln cap="flat" cmpd="sng" w="12700">
            <a:solidFill>
              <a:srgbClr val="D7E0E8"/>
            </a:solidFill>
            <a:prstDash val="solid"/>
            <a:round/>
            <a:headEnd len="sm" w="sm" type="none"/>
            <a:tailEnd len="sm" w="sm" type="none"/>
          </a:ln>
          <a:effectLst>
            <a:outerShdw blurRad="50800" rotWithShape="0" dir="5400000" dist="25400">
              <a:srgbClr val="17242F">
                <a:alpha val="18039"/>
              </a:srgbClr>
            </a:outerShdw>
          </a:effectLst>
        </p:spPr>
        <p:txBody>
          <a:bodyPr anchorCtr="0" anchor="ctr" bIns="73150" lIns="73150" spcFirstLastPara="1" rIns="73150" wrap="square" tIns="73150">
            <a:noAutofit/>
          </a:bodyPr>
          <a:lstStyle/>
          <a:p>
            <a:pPr indent="0" lvl="0" marL="0" marR="0" rtl="0" algn="l">
              <a:lnSpc>
                <a:spcPct val="100000"/>
              </a:lnSpc>
              <a:spcBef>
                <a:spcPts val="0"/>
              </a:spcBef>
              <a:spcAft>
                <a:spcPts val="0"/>
              </a:spcAft>
              <a:buNone/>
            </a:pPr>
            <a:r>
              <a:rPr b="1" i="0" lang="de" sz="1250" u="none" cap="none" strike="noStrike">
                <a:solidFill>
                  <a:srgbClr val="17242F"/>
                </a:solidFill>
                <a:latin typeface="Calibri"/>
                <a:ea typeface="Calibri"/>
                <a:cs typeface="Calibri"/>
                <a:sym typeface="Calibri"/>
              </a:rPr>
              <a:t>Notification</a:t>
            </a:r>
            <a:endParaRPr/>
          </a:p>
          <a:p>
            <a:pPr indent="0" lvl="0" marL="0" marR="0" rtl="0" algn="l">
              <a:lnSpc>
                <a:spcPct val="100000"/>
              </a:lnSpc>
              <a:spcBef>
                <a:spcPts val="100"/>
              </a:spcBef>
              <a:spcAft>
                <a:spcPts val="0"/>
              </a:spcAft>
              <a:buNone/>
            </a:pPr>
            <a:r>
              <a:rPr b="0" i="0" lang="de" sz="950" u="none" cap="none" strike="noStrike">
                <a:solidFill>
                  <a:srgbClr val="5E6E7C"/>
                </a:solidFill>
                <a:latin typeface="Calibri"/>
                <a:ea typeface="Calibri"/>
                <a:cs typeface="Calibri"/>
                <a:sym typeface="Calibri"/>
              </a:rPr>
              <a:t>konsumiert Events → WebSocket-Push</a:t>
            </a:r>
            <a:endParaRPr/>
          </a:p>
        </p:txBody>
      </p:sp>
      <p:cxnSp>
        <p:nvCxnSpPr>
          <p:cNvPr id="459" name="Google Shape;459;p26"/>
          <p:cNvCxnSpPr/>
          <p:nvPr/>
        </p:nvCxnSpPr>
        <p:spPr>
          <a:xfrm>
            <a:off x="1993392" y="4005072"/>
            <a:ext cx="0" cy="292608"/>
          </a:xfrm>
          <a:prstGeom prst="straightConnector1">
            <a:avLst/>
          </a:prstGeom>
          <a:noFill/>
          <a:ln cap="flat" cmpd="sng" w="24125">
            <a:solidFill>
              <a:srgbClr val="1C7293"/>
            </a:solidFill>
            <a:prstDash val="solid"/>
            <a:round/>
            <a:headEnd len="sm" w="sm" type="none"/>
            <a:tailEnd len="med" w="med" type="triangle"/>
          </a:ln>
        </p:spPr>
      </p:cxnSp>
      <p:cxnSp>
        <p:nvCxnSpPr>
          <p:cNvPr id="460" name="Google Shape;460;p26"/>
          <p:cNvCxnSpPr/>
          <p:nvPr/>
        </p:nvCxnSpPr>
        <p:spPr>
          <a:xfrm rot="10800000">
            <a:off x="457200" y="4590288"/>
            <a:ext cx="301752" cy="0"/>
          </a:xfrm>
          <a:prstGeom prst="straightConnector1">
            <a:avLst/>
          </a:prstGeom>
          <a:noFill/>
          <a:ln cap="flat" cmpd="sng" w="24125">
            <a:solidFill>
              <a:srgbClr val="1C7293"/>
            </a:solidFill>
            <a:prstDash val="solid"/>
            <a:round/>
            <a:headEnd len="sm" w="sm" type="none"/>
            <a:tailEnd len="sm" w="sm" type="none"/>
          </a:ln>
        </p:spPr>
      </p:cxnSp>
      <p:cxnSp>
        <p:nvCxnSpPr>
          <p:cNvPr id="461" name="Google Shape;461;p26"/>
          <p:cNvCxnSpPr/>
          <p:nvPr/>
        </p:nvCxnSpPr>
        <p:spPr>
          <a:xfrm rot="10800000">
            <a:off x="457200" y="1645920"/>
            <a:ext cx="0" cy="2944368"/>
          </a:xfrm>
          <a:prstGeom prst="straightConnector1">
            <a:avLst/>
          </a:prstGeom>
          <a:noFill/>
          <a:ln cap="flat" cmpd="sng" w="24125">
            <a:solidFill>
              <a:srgbClr val="1C7293"/>
            </a:solidFill>
            <a:prstDash val="solid"/>
            <a:round/>
            <a:headEnd len="sm" w="sm" type="none"/>
            <a:tailEnd len="sm" w="sm" type="none"/>
          </a:ln>
        </p:spPr>
      </p:cxnSp>
      <p:cxnSp>
        <p:nvCxnSpPr>
          <p:cNvPr id="462" name="Google Shape;462;p26"/>
          <p:cNvCxnSpPr/>
          <p:nvPr/>
        </p:nvCxnSpPr>
        <p:spPr>
          <a:xfrm flipH="1" rot="10800000">
            <a:off x="457200" y="1637520"/>
            <a:ext cx="265200" cy="8400"/>
          </a:xfrm>
          <a:prstGeom prst="straightConnector1">
            <a:avLst/>
          </a:prstGeom>
          <a:noFill/>
          <a:ln cap="flat" cmpd="sng" w="24125">
            <a:solidFill>
              <a:srgbClr val="1C7293"/>
            </a:solidFill>
            <a:prstDash val="solid"/>
            <a:round/>
            <a:headEnd len="sm" w="sm" type="none"/>
            <a:tailEnd len="med" w="med" type="triangle"/>
          </a:ln>
        </p:spPr>
      </p:cxnSp>
      <p:sp>
        <p:nvSpPr>
          <p:cNvPr id="463" name="Google Shape;463;p26"/>
          <p:cNvSpPr txBox="1"/>
          <p:nvPr/>
        </p:nvSpPr>
        <p:spPr>
          <a:xfrm rot="-5400000">
            <a:off x="-741355" y="2502461"/>
            <a:ext cx="21945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900" u="none" cap="none" strike="noStrike">
                <a:solidFill>
                  <a:srgbClr val="2EC4B6"/>
                </a:solidFill>
                <a:latin typeface="Calibri"/>
                <a:ea typeface="Calibri"/>
                <a:cs typeface="Calibri"/>
                <a:sym typeface="Calibri"/>
              </a:rPr>
              <a:t>WebSocket-Push</a:t>
            </a:r>
            <a:endParaRPr/>
          </a:p>
        </p:txBody>
      </p:sp>
      <p:cxnSp>
        <p:nvCxnSpPr>
          <p:cNvPr id="464" name="Google Shape;464;p26"/>
          <p:cNvCxnSpPr/>
          <p:nvPr/>
        </p:nvCxnSpPr>
        <p:spPr>
          <a:xfrm>
            <a:off x="5257800" y="4471416"/>
            <a:ext cx="320040" cy="0"/>
          </a:xfrm>
          <a:prstGeom prst="straightConnector1">
            <a:avLst/>
          </a:prstGeom>
          <a:noFill/>
          <a:ln cap="flat" cmpd="sng" w="30475">
            <a:solidFill>
              <a:srgbClr val="1C7293"/>
            </a:solidFill>
            <a:prstDash val="solid"/>
            <a:round/>
            <a:headEnd len="sm" w="sm" type="none"/>
            <a:tailEnd len="med" w="med" type="triangle"/>
          </a:ln>
        </p:spPr>
      </p:cxnSp>
      <p:sp>
        <p:nvSpPr>
          <p:cNvPr id="465" name="Google Shape;465;p26"/>
          <p:cNvSpPr txBox="1"/>
          <p:nvPr/>
        </p:nvSpPr>
        <p:spPr>
          <a:xfrm>
            <a:off x="5660136" y="4361688"/>
            <a:ext cx="310896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de" sz="950" u="none" cap="none" strike="noStrike">
                <a:solidFill>
                  <a:srgbClr val="5E6E7C"/>
                </a:solidFill>
                <a:latin typeface="Calibri"/>
                <a:ea typeface="Calibri"/>
                <a:cs typeface="Calibri"/>
                <a:sym typeface="Calibri"/>
              </a:rPr>
              <a:t>asynchron · Events (entkoppelt)</a:t>
            </a:r>
            <a:endParaRPr/>
          </a:p>
        </p:txBody>
      </p:sp>
      <p:cxnSp>
        <p:nvCxnSpPr>
          <p:cNvPr id="466" name="Google Shape;466;p26"/>
          <p:cNvCxnSpPr/>
          <p:nvPr/>
        </p:nvCxnSpPr>
        <p:spPr>
          <a:xfrm>
            <a:off x="5257800" y="4718304"/>
            <a:ext cx="320040" cy="0"/>
          </a:xfrm>
          <a:prstGeom prst="straightConnector1">
            <a:avLst/>
          </a:prstGeom>
          <a:noFill/>
          <a:ln cap="flat" cmpd="sng" w="20300">
            <a:solidFill>
              <a:srgbClr val="9FB3C4"/>
            </a:solidFill>
            <a:prstDash val="dash"/>
            <a:round/>
            <a:headEnd len="sm" w="sm" type="none"/>
            <a:tailEnd len="med" w="med" type="triangle"/>
          </a:ln>
        </p:spPr>
      </p:cxnSp>
      <p:sp>
        <p:nvSpPr>
          <p:cNvPr id="467" name="Google Shape;467;p26"/>
          <p:cNvSpPr txBox="1"/>
          <p:nvPr/>
        </p:nvSpPr>
        <p:spPr>
          <a:xfrm>
            <a:off x="5660136" y="4608576"/>
            <a:ext cx="310896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de" sz="950" u="none" cap="none" strike="noStrike">
                <a:solidFill>
                  <a:srgbClr val="5E6E7C"/>
                </a:solidFill>
                <a:latin typeface="Calibri"/>
                <a:ea typeface="Calibri"/>
                <a:cs typeface="Calibri"/>
                <a:sym typeface="Calibri"/>
              </a:rPr>
              <a:t>synchron · REST + Service-Token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27"/>
          <p:cNvSpPr txBox="1"/>
          <p:nvPr/>
        </p:nvSpPr>
        <p:spPr>
          <a:xfrm>
            <a:off x="425196" y="288036"/>
            <a:ext cx="754380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900" u="none" cap="none" strike="noStrike">
                <a:solidFill>
                  <a:srgbClr val="1C7293"/>
                </a:solidFill>
                <a:latin typeface="Calibri"/>
                <a:ea typeface="Calibri"/>
                <a:cs typeface="Calibri"/>
                <a:sym typeface="Calibri"/>
              </a:rPr>
              <a:t>ENTWURF · BOARD REGISTRY</a:t>
            </a:r>
            <a:endParaRPr/>
          </a:p>
        </p:txBody>
      </p:sp>
      <p:sp>
        <p:nvSpPr>
          <p:cNvPr id="473" name="Google Shape;473;p27"/>
          <p:cNvSpPr txBox="1"/>
          <p:nvPr/>
        </p:nvSpPr>
        <p:spPr>
          <a:xfrm>
            <a:off x="425196" y="493776"/>
            <a:ext cx="8293608"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2300" u="none" cap="none" strike="noStrike">
                <a:solidFill>
                  <a:srgbClr val="17242F"/>
                </a:solidFill>
                <a:latin typeface="Calibri"/>
                <a:ea typeface="Calibri"/>
                <a:cs typeface="Calibri"/>
                <a:sym typeface="Calibri"/>
              </a:rPr>
              <a:t>Board Registry — Board-Typen zur Laufzeit</a:t>
            </a:r>
            <a:endParaRPr/>
          </a:p>
        </p:txBody>
      </p:sp>
      <p:sp>
        <p:nvSpPr>
          <p:cNvPr id="474" name="Google Shape;474;p27"/>
          <p:cNvSpPr txBox="1"/>
          <p:nvPr/>
        </p:nvSpPr>
        <p:spPr>
          <a:xfrm>
            <a:off x="425196" y="969264"/>
            <a:ext cx="8293500" cy="177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de" sz="1150" u="none" cap="none" strike="noStrike">
                <a:solidFill>
                  <a:srgbClr val="5E6E7C"/>
                </a:solidFill>
                <a:latin typeface="Calibri"/>
                <a:ea typeface="Calibri"/>
                <a:cs typeface="Calibri"/>
                <a:sym typeface="Calibri"/>
              </a:rPr>
              <a:t>Autoritative Quelle für Board-Typ-</a:t>
            </a:r>
            <a:r>
              <a:rPr i="0" lang="de" sz="1150" u="none" cap="none" strike="noStrike">
                <a:solidFill>
                  <a:srgbClr val="5E6E7C"/>
                </a:solidFill>
                <a:latin typeface="Calibri"/>
                <a:ea typeface="Calibri"/>
                <a:cs typeface="Calibri"/>
                <a:sym typeface="Calibri"/>
              </a:rPr>
              <a:t>Definitionen</a:t>
            </a:r>
            <a:r>
              <a:rPr lang="de" sz="1150">
                <a:solidFill>
                  <a:srgbClr val="5E6E7C"/>
                </a:solidFill>
                <a:latin typeface="Calibri"/>
                <a:ea typeface="Calibri"/>
                <a:cs typeface="Calibri"/>
                <a:sym typeface="Calibri"/>
              </a:rPr>
              <a:t>.</a:t>
            </a:r>
            <a:r>
              <a:rPr b="0" i="0" lang="de" sz="1150" u="none" cap="none" strike="noStrike">
                <a:solidFill>
                  <a:srgbClr val="5E6E7C"/>
                </a:solidFill>
                <a:latin typeface="Calibri"/>
                <a:ea typeface="Calibri"/>
                <a:cs typeface="Calibri"/>
                <a:sym typeface="Calibri"/>
              </a:rPr>
              <a:t> </a:t>
            </a:r>
            <a:r>
              <a:rPr lang="de" sz="1150">
                <a:solidFill>
                  <a:srgbClr val="5E6E7C"/>
                </a:solidFill>
                <a:latin typeface="Calibri"/>
                <a:ea typeface="Calibri"/>
                <a:cs typeface="Calibri"/>
                <a:sym typeface="Calibri"/>
              </a:rPr>
              <a:t>N</a:t>
            </a:r>
            <a:r>
              <a:rPr b="0" i="0" lang="de" sz="1150" u="none" cap="none" strike="noStrike">
                <a:solidFill>
                  <a:srgbClr val="5E6E7C"/>
                </a:solidFill>
                <a:latin typeface="Calibri"/>
                <a:ea typeface="Calibri"/>
                <a:cs typeface="Calibri"/>
                <a:sym typeface="Calibri"/>
              </a:rPr>
              <a:t>eue Typen entstehen zur Laufzeit, ohne Redeploy des Project-Service.</a:t>
            </a:r>
            <a:endParaRPr/>
          </a:p>
        </p:txBody>
      </p:sp>
      <p:sp>
        <p:nvSpPr>
          <p:cNvPr id="475" name="Google Shape;475;p27"/>
          <p:cNvSpPr txBox="1"/>
          <p:nvPr/>
        </p:nvSpPr>
        <p:spPr>
          <a:xfrm>
            <a:off x="425196" y="1371600"/>
            <a:ext cx="461772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900" u="none" cap="none" strike="noStrike">
                <a:solidFill>
                  <a:srgbClr val="1C7293"/>
                </a:solidFill>
                <a:latin typeface="Calibri"/>
                <a:ea typeface="Calibri"/>
                <a:cs typeface="Calibri"/>
                <a:sym typeface="Calibri"/>
              </a:rPr>
              <a:t>REGISTRIERUNG ZUR LAUFZEIT</a:t>
            </a:r>
            <a:endParaRPr/>
          </a:p>
        </p:txBody>
      </p:sp>
      <p:sp>
        <p:nvSpPr>
          <p:cNvPr id="476" name="Google Shape;476;p27"/>
          <p:cNvSpPr/>
          <p:nvPr/>
        </p:nvSpPr>
        <p:spPr>
          <a:xfrm>
            <a:off x="425196" y="1700784"/>
            <a:ext cx="384048" cy="384048"/>
          </a:xfrm>
          <a:prstGeom prst="ellipse">
            <a:avLst/>
          </a:prstGeom>
          <a:solidFill>
            <a:srgbClr val="1C729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de" sz="1300" u="none" cap="none" strike="noStrike">
                <a:solidFill>
                  <a:srgbClr val="FFFFFF"/>
                </a:solidFill>
                <a:latin typeface="Calibri"/>
                <a:ea typeface="Calibri"/>
                <a:cs typeface="Calibri"/>
                <a:sym typeface="Calibri"/>
              </a:rPr>
              <a:t>1</a:t>
            </a:r>
            <a:endParaRPr/>
          </a:p>
        </p:txBody>
      </p:sp>
      <p:sp>
        <p:nvSpPr>
          <p:cNvPr id="477" name="Google Shape;477;p27"/>
          <p:cNvSpPr/>
          <p:nvPr/>
        </p:nvSpPr>
        <p:spPr>
          <a:xfrm>
            <a:off x="955547" y="1645920"/>
            <a:ext cx="4087368" cy="502920"/>
          </a:xfrm>
          <a:prstGeom prst="roundRect">
            <a:avLst>
              <a:gd fmla="val 12000" name="adj"/>
            </a:avLst>
          </a:prstGeom>
          <a:solidFill>
            <a:srgbClr val="F4F7FA"/>
          </a:solidFill>
          <a:ln cap="flat" cmpd="sng" w="12700">
            <a:solidFill>
              <a:srgbClr val="D7E0E8"/>
            </a:solidFill>
            <a:prstDash val="solid"/>
            <a:round/>
            <a:headEnd len="sm" w="sm" type="none"/>
            <a:tailEnd len="sm" w="sm" type="none"/>
          </a:ln>
        </p:spPr>
        <p:txBody>
          <a:bodyPr anchorCtr="0" anchor="ctr" bIns="82275" lIns="82275" spcFirstLastPara="1" rIns="82275" wrap="square" tIns="82275">
            <a:noAutofit/>
          </a:bodyPr>
          <a:lstStyle/>
          <a:p>
            <a:pPr indent="0" lvl="0" marL="0" marR="0" rtl="0" algn="l">
              <a:lnSpc>
                <a:spcPct val="100000"/>
              </a:lnSpc>
              <a:spcBef>
                <a:spcPts val="0"/>
              </a:spcBef>
              <a:spcAft>
                <a:spcPts val="0"/>
              </a:spcAft>
              <a:buNone/>
            </a:pPr>
            <a:r>
              <a:rPr b="1" i="0" lang="de" sz="1150" u="none" cap="none" strike="noStrike">
                <a:solidFill>
                  <a:srgbClr val="17242F"/>
                </a:solidFill>
                <a:latin typeface="Calibri"/>
                <a:ea typeface="Calibri"/>
                <a:cs typeface="Calibri"/>
                <a:sym typeface="Calibri"/>
              </a:rPr>
              <a:t>Entwickler registriert Typ</a:t>
            </a:r>
            <a:endParaRPr/>
          </a:p>
          <a:p>
            <a:pPr indent="0" lvl="0" marL="0" marR="0" rtl="0" algn="l">
              <a:lnSpc>
                <a:spcPct val="100000"/>
              </a:lnSpc>
              <a:spcBef>
                <a:spcPts val="100"/>
              </a:spcBef>
              <a:spcAft>
                <a:spcPts val="0"/>
              </a:spcAft>
              <a:buNone/>
            </a:pPr>
            <a:r>
              <a:rPr b="0" i="0" lang="de" sz="900" u="none" cap="none" strike="noStrike">
                <a:solidFill>
                  <a:srgbClr val="5E6E7C"/>
                </a:solidFill>
                <a:latin typeface="Calibri"/>
                <a:ea typeface="Calibri"/>
                <a:cs typeface="Calibri"/>
                <a:sym typeface="Calibri"/>
              </a:rPr>
              <a:t>P</a:t>
            </a:r>
            <a:r>
              <a:rPr b="0" i="0" lang="de" sz="900" u="none" cap="none" strike="noStrike">
                <a:solidFill>
                  <a:srgbClr val="5E6E7C"/>
                </a:solidFill>
                <a:latin typeface="Calibri"/>
                <a:ea typeface="Calibri"/>
                <a:cs typeface="Calibri"/>
                <a:sym typeface="Calibri"/>
              </a:rPr>
              <a:t>OST /board-types</a:t>
            </a:r>
            <a:r>
              <a:rPr b="0" i="0" lang="de" sz="900" u="none" cap="none" strike="noStrike">
                <a:solidFill>
                  <a:srgbClr val="5E6E7C"/>
                </a:solidFill>
                <a:latin typeface="Calibri"/>
                <a:ea typeface="Calibri"/>
                <a:cs typeface="Calibri"/>
                <a:sym typeface="Calibri"/>
              </a:rPr>
              <a:t> Definition per REST</a:t>
            </a:r>
            <a:endParaRPr/>
          </a:p>
        </p:txBody>
      </p:sp>
      <p:cxnSp>
        <p:nvCxnSpPr>
          <p:cNvPr id="478" name="Google Shape;478;p27"/>
          <p:cNvCxnSpPr/>
          <p:nvPr/>
        </p:nvCxnSpPr>
        <p:spPr>
          <a:xfrm>
            <a:off x="617220" y="2148840"/>
            <a:ext cx="0" cy="86868"/>
          </a:xfrm>
          <a:prstGeom prst="straightConnector1">
            <a:avLst/>
          </a:prstGeom>
          <a:noFill/>
          <a:ln cap="flat" cmpd="sng" w="17775">
            <a:solidFill>
              <a:srgbClr val="9FB3C4"/>
            </a:solidFill>
            <a:prstDash val="solid"/>
            <a:round/>
            <a:headEnd len="sm" w="sm" type="none"/>
            <a:tailEnd len="med" w="med" type="triangle"/>
          </a:ln>
        </p:spPr>
      </p:cxnSp>
      <p:sp>
        <p:nvSpPr>
          <p:cNvPr id="479" name="Google Shape;479;p27"/>
          <p:cNvSpPr/>
          <p:nvPr/>
        </p:nvSpPr>
        <p:spPr>
          <a:xfrm>
            <a:off x="425196" y="2290572"/>
            <a:ext cx="384048" cy="384048"/>
          </a:xfrm>
          <a:prstGeom prst="ellipse">
            <a:avLst/>
          </a:prstGeom>
          <a:solidFill>
            <a:srgbClr val="1C729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de" sz="1300" u="none" cap="none" strike="noStrike">
                <a:solidFill>
                  <a:srgbClr val="FFFFFF"/>
                </a:solidFill>
                <a:latin typeface="Calibri"/>
                <a:ea typeface="Calibri"/>
                <a:cs typeface="Calibri"/>
                <a:sym typeface="Calibri"/>
              </a:rPr>
              <a:t>2</a:t>
            </a:r>
            <a:endParaRPr/>
          </a:p>
        </p:txBody>
      </p:sp>
      <p:sp>
        <p:nvSpPr>
          <p:cNvPr id="480" name="Google Shape;480;p27"/>
          <p:cNvSpPr/>
          <p:nvPr/>
        </p:nvSpPr>
        <p:spPr>
          <a:xfrm>
            <a:off x="955547" y="2235708"/>
            <a:ext cx="4087368" cy="502920"/>
          </a:xfrm>
          <a:prstGeom prst="roundRect">
            <a:avLst>
              <a:gd fmla="val 12000" name="adj"/>
            </a:avLst>
          </a:prstGeom>
          <a:solidFill>
            <a:srgbClr val="F4F7FA"/>
          </a:solidFill>
          <a:ln cap="flat" cmpd="sng" w="12700">
            <a:solidFill>
              <a:srgbClr val="D7E0E8"/>
            </a:solidFill>
            <a:prstDash val="solid"/>
            <a:round/>
            <a:headEnd len="sm" w="sm" type="none"/>
            <a:tailEnd len="sm" w="sm" type="none"/>
          </a:ln>
        </p:spPr>
        <p:txBody>
          <a:bodyPr anchorCtr="0" anchor="ctr" bIns="82275" lIns="82275" spcFirstLastPara="1" rIns="82275" wrap="square" tIns="82275">
            <a:noAutofit/>
          </a:bodyPr>
          <a:lstStyle/>
          <a:p>
            <a:pPr indent="0" lvl="0" marL="0" marR="0" rtl="0" algn="l">
              <a:lnSpc>
                <a:spcPct val="100000"/>
              </a:lnSpc>
              <a:spcBef>
                <a:spcPts val="0"/>
              </a:spcBef>
              <a:spcAft>
                <a:spcPts val="0"/>
              </a:spcAft>
              <a:buNone/>
            </a:pPr>
            <a:r>
              <a:rPr b="1" i="0" lang="de" sz="1150" u="none" cap="none" strike="noStrike">
                <a:solidFill>
                  <a:srgbClr val="17242F"/>
                </a:solidFill>
                <a:latin typeface="Calibri"/>
                <a:ea typeface="Calibri"/>
                <a:cs typeface="Calibri"/>
                <a:sym typeface="Calibri"/>
              </a:rPr>
              <a:t>Registry validiert &amp; speichert</a:t>
            </a:r>
            <a:endParaRPr/>
          </a:p>
          <a:p>
            <a:pPr indent="0" lvl="0" marL="0" marR="0" rtl="0" algn="l">
              <a:lnSpc>
                <a:spcPct val="100000"/>
              </a:lnSpc>
              <a:spcBef>
                <a:spcPts val="100"/>
              </a:spcBef>
              <a:spcAft>
                <a:spcPts val="0"/>
              </a:spcAft>
              <a:buNone/>
            </a:pPr>
            <a:r>
              <a:rPr b="0" i="0" lang="de" sz="900" u="none" cap="none" strike="noStrike">
                <a:solidFill>
                  <a:srgbClr val="5E6E7C"/>
                </a:solidFill>
                <a:latin typeface="Calibri"/>
                <a:ea typeface="Calibri"/>
                <a:cs typeface="Calibri"/>
                <a:sym typeface="Calibri"/>
              </a:rPr>
              <a:t>Slug, Schema &amp; Presentation gegen Meta-Schema · eigene DB</a:t>
            </a:r>
            <a:endParaRPr/>
          </a:p>
        </p:txBody>
      </p:sp>
      <p:cxnSp>
        <p:nvCxnSpPr>
          <p:cNvPr id="481" name="Google Shape;481;p27"/>
          <p:cNvCxnSpPr/>
          <p:nvPr/>
        </p:nvCxnSpPr>
        <p:spPr>
          <a:xfrm>
            <a:off x="617220" y="2738628"/>
            <a:ext cx="0" cy="86868"/>
          </a:xfrm>
          <a:prstGeom prst="straightConnector1">
            <a:avLst/>
          </a:prstGeom>
          <a:noFill/>
          <a:ln cap="flat" cmpd="sng" w="17775">
            <a:solidFill>
              <a:srgbClr val="9FB3C4"/>
            </a:solidFill>
            <a:prstDash val="solid"/>
            <a:round/>
            <a:headEnd len="sm" w="sm" type="none"/>
            <a:tailEnd len="med" w="med" type="triangle"/>
          </a:ln>
        </p:spPr>
      </p:cxnSp>
      <p:sp>
        <p:nvSpPr>
          <p:cNvPr id="482" name="Google Shape;482;p27"/>
          <p:cNvSpPr/>
          <p:nvPr/>
        </p:nvSpPr>
        <p:spPr>
          <a:xfrm>
            <a:off x="425196" y="2880360"/>
            <a:ext cx="384048" cy="384048"/>
          </a:xfrm>
          <a:prstGeom prst="ellipse">
            <a:avLst/>
          </a:prstGeom>
          <a:solidFill>
            <a:srgbClr val="1C729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de" sz="1300" u="none" cap="none" strike="noStrike">
                <a:solidFill>
                  <a:srgbClr val="FFFFFF"/>
                </a:solidFill>
                <a:latin typeface="Calibri"/>
                <a:ea typeface="Calibri"/>
                <a:cs typeface="Calibri"/>
                <a:sym typeface="Calibri"/>
              </a:rPr>
              <a:t>3</a:t>
            </a:r>
            <a:endParaRPr/>
          </a:p>
        </p:txBody>
      </p:sp>
      <p:sp>
        <p:nvSpPr>
          <p:cNvPr id="483" name="Google Shape;483;p27"/>
          <p:cNvSpPr/>
          <p:nvPr/>
        </p:nvSpPr>
        <p:spPr>
          <a:xfrm>
            <a:off x="955547" y="2825496"/>
            <a:ext cx="4087368" cy="502920"/>
          </a:xfrm>
          <a:prstGeom prst="roundRect">
            <a:avLst>
              <a:gd fmla="val 12000" name="adj"/>
            </a:avLst>
          </a:prstGeom>
          <a:solidFill>
            <a:srgbClr val="F4F7FA"/>
          </a:solidFill>
          <a:ln cap="flat" cmpd="sng" w="12700">
            <a:solidFill>
              <a:srgbClr val="D7E0E8"/>
            </a:solidFill>
            <a:prstDash val="solid"/>
            <a:round/>
            <a:headEnd len="sm" w="sm" type="none"/>
            <a:tailEnd len="sm" w="sm" type="none"/>
          </a:ln>
        </p:spPr>
        <p:txBody>
          <a:bodyPr anchorCtr="0" anchor="ctr" bIns="82275" lIns="82275" spcFirstLastPara="1" rIns="82275" wrap="square" tIns="82275">
            <a:noAutofit/>
          </a:bodyPr>
          <a:lstStyle/>
          <a:p>
            <a:pPr indent="0" lvl="0" marL="0" marR="0" rtl="0" algn="l">
              <a:lnSpc>
                <a:spcPct val="100000"/>
              </a:lnSpc>
              <a:spcBef>
                <a:spcPts val="0"/>
              </a:spcBef>
              <a:spcAft>
                <a:spcPts val="0"/>
              </a:spcAft>
              <a:buNone/>
            </a:pPr>
            <a:r>
              <a:rPr b="1" i="0" lang="de" sz="1150" u="none" cap="none" strike="noStrike">
                <a:solidFill>
                  <a:srgbClr val="17242F"/>
                </a:solidFill>
                <a:latin typeface="Calibri"/>
                <a:ea typeface="Calibri"/>
                <a:cs typeface="Calibri"/>
                <a:sym typeface="Calibri"/>
              </a:rPr>
              <a:t>Event via Outbox</a:t>
            </a:r>
            <a:endParaRPr/>
          </a:p>
          <a:p>
            <a:pPr indent="0" lvl="0" marL="0" marR="0" rtl="0" algn="l">
              <a:lnSpc>
                <a:spcPct val="100000"/>
              </a:lnSpc>
              <a:spcBef>
                <a:spcPts val="100"/>
              </a:spcBef>
              <a:spcAft>
                <a:spcPts val="0"/>
              </a:spcAft>
              <a:buNone/>
            </a:pPr>
            <a:r>
              <a:rPr b="0" i="0" lang="de" sz="900" u="none" cap="none" strike="noStrike">
                <a:solidFill>
                  <a:srgbClr val="5E6E7C"/>
                </a:solidFill>
                <a:latin typeface="Calibri"/>
                <a:ea typeface="Calibri"/>
                <a:cs typeface="Calibri"/>
                <a:sym typeface="Calibri"/>
              </a:rPr>
              <a:t>boardtype.registered auf den Event-Bus</a:t>
            </a:r>
            <a:endParaRPr/>
          </a:p>
        </p:txBody>
      </p:sp>
      <p:cxnSp>
        <p:nvCxnSpPr>
          <p:cNvPr id="484" name="Google Shape;484;p27"/>
          <p:cNvCxnSpPr/>
          <p:nvPr/>
        </p:nvCxnSpPr>
        <p:spPr>
          <a:xfrm>
            <a:off x="617220" y="3328415"/>
            <a:ext cx="0" cy="86869"/>
          </a:xfrm>
          <a:prstGeom prst="straightConnector1">
            <a:avLst/>
          </a:prstGeom>
          <a:noFill/>
          <a:ln cap="flat" cmpd="sng" w="17775">
            <a:solidFill>
              <a:srgbClr val="9FB3C4"/>
            </a:solidFill>
            <a:prstDash val="solid"/>
            <a:round/>
            <a:headEnd len="sm" w="sm" type="none"/>
            <a:tailEnd len="med" w="med" type="triangle"/>
          </a:ln>
        </p:spPr>
      </p:cxnSp>
      <p:sp>
        <p:nvSpPr>
          <p:cNvPr id="485" name="Google Shape;485;p27"/>
          <p:cNvSpPr/>
          <p:nvPr/>
        </p:nvSpPr>
        <p:spPr>
          <a:xfrm>
            <a:off x="425196" y="3470148"/>
            <a:ext cx="384048" cy="384048"/>
          </a:xfrm>
          <a:prstGeom prst="ellipse">
            <a:avLst/>
          </a:prstGeom>
          <a:solidFill>
            <a:srgbClr val="1C729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de" sz="1300" u="none" cap="none" strike="noStrike">
                <a:solidFill>
                  <a:srgbClr val="FFFFFF"/>
                </a:solidFill>
                <a:latin typeface="Calibri"/>
                <a:ea typeface="Calibri"/>
                <a:cs typeface="Calibri"/>
                <a:sym typeface="Calibri"/>
              </a:rPr>
              <a:t>4</a:t>
            </a:r>
            <a:endParaRPr/>
          </a:p>
        </p:txBody>
      </p:sp>
      <p:sp>
        <p:nvSpPr>
          <p:cNvPr id="486" name="Google Shape;486;p27"/>
          <p:cNvSpPr/>
          <p:nvPr/>
        </p:nvSpPr>
        <p:spPr>
          <a:xfrm>
            <a:off x="955547" y="3415284"/>
            <a:ext cx="4087368" cy="502920"/>
          </a:xfrm>
          <a:prstGeom prst="roundRect">
            <a:avLst>
              <a:gd fmla="val 12000" name="adj"/>
            </a:avLst>
          </a:prstGeom>
          <a:solidFill>
            <a:srgbClr val="F4F7FA"/>
          </a:solidFill>
          <a:ln cap="flat" cmpd="sng" w="12700">
            <a:solidFill>
              <a:srgbClr val="D7E0E8"/>
            </a:solidFill>
            <a:prstDash val="solid"/>
            <a:round/>
            <a:headEnd len="sm" w="sm" type="none"/>
            <a:tailEnd len="sm" w="sm" type="none"/>
          </a:ln>
        </p:spPr>
        <p:txBody>
          <a:bodyPr anchorCtr="0" anchor="ctr" bIns="82275" lIns="82275" spcFirstLastPara="1" rIns="82275" wrap="square" tIns="82275">
            <a:noAutofit/>
          </a:bodyPr>
          <a:lstStyle/>
          <a:p>
            <a:pPr indent="0" lvl="0" marL="0" marR="0" rtl="0" algn="l">
              <a:lnSpc>
                <a:spcPct val="100000"/>
              </a:lnSpc>
              <a:spcBef>
                <a:spcPts val="0"/>
              </a:spcBef>
              <a:spcAft>
                <a:spcPts val="0"/>
              </a:spcAft>
              <a:buNone/>
            </a:pPr>
            <a:r>
              <a:rPr b="1" i="0" lang="de" sz="1150" u="none" cap="none" strike="noStrike">
                <a:solidFill>
                  <a:srgbClr val="17242F"/>
                </a:solidFill>
                <a:latin typeface="Calibri"/>
                <a:ea typeface="Calibri"/>
                <a:cs typeface="Calibri"/>
                <a:sym typeface="Calibri"/>
              </a:rPr>
              <a:t>Project-Service reagiert</a:t>
            </a:r>
            <a:endParaRPr/>
          </a:p>
          <a:p>
            <a:pPr indent="0" lvl="0" marL="0" marR="0" rtl="0" algn="l">
              <a:lnSpc>
                <a:spcPct val="100000"/>
              </a:lnSpc>
              <a:spcBef>
                <a:spcPts val="100"/>
              </a:spcBef>
              <a:spcAft>
                <a:spcPts val="0"/>
              </a:spcAft>
              <a:buNone/>
            </a:pPr>
            <a:r>
              <a:rPr b="0" i="0" lang="de" sz="900" u="none" cap="none" strike="noStrike">
                <a:solidFill>
                  <a:srgbClr val="5E6E7C"/>
                </a:solidFill>
                <a:latin typeface="Calibri"/>
                <a:ea typeface="Calibri"/>
                <a:cs typeface="Calibri"/>
                <a:sym typeface="Calibri"/>
              </a:rPr>
              <a:t>invalidiert seinen Typ-Cache</a:t>
            </a:r>
            <a:endParaRPr/>
          </a:p>
        </p:txBody>
      </p:sp>
      <p:cxnSp>
        <p:nvCxnSpPr>
          <p:cNvPr id="487" name="Google Shape;487;p27"/>
          <p:cNvCxnSpPr/>
          <p:nvPr/>
        </p:nvCxnSpPr>
        <p:spPr>
          <a:xfrm>
            <a:off x="617220" y="3918204"/>
            <a:ext cx="0" cy="86868"/>
          </a:xfrm>
          <a:prstGeom prst="straightConnector1">
            <a:avLst/>
          </a:prstGeom>
          <a:noFill/>
          <a:ln cap="flat" cmpd="sng" w="17775">
            <a:solidFill>
              <a:srgbClr val="9FB3C4"/>
            </a:solidFill>
            <a:prstDash val="solid"/>
            <a:round/>
            <a:headEnd len="sm" w="sm" type="none"/>
            <a:tailEnd len="med" w="med" type="triangle"/>
          </a:ln>
        </p:spPr>
      </p:cxnSp>
      <p:sp>
        <p:nvSpPr>
          <p:cNvPr id="488" name="Google Shape;488;p27"/>
          <p:cNvSpPr/>
          <p:nvPr/>
        </p:nvSpPr>
        <p:spPr>
          <a:xfrm>
            <a:off x="425196" y="4059935"/>
            <a:ext cx="384048" cy="384048"/>
          </a:xfrm>
          <a:prstGeom prst="ellipse">
            <a:avLst/>
          </a:prstGeom>
          <a:solidFill>
            <a:srgbClr val="1C729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de" sz="1300" u="none" cap="none" strike="noStrike">
                <a:solidFill>
                  <a:srgbClr val="FFFFFF"/>
                </a:solidFill>
                <a:latin typeface="Calibri"/>
                <a:ea typeface="Calibri"/>
                <a:cs typeface="Calibri"/>
                <a:sym typeface="Calibri"/>
              </a:rPr>
              <a:t>5</a:t>
            </a:r>
            <a:endParaRPr/>
          </a:p>
        </p:txBody>
      </p:sp>
      <p:sp>
        <p:nvSpPr>
          <p:cNvPr id="489" name="Google Shape;489;p27"/>
          <p:cNvSpPr/>
          <p:nvPr/>
        </p:nvSpPr>
        <p:spPr>
          <a:xfrm>
            <a:off x="955547" y="4005072"/>
            <a:ext cx="4087368" cy="502920"/>
          </a:xfrm>
          <a:prstGeom prst="roundRect">
            <a:avLst>
              <a:gd fmla="val 12000" name="adj"/>
            </a:avLst>
          </a:prstGeom>
          <a:solidFill>
            <a:srgbClr val="F4F7FA"/>
          </a:solidFill>
          <a:ln cap="flat" cmpd="sng" w="12700">
            <a:solidFill>
              <a:srgbClr val="D7E0E8"/>
            </a:solidFill>
            <a:prstDash val="solid"/>
            <a:round/>
            <a:headEnd len="sm" w="sm" type="none"/>
            <a:tailEnd len="sm" w="sm" type="none"/>
          </a:ln>
        </p:spPr>
        <p:txBody>
          <a:bodyPr anchorCtr="0" anchor="ctr" bIns="82275" lIns="82275" spcFirstLastPara="1" rIns="82275" wrap="square" tIns="82275">
            <a:noAutofit/>
          </a:bodyPr>
          <a:lstStyle/>
          <a:p>
            <a:pPr indent="0" lvl="0" marL="0" marR="0" rtl="0" algn="l">
              <a:lnSpc>
                <a:spcPct val="100000"/>
              </a:lnSpc>
              <a:spcBef>
                <a:spcPts val="0"/>
              </a:spcBef>
              <a:spcAft>
                <a:spcPts val="0"/>
              </a:spcAft>
              <a:buNone/>
            </a:pPr>
            <a:r>
              <a:rPr b="1" lang="de" sz="1150">
                <a:solidFill>
                  <a:srgbClr val="17242F"/>
                </a:solidFill>
                <a:latin typeface="Calibri"/>
                <a:ea typeface="Calibri"/>
                <a:cs typeface="Calibri"/>
                <a:sym typeface="Calibri"/>
              </a:rPr>
              <a:t>Frontend </a:t>
            </a:r>
            <a:r>
              <a:rPr b="1" i="0" lang="de" sz="1150" u="none" cap="none" strike="noStrike">
                <a:solidFill>
                  <a:srgbClr val="17242F"/>
                </a:solidFill>
                <a:latin typeface="Calibri"/>
                <a:ea typeface="Calibri"/>
                <a:cs typeface="Calibri"/>
                <a:sym typeface="Calibri"/>
              </a:rPr>
              <a:t>nutzt die Definition</a:t>
            </a:r>
            <a:endParaRPr/>
          </a:p>
          <a:p>
            <a:pPr indent="0" lvl="0" marL="0" marR="0" rtl="0" algn="l">
              <a:lnSpc>
                <a:spcPct val="100000"/>
              </a:lnSpc>
              <a:spcBef>
                <a:spcPts val="100"/>
              </a:spcBef>
              <a:spcAft>
                <a:spcPts val="0"/>
              </a:spcAft>
              <a:buNone/>
            </a:pPr>
            <a:r>
              <a:rPr b="0" i="0" lang="de" sz="900" u="none" cap="none" strike="noStrike">
                <a:solidFill>
                  <a:srgbClr val="5E6E7C"/>
                </a:solidFill>
                <a:latin typeface="Calibri"/>
                <a:ea typeface="Calibri"/>
                <a:cs typeface="Calibri"/>
                <a:sym typeface="Calibri"/>
              </a:rPr>
              <a:t>Default-Spalten, Config </a:t>
            </a:r>
            <a:r>
              <a:rPr lang="de" sz="900">
                <a:solidFill>
                  <a:srgbClr val="5E6E7C"/>
                </a:solidFill>
                <a:latin typeface="Calibri"/>
                <a:ea typeface="Calibri"/>
                <a:cs typeface="Calibri"/>
                <a:sym typeface="Calibri"/>
              </a:rPr>
              <a:t>und</a:t>
            </a:r>
            <a:r>
              <a:rPr b="0" i="0" lang="de" sz="900" u="none" cap="none" strike="noStrike">
                <a:solidFill>
                  <a:srgbClr val="5E6E7C"/>
                </a:solidFill>
                <a:latin typeface="Calibri"/>
                <a:ea typeface="Calibri"/>
                <a:cs typeface="Calibri"/>
                <a:sym typeface="Calibri"/>
              </a:rPr>
              <a:t> Schema greifen sofort</a:t>
            </a:r>
            <a:endParaRPr/>
          </a:p>
        </p:txBody>
      </p:sp>
      <p:sp>
        <p:nvSpPr>
          <p:cNvPr id="490" name="Google Shape;490;p27"/>
          <p:cNvSpPr/>
          <p:nvPr/>
        </p:nvSpPr>
        <p:spPr>
          <a:xfrm>
            <a:off x="5349240" y="1371600"/>
            <a:ext cx="3364992" cy="2359152"/>
          </a:xfrm>
          <a:prstGeom prst="roundRect">
            <a:avLst>
              <a:gd fmla="val 6000" name="adj"/>
            </a:avLst>
          </a:prstGeom>
          <a:solidFill>
            <a:srgbClr val="0E1B2A"/>
          </a:solidFill>
          <a:ln>
            <a:noFill/>
          </a:ln>
          <a:effectLst>
            <a:outerShdw blurRad="50800" rotWithShape="0" dir="5400000" dist="25400">
              <a:srgbClr val="17242F">
                <a:alpha val="1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27"/>
          <p:cNvSpPr txBox="1"/>
          <p:nvPr/>
        </p:nvSpPr>
        <p:spPr>
          <a:xfrm>
            <a:off x="5550407" y="1517904"/>
            <a:ext cx="29626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900" u="none" cap="none" strike="noStrike">
                <a:solidFill>
                  <a:srgbClr val="2EC4B6"/>
                </a:solidFill>
                <a:latin typeface="Calibri"/>
                <a:ea typeface="Calibri"/>
                <a:cs typeface="Calibri"/>
                <a:sym typeface="Calibri"/>
              </a:rPr>
              <a:t>EINE TYP-DEFINITION ENTHÄLT</a:t>
            </a:r>
            <a:endParaRPr/>
          </a:p>
        </p:txBody>
      </p:sp>
      <p:sp>
        <p:nvSpPr>
          <p:cNvPr id="492" name="Google Shape;492;p27"/>
          <p:cNvSpPr/>
          <p:nvPr/>
        </p:nvSpPr>
        <p:spPr>
          <a:xfrm>
            <a:off x="5550407" y="1847088"/>
            <a:ext cx="64008" cy="333756"/>
          </a:xfrm>
          <a:prstGeom prst="roundRect">
            <a:avLst>
              <a:gd fmla="val 0" name="adj"/>
            </a:avLst>
          </a:prstGeom>
          <a:solidFill>
            <a:srgbClr val="2EC4B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27"/>
          <p:cNvSpPr txBox="1"/>
          <p:nvPr/>
        </p:nvSpPr>
        <p:spPr>
          <a:xfrm>
            <a:off x="5715000" y="1828800"/>
            <a:ext cx="2816352" cy="4343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de" sz="1100" u="none" cap="none" strike="noStrike">
                <a:solidFill>
                  <a:srgbClr val="FFFFFF"/>
                </a:solidFill>
                <a:latin typeface="Calibri"/>
                <a:ea typeface="Calibri"/>
                <a:cs typeface="Calibri"/>
                <a:sym typeface="Calibri"/>
              </a:rPr>
              <a:t>Default-Spalten</a:t>
            </a:r>
            <a:endParaRPr/>
          </a:p>
          <a:p>
            <a:pPr indent="0" lvl="0" marL="0" marR="0" rtl="0" algn="l">
              <a:lnSpc>
                <a:spcPct val="100000"/>
              </a:lnSpc>
              <a:spcBef>
                <a:spcPts val="0"/>
              </a:spcBef>
              <a:spcAft>
                <a:spcPts val="0"/>
              </a:spcAft>
              <a:buNone/>
            </a:pPr>
            <a:r>
              <a:rPr b="0" i="0" lang="de" sz="900" u="none" cap="none" strike="noStrike">
                <a:solidFill>
                  <a:srgbClr val="9FB3C4"/>
                </a:solidFill>
                <a:latin typeface="Calibri"/>
                <a:ea typeface="Calibri"/>
                <a:cs typeface="Calibri"/>
                <a:sym typeface="Calibri"/>
              </a:rPr>
              <a:t>inkl. Status — z. B. To Do · Doing · Done</a:t>
            </a:r>
            <a:endParaRPr/>
          </a:p>
        </p:txBody>
      </p:sp>
      <p:sp>
        <p:nvSpPr>
          <p:cNvPr id="494" name="Google Shape;494;p27"/>
          <p:cNvSpPr/>
          <p:nvPr/>
        </p:nvSpPr>
        <p:spPr>
          <a:xfrm>
            <a:off x="5550407" y="2281428"/>
            <a:ext cx="64008" cy="333756"/>
          </a:xfrm>
          <a:prstGeom prst="roundRect">
            <a:avLst>
              <a:gd fmla="val 0" name="adj"/>
            </a:avLst>
          </a:prstGeom>
          <a:solidFill>
            <a:srgbClr val="2EC4B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27"/>
          <p:cNvSpPr txBox="1"/>
          <p:nvPr/>
        </p:nvSpPr>
        <p:spPr>
          <a:xfrm>
            <a:off x="5715000" y="2263140"/>
            <a:ext cx="2816352" cy="4343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de" sz="1100" u="none" cap="none" strike="noStrike">
                <a:solidFill>
                  <a:srgbClr val="FFFFFF"/>
                </a:solidFill>
                <a:latin typeface="Calibri"/>
                <a:ea typeface="Calibri"/>
                <a:cs typeface="Calibri"/>
                <a:sym typeface="Calibri"/>
              </a:rPr>
              <a:t>Default-Config</a:t>
            </a:r>
            <a:endParaRPr/>
          </a:p>
          <a:p>
            <a:pPr indent="0" lvl="0" marL="0" marR="0" rtl="0" algn="l">
              <a:lnSpc>
                <a:spcPct val="100000"/>
              </a:lnSpc>
              <a:spcBef>
                <a:spcPts val="0"/>
              </a:spcBef>
              <a:spcAft>
                <a:spcPts val="0"/>
              </a:spcAft>
              <a:buNone/>
            </a:pPr>
            <a:r>
              <a:rPr b="0" i="0" lang="de" sz="900" u="none" cap="none" strike="noStrike">
                <a:solidFill>
                  <a:srgbClr val="9FB3C4"/>
                </a:solidFill>
                <a:latin typeface="Calibri"/>
                <a:ea typeface="Calibri"/>
                <a:cs typeface="Calibri"/>
                <a:sym typeface="Calibri"/>
              </a:rPr>
              <a:t>typ-spezifische Grundeinstellung</a:t>
            </a:r>
            <a:endParaRPr/>
          </a:p>
        </p:txBody>
      </p:sp>
      <p:sp>
        <p:nvSpPr>
          <p:cNvPr id="496" name="Google Shape;496;p27"/>
          <p:cNvSpPr/>
          <p:nvPr/>
        </p:nvSpPr>
        <p:spPr>
          <a:xfrm>
            <a:off x="5550407" y="2715768"/>
            <a:ext cx="64008" cy="333756"/>
          </a:xfrm>
          <a:prstGeom prst="roundRect">
            <a:avLst>
              <a:gd fmla="val 0" name="adj"/>
            </a:avLst>
          </a:prstGeom>
          <a:solidFill>
            <a:srgbClr val="2EC4B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27"/>
          <p:cNvSpPr txBox="1"/>
          <p:nvPr/>
        </p:nvSpPr>
        <p:spPr>
          <a:xfrm>
            <a:off x="5715000" y="2697479"/>
            <a:ext cx="2816352" cy="4343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de" sz="1100" u="none" cap="none" strike="noStrike">
                <a:solidFill>
                  <a:srgbClr val="FFFFFF"/>
                </a:solidFill>
                <a:latin typeface="Calibri"/>
                <a:ea typeface="Calibri"/>
                <a:cs typeface="Calibri"/>
                <a:sym typeface="Calibri"/>
              </a:rPr>
              <a:t>Config-Schema</a:t>
            </a:r>
            <a:endParaRPr/>
          </a:p>
          <a:p>
            <a:pPr indent="0" lvl="0" marL="0" marR="0" rtl="0" algn="l">
              <a:lnSpc>
                <a:spcPct val="100000"/>
              </a:lnSpc>
              <a:spcBef>
                <a:spcPts val="0"/>
              </a:spcBef>
              <a:spcAft>
                <a:spcPts val="0"/>
              </a:spcAft>
              <a:buNone/>
            </a:pPr>
            <a:r>
              <a:rPr b="0" i="0" lang="de" sz="900" u="none" cap="none" strike="noStrike">
                <a:solidFill>
                  <a:srgbClr val="9FB3C4"/>
                </a:solidFill>
                <a:latin typeface="Calibri"/>
                <a:ea typeface="Calibri"/>
                <a:cs typeface="Calibri"/>
                <a:sym typeface="Calibri"/>
              </a:rPr>
              <a:t>JSON-Schema validiert jede Board-Config</a:t>
            </a:r>
            <a:endParaRPr/>
          </a:p>
        </p:txBody>
      </p:sp>
      <p:sp>
        <p:nvSpPr>
          <p:cNvPr id="498" name="Google Shape;498;p27"/>
          <p:cNvSpPr/>
          <p:nvPr/>
        </p:nvSpPr>
        <p:spPr>
          <a:xfrm>
            <a:off x="5550407" y="3150108"/>
            <a:ext cx="64008" cy="333756"/>
          </a:xfrm>
          <a:prstGeom prst="roundRect">
            <a:avLst>
              <a:gd fmla="val 0" name="adj"/>
            </a:avLst>
          </a:prstGeom>
          <a:solidFill>
            <a:srgbClr val="2EC4B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9" name="Google Shape;499;p27"/>
          <p:cNvSpPr txBox="1"/>
          <p:nvPr/>
        </p:nvSpPr>
        <p:spPr>
          <a:xfrm>
            <a:off x="5715000" y="3131820"/>
            <a:ext cx="2816352" cy="4343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de" sz="1100" u="none" cap="none" strike="noStrike">
                <a:solidFill>
                  <a:srgbClr val="FFFFFF"/>
                </a:solidFill>
                <a:latin typeface="Calibri"/>
                <a:ea typeface="Calibri"/>
                <a:cs typeface="Calibri"/>
                <a:sym typeface="Calibri"/>
              </a:rPr>
              <a:t>Presentation-Spec</a:t>
            </a:r>
            <a:endParaRPr/>
          </a:p>
          <a:p>
            <a:pPr indent="0" lvl="0" marL="0" marR="0" rtl="0" algn="l">
              <a:lnSpc>
                <a:spcPct val="100000"/>
              </a:lnSpc>
              <a:spcBef>
                <a:spcPts val="0"/>
              </a:spcBef>
              <a:spcAft>
                <a:spcPts val="0"/>
              </a:spcAft>
              <a:buNone/>
            </a:pPr>
            <a:r>
              <a:rPr b="0" i="0" lang="de" sz="900" u="none" cap="none" strike="noStrike">
                <a:solidFill>
                  <a:srgbClr val="9FB3C4"/>
                </a:solidFill>
                <a:latin typeface="Calibri"/>
                <a:ea typeface="Calibri"/>
                <a:cs typeface="Calibri"/>
                <a:sym typeface="Calibri"/>
              </a:rPr>
              <a:t>Render-Hint: board · calendar · timeline</a:t>
            </a:r>
            <a:endParaRPr/>
          </a:p>
        </p:txBody>
      </p:sp>
      <p:sp>
        <p:nvSpPr>
          <p:cNvPr id="500" name="Google Shape;500;p27"/>
          <p:cNvSpPr txBox="1"/>
          <p:nvPr/>
        </p:nvSpPr>
        <p:spPr>
          <a:xfrm>
            <a:off x="5349240" y="3858768"/>
            <a:ext cx="3365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de" sz="900">
                <a:solidFill>
                  <a:srgbClr val="5E6E7C"/>
                </a:solidFill>
                <a:latin typeface="Calibri"/>
                <a:ea typeface="Calibri"/>
                <a:cs typeface="Calibri"/>
                <a:sym typeface="Calibri"/>
              </a:rPr>
              <a:t>Mögliche Erweiterung</a:t>
            </a:r>
            <a:endParaRPr/>
          </a:p>
        </p:txBody>
      </p:sp>
      <p:sp>
        <p:nvSpPr>
          <p:cNvPr id="501" name="Google Shape;501;p27"/>
          <p:cNvSpPr/>
          <p:nvPr/>
        </p:nvSpPr>
        <p:spPr>
          <a:xfrm>
            <a:off x="5349259" y="4078225"/>
            <a:ext cx="3063000" cy="502800"/>
          </a:xfrm>
          <a:prstGeom prst="roundRect">
            <a:avLst>
              <a:gd fmla="val 12000" name="adj"/>
            </a:avLst>
          </a:prstGeom>
          <a:solidFill>
            <a:srgbClr val="F4F7FA"/>
          </a:solidFill>
          <a:ln cap="flat" cmpd="sng" w="12700">
            <a:solidFill>
              <a:srgbClr val="D7E0E8"/>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100"/>
              </a:spcBef>
              <a:spcAft>
                <a:spcPts val="0"/>
              </a:spcAft>
              <a:buNone/>
            </a:pPr>
            <a:r>
              <a:rPr lang="de" sz="1000"/>
              <a:t>User </a:t>
            </a:r>
            <a:r>
              <a:rPr lang="de" sz="1000"/>
              <a:t>definierte Views </a:t>
            </a:r>
            <a:br>
              <a:rPr lang="de" sz="1000"/>
            </a:br>
            <a:r>
              <a:rPr lang="de" sz="1000"/>
              <a:t>(mit starker Integritäts Prüfung verbunden)</a:t>
            </a:r>
            <a:endParaRPr sz="1000"/>
          </a:p>
        </p:txBody>
      </p:sp>
      <p:sp>
        <p:nvSpPr>
          <p:cNvPr id="502" name="Google Shape;502;p27"/>
          <p:cNvSpPr/>
          <p:nvPr/>
        </p:nvSpPr>
        <p:spPr>
          <a:xfrm>
            <a:off x="425196" y="4681728"/>
            <a:ext cx="8293608" cy="384048"/>
          </a:xfrm>
          <a:prstGeom prst="roundRect">
            <a:avLst>
              <a:gd fmla="val 14000" name="adj"/>
            </a:avLst>
          </a:prstGeom>
          <a:solidFill>
            <a:srgbClr val="E4ED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de" sz="1050" u="none" cap="none" strike="noStrike">
                <a:solidFill>
                  <a:srgbClr val="17242F"/>
                </a:solidFill>
                <a:latin typeface="Calibri"/>
                <a:ea typeface="Calibri"/>
                <a:cs typeface="Calibri"/>
                <a:sym typeface="Calibri"/>
              </a:rPr>
              <a:t>Abgrenzung:  </a:t>
            </a:r>
            <a:r>
              <a:rPr b="0" i="0" lang="de" sz="1050" u="none" cap="none" strike="noStrike">
                <a:solidFill>
                  <a:srgbClr val="5E6E7C"/>
                </a:solidFill>
                <a:latin typeface="Calibri"/>
                <a:ea typeface="Calibri"/>
                <a:cs typeface="Calibri"/>
                <a:sym typeface="Calibri"/>
              </a:rPr>
              <a:t>Die Registry hält Typ-</a:t>
            </a:r>
            <a:r>
              <a:rPr i="0" lang="de" sz="1050" u="none" cap="none" strike="noStrike">
                <a:solidFill>
                  <a:srgbClr val="5E6E7C"/>
                </a:solidFill>
                <a:latin typeface="Calibri"/>
                <a:ea typeface="Calibri"/>
                <a:cs typeface="Calibri"/>
                <a:sym typeface="Calibri"/>
              </a:rPr>
              <a:t>Definitionen</a:t>
            </a:r>
            <a:r>
              <a:rPr lang="de" sz="1050">
                <a:solidFill>
                  <a:srgbClr val="5E6E7C"/>
                </a:solidFill>
                <a:latin typeface="Calibri"/>
                <a:ea typeface="Calibri"/>
                <a:cs typeface="Calibri"/>
                <a:sym typeface="Calibri"/>
              </a:rPr>
              <a:t>. </a:t>
            </a:r>
            <a:r>
              <a:rPr b="0" i="0" lang="de" sz="1050" u="none" cap="none" strike="noStrike">
                <a:solidFill>
                  <a:srgbClr val="5E6E7C"/>
                </a:solidFill>
                <a:latin typeface="Calibri"/>
                <a:ea typeface="Calibri"/>
                <a:cs typeface="Calibri"/>
                <a:sym typeface="Calibri"/>
              </a:rPr>
              <a:t>Board-</a:t>
            </a:r>
            <a:r>
              <a:rPr lang="de" sz="1050">
                <a:solidFill>
                  <a:srgbClr val="5E6E7C"/>
                </a:solidFill>
                <a:latin typeface="Calibri"/>
                <a:ea typeface="Calibri"/>
                <a:cs typeface="Calibri"/>
                <a:sym typeface="Calibri"/>
              </a:rPr>
              <a:t>Instanzen</a:t>
            </a:r>
            <a:r>
              <a:rPr b="0" i="0" lang="de" sz="1050" u="none" cap="none" strike="noStrike">
                <a:solidFill>
                  <a:srgbClr val="5E6E7C"/>
                </a:solidFill>
                <a:latin typeface="Calibri"/>
                <a:ea typeface="Calibri"/>
                <a:cs typeface="Calibri"/>
                <a:sym typeface="Calibri"/>
              </a:rPr>
              <a:t> bleiben </a:t>
            </a:r>
            <a:r>
              <a:rPr lang="de" sz="1050">
                <a:solidFill>
                  <a:srgbClr val="5E6E7C"/>
                </a:solidFill>
                <a:latin typeface="Calibri"/>
                <a:ea typeface="Calibri"/>
                <a:cs typeface="Calibri"/>
                <a:sym typeface="Calibri"/>
              </a:rPr>
              <a:t>liegen im </a:t>
            </a:r>
            <a:r>
              <a:rPr b="0" i="0" lang="de" sz="1050" u="none" cap="none" strike="noStrike">
                <a:solidFill>
                  <a:srgbClr val="5E6E7C"/>
                </a:solidFill>
                <a:latin typeface="Calibri"/>
                <a:ea typeface="Calibri"/>
                <a:cs typeface="Calibri"/>
                <a:sym typeface="Calibri"/>
              </a:rPr>
              <a:t>Project-Service.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28"/>
          <p:cNvSpPr txBox="1"/>
          <p:nvPr/>
        </p:nvSpPr>
        <p:spPr>
          <a:xfrm>
            <a:off x="425196" y="288036"/>
            <a:ext cx="7772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900" u="none" cap="none" strike="noStrike">
                <a:solidFill>
                  <a:srgbClr val="1C7293"/>
                </a:solidFill>
                <a:latin typeface="Calibri"/>
                <a:ea typeface="Calibri"/>
                <a:cs typeface="Calibri"/>
                <a:sym typeface="Calibri"/>
              </a:rPr>
              <a:t>ENTWURF · </a:t>
            </a:r>
            <a:r>
              <a:rPr b="1" lang="de" sz="900">
                <a:solidFill>
                  <a:srgbClr val="1C7293"/>
                </a:solidFill>
                <a:latin typeface="Calibri"/>
                <a:ea typeface="Calibri"/>
                <a:cs typeface="Calibri"/>
                <a:sym typeface="Calibri"/>
              </a:rPr>
              <a:t>PLU</a:t>
            </a:r>
            <a:r>
              <a:rPr b="1" lang="de" sz="900">
                <a:solidFill>
                  <a:srgbClr val="1C7293"/>
                </a:solidFill>
                <a:latin typeface="Calibri"/>
                <a:ea typeface="Calibri"/>
                <a:cs typeface="Calibri"/>
                <a:sym typeface="Calibri"/>
              </a:rPr>
              <a:t>GIN</a:t>
            </a:r>
            <a:r>
              <a:rPr b="1" i="0" lang="de" sz="900" u="none" cap="none" strike="noStrike">
                <a:solidFill>
                  <a:srgbClr val="1C7293"/>
                </a:solidFill>
                <a:latin typeface="Calibri"/>
                <a:ea typeface="Calibri"/>
                <a:cs typeface="Calibri"/>
                <a:sym typeface="Calibri"/>
              </a:rPr>
              <a:t>-SERVICE</a:t>
            </a:r>
            <a:endParaRPr/>
          </a:p>
        </p:txBody>
      </p:sp>
      <p:sp>
        <p:nvSpPr>
          <p:cNvPr id="508" name="Google Shape;508;p28"/>
          <p:cNvSpPr txBox="1"/>
          <p:nvPr/>
        </p:nvSpPr>
        <p:spPr>
          <a:xfrm>
            <a:off x="425196" y="493776"/>
            <a:ext cx="82935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2300" u="none" cap="none" strike="noStrike">
                <a:solidFill>
                  <a:srgbClr val="17242F"/>
                </a:solidFill>
                <a:latin typeface="Calibri"/>
                <a:ea typeface="Calibri"/>
                <a:cs typeface="Calibri"/>
                <a:sym typeface="Calibri"/>
              </a:rPr>
              <a:t>Der </a:t>
            </a:r>
            <a:r>
              <a:rPr b="1" lang="de" sz="2300">
                <a:solidFill>
                  <a:srgbClr val="17242F"/>
                </a:solidFill>
                <a:latin typeface="Calibri"/>
                <a:ea typeface="Calibri"/>
                <a:cs typeface="Calibri"/>
                <a:sym typeface="Calibri"/>
              </a:rPr>
              <a:t>Plugin</a:t>
            </a:r>
            <a:r>
              <a:rPr b="1" i="0" lang="de" sz="2300" u="none" cap="none" strike="noStrike">
                <a:solidFill>
                  <a:srgbClr val="17242F"/>
                </a:solidFill>
                <a:latin typeface="Calibri"/>
                <a:ea typeface="Calibri"/>
                <a:cs typeface="Calibri"/>
                <a:sym typeface="Calibri"/>
              </a:rPr>
              <a:t>-Service</a:t>
            </a:r>
            <a:endParaRPr/>
          </a:p>
        </p:txBody>
      </p:sp>
      <p:sp>
        <p:nvSpPr>
          <p:cNvPr id="509" name="Google Shape;509;p28"/>
          <p:cNvSpPr txBox="1"/>
          <p:nvPr/>
        </p:nvSpPr>
        <p:spPr>
          <a:xfrm>
            <a:off x="425196" y="969264"/>
            <a:ext cx="8293500" cy="177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de" sz="1150">
                <a:solidFill>
                  <a:srgbClr val="5E6E7C"/>
                </a:solidFill>
                <a:latin typeface="Calibri"/>
                <a:ea typeface="Calibri"/>
                <a:cs typeface="Calibri"/>
                <a:sym typeface="Calibri"/>
              </a:rPr>
              <a:t>Ein Erweiterungspunkt für ausgehende Integrationen: je Kanal ein Plugin, ohne dass ein Domain-Service den Empfänger kennt. </a:t>
            </a:r>
            <a:endParaRPr/>
          </a:p>
        </p:txBody>
      </p:sp>
      <p:sp>
        <p:nvSpPr>
          <p:cNvPr id="510" name="Google Shape;510;p28"/>
          <p:cNvSpPr/>
          <p:nvPr/>
        </p:nvSpPr>
        <p:spPr>
          <a:xfrm>
            <a:off x="434340" y="1783080"/>
            <a:ext cx="1371600" cy="914400"/>
          </a:xfrm>
          <a:prstGeom prst="roundRect">
            <a:avLst>
              <a:gd fmla="val 10000" name="adj"/>
            </a:avLst>
          </a:prstGeom>
          <a:solidFill>
            <a:srgbClr val="134E63"/>
          </a:solidFill>
          <a:ln>
            <a:noFill/>
          </a:ln>
          <a:effectLst>
            <a:outerShdw blurRad="50800" rotWithShape="0" dir="5400000" dist="25400">
              <a:srgbClr val="17242F">
                <a:alpha val="16078"/>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None/>
            </a:pPr>
            <a:r>
              <a:rPr b="1" i="0" lang="de" sz="1200" u="none" cap="none" strike="noStrike">
                <a:solidFill>
                  <a:srgbClr val="FFFFFF"/>
                </a:solidFill>
                <a:latin typeface="Calibri"/>
                <a:ea typeface="Calibri"/>
                <a:cs typeface="Calibri"/>
                <a:sym typeface="Calibri"/>
              </a:rPr>
              <a:t>Event-Bus</a:t>
            </a:r>
            <a:endParaRPr/>
          </a:p>
          <a:p>
            <a:pPr indent="0" lvl="0" marL="0" marR="0" rtl="0" algn="ctr">
              <a:lnSpc>
                <a:spcPct val="100000"/>
              </a:lnSpc>
              <a:spcBef>
                <a:spcPts val="200"/>
              </a:spcBef>
              <a:spcAft>
                <a:spcPts val="0"/>
              </a:spcAft>
              <a:buNone/>
            </a:pPr>
            <a:r>
              <a:rPr b="0" i="0" lang="de" sz="900" u="none" cap="none" strike="noStrike">
                <a:solidFill>
                  <a:srgbClr val="BFD8E2"/>
                </a:solidFill>
                <a:latin typeface="Calibri"/>
                <a:ea typeface="Calibri"/>
                <a:cs typeface="Calibri"/>
                <a:sym typeface="Calibri"/>
              </a:rPr>
              <a:t>teamboard.events</a:t>
            </a:r>
            <a:endParaRPr/>
          </a:p>
        </p:txBody>
      </p:sp>
      <p:sp>
        <p:nvSpPr>
          <p:cNvPr id="511" name="Google Shape;511;p28"/>
          <p:cNvSpPr/>
          <p:nvPr/>
        </p:nvSpPr>
        <p:spPr>
          <a:xfrm>
            <a:off x="2080260" y="1783080"/>
            <a:ext cx="1417320" cy="914400"/>
          </a:xfrm>
          <a:prstGeom prst="roundRect">
            <a:avLst>
              <a:gd fmla="val 10000" name="adj"/>
            </a:avLst>
          </a:prstGeom>
          <a:solidFill>
            <a:srgbClr val="F4F7FA"/>
          </a:solidFill>
          <a:ln cap="flat" cmpd="sng" w="12700">
            <a:solidFill>
              <a:srgbClr val="D7E0E8"/>
            </a:solidFill>
            <a:prstDash val="solid"/>
            <a:round/>
            <a:headEnd len="sm" w="sm" type="none"/>
            <a:tailEnd len="sm" w="sm" type="none"/>
          </a:ln>
          <a:effectLst>
            <a:outerShdw blurRad="50800" rotWithShape="0" dir="5400000" dist="25400">
              <a:srgbClr val="17242F">
                <a:alpha val="16078"/>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None/>
            </a:pPr>
            <a:r>
              <a:rPr b="1" i="0" lang="de" sz="1250" u="none" cap="none" strike="noStrike">
                <a:solidFill>
                  <a:srgbClr val="17242F"/>
                </a:solidFill>
                <a:latin typeface="Calibri"/>
                <a:ea typeface="Calibri"/>
                <a:cs typeface="Calibri"/>
                <a:sym typeface="Calibri"/>
              </a:rPr>
              <a:t>Filtern</a:t>
            </a:r>
            <a:endParaRPr/>
          </a:p>
          <a:p>
            <a:pPr indent="0" lvl="0" marL="0" marR="0" rtl="0" algn="ctr">
              <a:lnSpc>
                <a:spcPct val="100000"/>
              </a:lnSpc>
              <a:spcBef>
                <a:spcPts val="300"/>
              </a:spcBef>
              <a:spcAft>
                <a:spcPts val="0"/>
              </a:spcAft>
              <a:buNone/>
            </a:pPr>
            <a:r>
              <a:rPr b="0" i="0" lang="de" sz="900" u="none" cap="none" strike="noStrike">
                <a:solidFill>
                  <a:srgbClr val="5E6E7C"/>
                </a:solidFill>
                <a:latin typeface="Calibri"/>
                <a:ea typeface="Calibri"/>
                <a:cs typeface="Calibri"/>
                <a:sym typeface="Calibri"/>
              </a:rPr>
              <a:t>Event-Typen je </a:t>
            </a:r>
            <a:r>
              <a:rPr lang="de" sz="900">
                <a:solidFill>
                  <a:srgbClr val="5E6E7C"/>
                </a:solidFill>
                <a:latin typeface="Calibri"/>
                <a:ea typeface="Calibri"/>
                <a:cs typeface="Calibri"/>
                <a:sym typeface="Calibri"/>
              </a:rPr>
              <a:t>Plugin</a:t>
            </a:r>
            <a:endParaRPr/>
          </a:p>
        </p:txBody>
      </p:sp>
      <p:sp>
        <p:nvSpPr>
          <p:cNvPr id="512" name="Google Shape;512;p28"/>
          <p:cNvSpPr/>
          <p:nvPr/>
        </p:nvSpPr>
        <p:spPr>
          <a:xfrm>
            <a:off x="3771900" y="1783080"/>
            <a:ext cx="1417320" cy="914400"/>
          </a:xfrm>
          <a:prstGeom prst="roundRect">
            <a:avLst>
              <a:gd fmla="val 10000" name="adj"/>
            </a:avLst>
          </a:prstGeom>
          <a:solidFill>
            <a:srgbClr val="F4F7FA"/>
          </a:solidFill>
          <a:ln cap="flat" cmpd="sng" w="12700">
            <a:solidFill>
              <a:srgbClr val="D7E0E8"/>
            </a:solidFill>
            <a:prstDash val="solid"/>
            <a:round/>
            <a:headEnd len="sm" w="sm" type="none"/>
            <a:tailEnd len="sm" w="sm" type="none"/>
          </a:ln>
          <a:effectLst>
            <a:outerShdw blurRad="50800" rotWithShape="0" dir="5400000" dist="25400">
              <a:srgbClr val="17242F">
                <a:alpha val="16078"/>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None/>
            </a:pPr>
            <a:r>
              <a:rPr b="1" lang="de" sz="1250">
                <a:solidFill>
                  <a:srgbClr val="17242F"/>
                </a:solidFill>
                <a:latin typeface="Calibri"/>
                <a:ea typeface="Calibri"/>
                <a:cs typeface="Calibri"/>
                <a:sym typeface="Calibri"/>
              </a:rPr>
              <a:t>Aufbereiten</a:t>
            </a:r>
            <a:endParaRPr/>
          </a:p>
          <a:p>
            <a:pPr indent="0" lvl="0" marL="0" marR="0" rtl="0" algn="ctr">
              <a:lnSpc>
                <a:spcPct val="100000"/>
              </a:lnSpc>
              <a:spcBef>
                <a:spcPts val="300"/>
              </a:spcBef>
              <a:spcAft>
                <a:spcPts val="0"/>
              </a:spcAft>
              <a:buNone/>
            </a:pPr>
            <a:r>
              <a:rPr lang="de" sz="900">
                <a:solidFill>
                  <a:srgbClr val="5E6E7C"/>
                </a:solidFill>
                <a:latin typeface="Calibri"/>
                <a:ea typeface="Calibri"/>
                <a:cs typeface="Calibri"/>
                <a:sym typeface="Calibri"/>
              </a:rPr>
              <a:t>In Zielformat übertragen</a:t>
            </a:r>
            <a:endParaRPr/>
          </a:p>
        </p:txBody>
      </p:sp>
      <p:sp>
        <p:nvSpPr>
          <p:cNvPr id="513" name="Google Shape;513;p28"/>
          <p:cNvSpPr/>
          <p:nvPr/>
        </p:nvSpPr>
        <p:spPr>
          <a:xfrm>
            <a:off x="5463540" y="1783080"/>
            <a:ext cx="1417320" cy="914400"/>
          </a:xfrm>
          <a:prstGeom prst="roundRect">
            <a:avLst>
              <a:gd fmla="val 10000" name="adj"/>
            </a:avLst>
          </a:prstGeom>
          <a:solidFill>
            <a:srgbClr val="F4F7FA"/>
          </a:solidFill>
          <a:ln cap="flat" cmpd="sng" w="12700">
            <a:solidFill>
              <a:srgbClr val="D7E0E8"/>
            </a:solidFill>
            <a:prstDash val="solid"/>
            <a:round/>
            <a:headEnd len="sm" w="sm" type="none"/>
            <a:tailEnd len="sm" w="sm" type="none"/>
          </a:ln>
          <a:effectLst>
            <a:outerShdw blurRad="50800" rotWithShape="0" dir="5400000" dist="25400">
              <a:srgbClr val="17242F">
                <a:alpha val="16078"/>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None/>
            </a:pPr>
            <a:r>
              <a:rPr b="1" i="0" lang="de" sz="1250" u="none" cap="none" strike="noStrike">
                <a:solidFill>
                  <a:srgbClr val="17242F"/>
                </a:solidFill>
                <a:latin typeface="Calibri"/>
                <a:ea typeface="Calibri"/>
                <a:cs typeface="Calibri"/>
                <a:sym typeface="Calibri"/>
              </a:rPr>
              <a:t>Zustellen</a:t>
            </a:r>
            <a:endParaRPr/>
          </a:p>
          <a:p>
            <a:pPr indent="0" lvl="0" marL="0" marR="0" rtl="0" algn="ctr">
              <a:lnSpc>
                <a:spcPct val="100000"/>
              </a:lnSpc>
              <a:spcBef>
                <a:spcPts val="300"/>
              </a:spcBef>
              <a:spcAft>
                <a:spcPts val="0"/>
              </a:spcAft>
              <a:buNone/>
            </a:pPr>
            <a:r>
              <a:rPr b="0" i="0" lang="de" sz="900" u="none" cap="none" strike="noStrike">
                <a:solidFill>
                  <a:srgbClr val="5E6E7C"/>
                </a:solidFill>
                <a:latin typeface="Calibri"/>
                <a:ea typeface="Calibri"/>
                <a:cs typeface="Calibri"/>
                <a:sym typeface="Calibri"/>
              </a:rPr>
              <a:t>HTTP POST</a:t>
            </a:r>
            <a:endParaRPr/>
          </a:p>
        </p:txBody>
      </p:sp>
      <p:sp>
        <p:nvSpPr>
          <p:cNvPr id="514" name="Google Shape;514;p28"/>
          <p:cNvSpPr/>
          <p:nvPr/>
        </p:nvSpPr>
        <p:spPr>
          <a:xfrm>
            <a:off x="7155179" y="1783080"/>
            <a:ext cx="1554480" cy="914400"/>
          </a:xfrm>
          <a:prstGeom prst="roundRect">
            <a:avLst>
              <a:gd fmla="val 10000" name="adj"/>
            </a:avLst>
          </a:prstGeom>
          <a:solidFill>
            <a:srgbClr val="E4EDF3"/>
          </a:solidFill>
          <a:ln cap="flat" cmpd="sng" w="15875">
            <a:solidFill>
              <a:srgbClr val="9FB3C4"/>
            </a:solidFill>
            <a:prstDash val="dash"/>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None/>
            </a:pPr>
            <a:r>
              <a:rPr b="1" i="0" lang="de" sz="1200" u="none" cap="none" strike="noStrike">
                <a:solidFill>
                  <a:srgbClr val="17242F"/>
                </a:solidFill>
                <a:latin typeface="Calibri"/>
                <a:ea typeface="Calibri"/>
                <a:cs typeface="Calibri"/>
                <a:sym typeface="Calibri"/>
              </a:rPr>
              <a:t>Externes</a:t>
            </a:r>
            <a:endParaRPr/>
          </a:p>
          <a:p>
            <a:pPr indent="0" lvl="0" marL="0" marR="0" rtl="0" algn="ctr">
              <a:lnSpc>
                <a:spcPct val="100000"/>
              </a:lnSpc>
              <a:spcBef>
                <a:spcPts val="0"/>
              </a:spcBef>
              <a:spcAft>
                <a:spcPts val="0"/>
              </a:spcAft>
              <a:buNone/>
            </a:pPr>
            <a:r>
              <a:rPr b="1" i="0" lang="de" sz="1200" u="none" cap="none" strike="noStrike">
                <a:solidFill>
                  <a:srgbClr val="17242F"/>
                </a:solidFill>
                <a:latin typeface="Calibri"/>
                <a:ea typeface="Calibri"/>
                <a:cs typeface="Calibri"/>
                <a:sym typeface="Calibri"/>
              </a:rPr>
              <a:t>System</a:t>
            </a:r>
            <a:endParaRPr/>
          </a:p>
        </p:txBody>
      </p:sp>
      <p:cxnSp>
        <p:nvCxnSpPr>
          <p:cNvPr id="515" name="Google Shape;515;p28"/>
          <p:cNvCxnSpPr/>
          <p:nvPr/>
        </p:nvCxnSpPr>
        <p:spPr>
          <a:xfrm>
            <a:off x="1805940" y="2240280"/>
            <a:ext cx="274320" cy="0"/>
          </a:xfrm>
          <a:prstGeom prst="straightConnector1">
            <a:avLst/>
          </a:prstGeom>
          <a:noFill/>
          <a:ln cap="flat" cmpd="sng" w="25400">
            <a:solidFill>
              <a:srgbClr val="1C7293"/>
            </a:solidFill>
            <a:prstDash val="solid"/>
            <a:round/>
            <a:headEnd len="sm" w="sm" type="none"/>
            <a:tailEnd len="med" w="med" type="triangle"/>
          </a:ln>
        </p:spPr>
      </p:cxnSp>
      <p:cxnSp>
        <p:nvCxnSpPr>
          <p:cNvPr id="516" name="Google Shape;516;p28"/>
          <p:cNvCxnSpPr/>
          <p:nvPr/>
        </p:nvCxnSpPr>
        <p:spPr>
          <a:xfrm>
            <a:off x="3497580" y="2240280"/>
            <a:ext cx="274320" cy="0"/>
          </a:xfrm>
          <a:prstGeom prst="straightConnector1">
            <a:avLst/>
          </a:prstGeom>
          <a:noFill/>
          <a:ln cap="flat" cmpd="sng" w="25400">
            <a:solidFill>
              <a:srgbClr val="1C7293"/>
            </a:solidFill>
            <a:prstDash val="solid"/>
            <a:round/>
            <a:headEnd len="sm" w="sm" type="none"/>
            <a:tailEnd len="med" w="med" type="triangle"/>
          </a:ln>
        </p:spPr>
      </p:cxnSp>
      <p:cxnSp>
        <p:nvCxnSpPr>
          <p:cNvPr id="517" name="Google Shape;517;p28"/>
          <p:cNvCxnSpPr/>
          <p:nvPr/>
        </p:nvCxnSpPr>
        <p:spPr>
          <a:xfrm>
            <a:off x="5189220" y="2240280"/>
            <a:ext cx="274320" cy="0"/>
          </a:xfrm>
          <a:prstGeom prst="straightConnector1">
            <a:avLst/>
          </a:prstGeom>
          <a:noFill/>
          <a:ln cap="flat" cmpd="sng" w="25400">
            <a:solidFill>
              <a:srgbClr val="1C7293"/>
            </a:solidFill>
            <a:prstDash val="solid"/>
            <a:round/>
            <a:headEnd len="sm" w="sm" type="none"/>
            <a:tailEnd len="med" w="med" type="triangle"/>
          </a:ln>
        </p:spPr>
      </p:cxnSp>
      <p:cxnSp>
        <p:nvCxnSpPr>
          <p:cNvPr id="518" name="Google Shape;518;p28"/>
          <p:cNvCxnSpPr/>
          <p:nvPr/>
        </p:nvCxnSpPr>
        <p:spPr>
          <a:xfrm>
            <a:off x="6880859" y="2240280"/>
            <a:ext cx="274320" cy="0"/>
          </a:xfrm>
          <a:prstGeom prst="straightConnector1">
            <a:avLst/>
          </a:prstGeom>
          <a:noFill/>
          <a:ln cap="flat" cmpd="sng" w="25400">
            <a:solidFill>
              <a:srgbClr val="1C7293"/>
            </a:solidFill>
            <a:prstDash val="solid"/>
            <a:round/>
            <a:headEnd len="sm" w="sm" type="none"/>
            <a:tailEnd len="med" w="med" type="triangle"/>
          </a:ln>
        </p:spPr>
      </p:cxnSp>
      <p:cxnSp>
        <p:nvCxnSpPr>
          <p:cNvPr id="519" name="Google Shape;519;p28"/>
          <p:cNvCxnSpPr/>
          <p:nvPr/>
        </p:nvCxnSpPr>
        <p:spPr>
          <a:xfrm>
            <a:off x="7018019" y="1618488"/>
            <a:ext cx="0" cy="1243584"/>
          </a:xfrm>
          <a:prstGeom prst="straightConnector1">
            <a:avLst/>
          </a:prstGeom>
          <a:noFill/>
          <a:ln cap="flat" cmpd="sng" w="15875">
            <a:solidFill>
              <a:srgbClr val="9FB3C4"/>
            </a:solidFill>
            <a:prstDash val="dash"/>
            <a:round/>
            <a:headEnd len="sm" w="sm" type="none"/>
            <a:tailEnd len="sm" w="sm" type="none"/>
          </a:ln>
        </p:spPr>
      </p:cxnSp>
      <p:sp>
        <p:nvSpPr>
          <p:cNvPr id="520" name="Google Shape;520;p28"/>
          <p:cNvSpPr txBox="1"/>
          <p:nvPr/>
        </p:nvSpPr>
        <p:spPr>
          <a:xfrm>
            <a:off x="6377939" y="1399032"/>
            <a:ext cx="1280160" cy="20116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1" lang="de" sz="850" u="none" cap="none" strike="noStrike">
                <a:solidFill>
                  <a:srgbClr val="9FB3C4"/>
                </a:solidFill>
                <a:latin typeface="Calibri"/>
                <a:ea typeface="Calibri"/>
                <a:cs typeface="Calibri"/>
                <a:sym typeface="Calibri"/>
              </a:rPr>
              <a:t>Systemgrenze</a:t>
            </a:r>
            <a:endParaRPr/>
          </a:p>
        </p:txBody>
      </p:sp>
      <p:sp>
        <p:nvSpPr>
          <p:cNvPr id="521" name="Google Shape;521;p28"/>
          <p:cNvSpPr/>
          <p:nvPr/>
        </p:nvSpPr>
        <p:spPr>
          <a:xfrm>
            <a:off x="425200" y="3566151"/>
            <a:ext cx="8293500" cy="914400"/>
          </a:xfrm>
          <a:prstGeom prst="roundRect">
            <a:avLst>
              <a:gd fmla="val 6000" name="adj"/>
            </a:avLst>
          </a:prstGeom>
          <a:solidFill>
            <a:srgbClr val="0E1B2A"/>
          </a:solidFill>
          <a:ln>
            <a:noFill/>
          </a:ln>
          <a:effectLst>
            <a:outerShdw blurRad="50800" rotWithShape="0" dir="5400000" dist="25400">
              <a:srgbClr val="17242F">
                <a:alpha val="1607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28"/>
          <p:cNvSpPr/>
          <p:nvPr/>
        </p:nvSpPr>
        <p:spPr>
          <a:xfrm>
            <a:off x="4572000" y="3858768"/>
            <a:ext cx="18288" cy="457200"/>
          </a:xfrm>
          <a:prstGeom prst="roundRect">
            <a:avLst>
              <a:gd fmla="val 0" name="adj"/>
            </a:avLst>
          </a:prstGeom>
          <a:solidFill>
            <a:srgbClr val="2A3A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28"/>
          <p:cNvSpPr txBox="1"/>
          <p:nvPr/>
        </p:nvSpPr>
        <p:spPr>
          <a:xfrm>
            <a:off x="617255" y="3770443"/>
            <a:ext cx="3794700" cy="50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1200" u="none" cap="none" strike="noStrike">
                <a:solidFill>
                  <a:srgbClr val="FFFFFF"/>
                </a:solidFill>
                <a:latin typeface="Calibri"/>
                <a:ea typeface="Calibri"/>
                <a:cs typeface="Calibri"/>
                <a:sym typeface="Calibri"/>
              </a:rPr>
              <a:t>Output-Adapter · Plugin-Muster</a:t>
            </a:r>
            <a:endParaRPr/>
          </a:p>
          <a:p>
            <a:pPr indent="0" lvl="0" marL="0" marR="0" rtl="0" algn="l">
              <a:lnSpc>
                <a:spcPct val="102000"/>
              </a:lnSpc>
              <a:spcBef>
                <a:spcPts val="200"/>
              </a:spcBef>
              <a:spcAft>
                <a:spcPts val="0"/>
              </a:spcAft>
              <a:buNone/>
            </a:pPr>
            <a:r>
              <a:rPr b="0" i="0" lang="de" sz="950" u="none" cap="none" strike="noStrike">
                <a:solidFill>
                  <a:srgbClr val="9FB3C4"/>
                </a:solidFill>
                <a:latin typeface="Calibri"/>
                <a:ea typeface="Calibri"/>
                <a:cs typeface="Calibri"/>
                <a:sym typeface="Calibri"/>
              </a:rPr>
              <a:t>Domain-Event </a:t>
            </a:r>
            <a:r>
              <a:rPr lang="de" sz="950">
                <a:solidFill>
                  <a:srgbClr val="9FB3C4"/>
                </a:solidFill>
                <a:latin typeface="Calibri"/>
                <a:ea typeface="Calibri"/>
                <a:cs typeface="Calibri"/>
                <a:sym typeface="Calibri"/>
              </a:rPr>
              <a:t>-&gt;</a:t>
            </a:r>
            <a:r>
              <a:rPr b="0" i="0" lang="de" sz="950" u="none" cap="none" strike="noStrike">
                <a:solidFill>
                  <a:srgbClr val="9FB3C4"/>
                </a:solidFill>
                <a:latin typeface="Calibri"/>
                <a:ea typeface="Calibri"/>
                <a:cs typeface="Calibri"/>
                <a:sym typeface="Calibri"/>
              </a:rPr>
              <a:t> externe Aktion. webhook ist der erste Typ; slack, teams, email wären weitere.</a:t>
            </a:r>
            <a:endParaRPr/>
          </a:p>
        </p:txBody>
      </p:sp>
      <p:sp>
        <p:nvSpPr>
          <p:cNvPr id="524" name="Google Shape;524;p28"/>
          <p:cNvSpPr txBox="1"/>
          <p:nvPr/>
        </p:nvSpPr>
        <p:spPr>
          <a:xfrm>
            <a:off x="4732055" y="3770443"/>
            <a:ext cx="3794700" cy="35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1200" u="none" cap="none" strike="noStrike">
                <a:solidFill>
                  <a:srgbClr val="FFFFFF"/>
                </a:solidFill>
                <a:latin typeface="Calibri"/>
                <a:ea typeface="Calibri"/>
                <a:cs typeface="Calibri"/>
                <a:sym typeface="Calibri"/>
              </a:rPr>
              <a:t>Ereignisgetriebene Erweiterbarkeit</a:t>
            </a:r>
            <a:endParaRPr/>
          </a:p>
          <a:p>
            <a:pPr indent="0" lvl="0" marL="0" marR="0" rtl="0" algn="l">
              <a:lnSpc>
                <a:spcPct val="102000"/>
              </a:lnSpc>
              <a:spcBef>
                <a:spcPts val="200"/>
              </a:spcBef>
              <a:spcAft>
                <a:spcPts val="0"/>
              </a:spcAft>
              <a:buNone/>
            </a:pPr>
            <a:r>
              <a:rPr b="0" i="0" lang="de" sz="950" u="none" cap="none" strike="noStrike">
                <a:solidFill>
                  <a:srgbClr val="9FB3C4"/>
                </a:solidFill>
                <a:latin typeface="Calibri"/>
                <a:ea typeface="Calibri"/>
                <a:cs typeface="Calibri"/>
                <a:sym typeface="Calibri"/>
              </a:rPr>
              <a:t>Ein neuer Kanal (</a:t>
            </a:r>
            <a:r>
              <a:rPr lang="de" sz="950">
                <a:solidFill>
                  <a:srgbClr val="9FB3C4"/>
                </a:solidFill>
                <a:latin typeface="Calibri"/>
                <a:ea typeface="Calibri"/>
                <a:cs typeface="Calibri"/>
                <a:sym typeface="Calibri"/>
              </a:rPr>
              <a:t>Teams</a:t>
            </a:r>
            <a:r>
              <a:rPr b="0" i="0" lang="de" sz="950" u="none" cap="none" strike="noStrike">
                <a:solidFill>
                  <a:srgbClr val="9FB3C4"/>
                </a:solidFill>
                <a:latin typeface="Calibri"/>
                <a:ea typeface="Calibri"/>
                <a:cs typeface="Calibri"/>
                <a:sym typeface="Calibri"/>
              </a:rPr>
              <a:t>, E-Mail …) ist ein weiteres Plugin im selben Service.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29"/>
          <p:cNvSpPr/>
          <p:nvPr/>
        </p:nvSpPr>
        <p:spPr>
          <a:xfrm>
            <a:off x="425200" y="3584826"/>
            <a:ext cx="8293500" cy="914400"/>
          </a:xfrm>
          <a:prstGeom prst="roundRect">
            <a:avLst>
              <a:gd fmla="val 6000" name="adj"/>
            </a:avLst>
          </a:prstGeom>
          <a:solidFill>
            <a:srgbClr val="0E1B2A"/>
          </a:solidFill>
          <a:ln>
            <a:noFill/>
          </a:ln>
          <a:effectLst>
            <a:outerShdw blurRad="50800" rotWithShape="0" dir="5400000" dist="25400">
              <a:srgbClr val="17242F">
                <a:alpha val="1608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29"/>
          <p:cNvSpPr txBox="1"/>
          <p:nvPr/>
        </p:nvSpPr>
        <p:spPr>
          <a:xfrm>
            <a:off x="425196" y="288036"/>
            <a:ext cx="777240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900" u="none" cap="none" strike="noStrike">
                <a:solidFill>
                  <a:srgbClr val="1C7293"/>
                </a:solidFill>
                <a:latin typeface="Calibri"/>
                <a:ea typeface="Calibri"/>
                <a:cs typeface="Calibri"/>
                <a:sym typeface="Calibri"/>
              </a:rPr>
              <a:t>ENTWURF · MCP-SERVER</a:t>
            </a:r>
            <a:endParaRPr/>
          </a:p>
        </p:txBody>
      </p:sp>
      <p:sp>
        <p:nvSpPr>
          <p:cNvPr id="531" name="Google Shape;531;p29"/>
          <p:cNvSpPr txBox="1"/>
          <p:nvPr/>
        </p:nvSpPr>
        <p:spPr>
          <a:xfrm>
            <a:off x="425196" y="493776"/>
            <a:ext cx="8293608"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2300" u="none" cap="none" strike="noStrike">
                <a:solidFill>
                  <a:srgbClr val="17242F"/>
                </a:solidFill>
                <a:latin typeface="Calibri"/>
                <a:ea typeface="Calibri"/>
                <a:cs typeface="Calibri"/>
                <a:sym typeface="Calibri"/>
              </a:rPr>
              <a:t>Der MCP-Server</a:t>
            </a:r>
            <a:endParaRPr/>
          </a:p>
        </p:txBody>
      </p:sp>
      <p:sp>
        <p:nvSpPr>
          <p:cNvPr id="532" name="Google Shape;532;p29"/>
          <p:cNvSpPr txBox="1"/>
          <p:nvPr/>
        </p:nvSpPr>
        <p:spPr>
          <a:xfrm>
            <a:off x="425196" y="969264"/>
            <a:ext cx="8293608"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de" sz="1150" u="none" cap="none" strike="noStrike">
                <a:solidFill>
                  <a:srgbClr val="5E6E7C"/>
                </a:solidFill>
                <a:latin typeface="Calibri"/>
                <a:ea typeface="Calibri"/>
                <a:cs typeface="Calibri"/>
                <a:sym typeface="Calibri"/>
              </a:rPr>
              <a:t>Ein Zugang für LLM-Clients: übersetzt Tool-Aufrufe in interne REST-Routen, ohne dass ein Domain-Service den Client kennt.</a:t>
            </a:r>
            <a:endParaRPr/>
          </a:p>
        </p:txBody>
      </p:sp>
      <p:sp>
        <p:nvSpPr>
          <p:cNvPr id="533" name="Google Shape;533;p29"/>
          <p:cNvSpPr/>
          <p:nvPr/>
        </p:nvSpPr>
        <p:spPr>
          <a:xfrm>
            <a:off x="434340" y="1783080"/>
            <a:ext cx="1554480" cy="914400"/>
          </a:xfrm>
          <a:prstGeom prst="roundRect">
            <a:avLst>
              <a:gd fmla="val 10000" name="adj"/>
            </a:avLst>
          </a:prstGeom>
          <a:solidFill>
            <a:srgbClr val="E4EDF3"/>
          </a:solidFill>
          <a:ln cap="flat" cmpd="sng" w="15875">
            <a:solidFill>
              <a:srgbClr val="9FB3C4"/>
            </a:solidFill>
            <a:prstDash val="dash"/>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None/>
            </a:pPr>
            <a:r>
              <a:rPr b="1" i="0" lang="de" sz="1200" u="none" cap="none" strike="noStrike">
                <a:solidFill>
                  <a:srgbClr val="17242F"/>
                </a:solidFill>
                <a:latin typeface="Calibri"/>
                <a:ea typeface="Calibri"/>
                <a:cs typeface="Calibri"/>
                <a:sym typeface="Calibri"/>
              </a:rPr>
              <a:t>LLM-Client</a:t>
            </a:r>
            <a:endParaRPr/>
          </a:p>
          <a:p>
            <a:pPr indent="0" lvl="0" marL="0" marR="0" rtl="0" algn="ctr">
              <a:lnSpc>
                <a:spcPct val="100000"/>
              </a:lnSpc>
              <a:spcBef>
                <a:spcPts val="200"/>
              </a:spcBef>
              <a:spcAft>
                <a:spcPts val="0"/>
              </a:spcAft>
              <a:buNone/>
            </a:pPr>
            <a:r>
              <a:rPr b="0" i="0" lang="de" sz="900" u="none" cap="none" strike="noStrike">
                <a:solidFill>
                  <a:srgbClr val="5E6E7C"/>
                </a:solidFill>
                <a:latin typeface="Calibri"/>
                <a:ea typeface="Calibri"/>
                <a:cs typeface="Calibri"/>
                <a:sym typeface="Calibri"/>
              </a:rPr>
              <a:t>Claude Desktop / Code</a:t>
            </a:r>
            <a:endParaRPr/>
          </a:p>
        </p:txBody>
      </p:sp>
      <p:sp>
        <p:nvSpPr>
          <p:cNvPr id="534" name="Google Shape;534;p29"/>
          <p:cNvSpPr/>
          <p:nvPr/>
        </p:nvSpPr>
        <p:spPr>
          <a:xfrm>
            <a:off x="2263139" y="1783080"/>
            <a:ext cx="1417320" cy="914400"/>
          </a:xfrm>
          <a:prstGeom prst="roundRect">
            <a:avLst>
              <a:gd fmla="val 10000" name="adj"/>
            </a:avLst>
          </a:prstGeom>
          <a:solidFill>
            <a:srgbClr val="F4F7FA"/>
          </a:solidFill>
          <a:ln cap="flat" cmpd="sng" w="12700">
            <a:solidFill>
              <a:srgbClr val="D7E0E8"/>
            </a:solidFill>
            <a:prstDash val="solid"/>
            <a:round/>
            <a:headEnd len="sm" w="sm" type="none"/>
            <a:tailEnd len="sm" w="sm" type="none"/>
          </a:ln>
          <a:effectLst>
            <a:outerShdw blurRad="50800" rotWithShape="0" dir="5400000" dist="25400">
              <a:srgbClr val="17242F">
                <a:alpha val="16078"/>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None/>
            </a:pPr>
            <a:r>
              <a:rPr b="1" i="0" lang="de" sz="1250" u="none" cap="none" strike="noStrike">
                <a:solidFill>
                  <a:srgbClr val="17242F"/>
                </a:solidFill>
                <a:latin typeface="Calibri"/>
                <a:ea typeface="Calibri"/>
                <a:cs typeface="Calibri"/>
                <a:sym typeface="Calibri"/>
              </a:rPr>
              <a:t>Empfangen</a:t>
            </a:r>
            <a:endParaRPr/>
          </a:p>
          <a:p>
            <a:pPr indent="0" lvl="0" marL="0" marR="0" rtl="0" algn="ctr">
              <a:lnSpc>
                <a:spcPct val="100000"/>
              </a:lnSpc>
              <a:spcBef>
                <a:spcPts val="300"/>
              </a:spcBef>
              <a:spcAft>
                <a:spcPts val="0"/>
              </a:spcAft>
              <a:buNone/>
            </a:pPr>
            <a:r>
              <a:rPr b="0" i="0" lang="de" sz="900" u="none" cap="none" strike="noStrike">
                <a:solidFill>
                  <a:srgbClr val="5E6E7C"/>
                </a:solidFill>
                <a:latin typeface="Calibri"/>
                <a:ea typeface="Calibri"/>
                <a:cs typeface="Calibri"/>
                <a:sym typeface="Calibri"/>
              </a:rPr>
              <a:t>MCP-Tool-Aufruf</a:t>
            </a:r>
            <a:endParaRPr/>
          </a:p>
        </p:txBody>
      </p:sp>
      <p:sp>
        <p:nvSpPr>
          <p:cNvPr id="535" name="Google Shape;535;p29"/>
          <p:cNvSpPr/>
          <p:nvPr/>
        </p:nvSpPr>
        <p:spPr>
          <a:xfrm>
            <a:off x="3954779" y="1783080"/>
            <a:ext cx="1417320" cy="914400"/>
          </a:xfrm>
          <a:prstGeom prst="roundRect">
            <a:avLst>
              <a:gd fmla="val 10000" name="adj"/>
            </a:avLst>
          </a:prstGeom>
          <a:solidFill>
            <a:srgbClr val="F4F7FA"/>
          </a:solidFill>
          <a:ln cap="flat" cmpd="sng" w="12700">
            <a:solidFill>
              <a:srgbClr val="D7E0E8"/>
            </a:solidFill>
            <a:prstDash val="solid"/>
            <a:round/>
            <a:headEnd len="sm" w="sm" type="none"/>
            <a:tailEnd len="sm" w="sm" type="none"/>
          </a:ln>
          <a:effectLst>
            <a:outerShdw blurRad="50800" rotWithShape="0" dir="5400000" dist="25400">
              <a:srgbClr val="17242F">
                <a:alpha val="16078"/>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None/>
            </a:pPr>
            <a:r>
              <a:rPr b="1" i="0" lang="de" sz="1250" u="none" cap="none" strike="noStrike">
                <a:solidFill>
                  <a:srgbClr val="17242F"/>
                </a:solidFill>
                <a:latin typeface="Calibri"/>
                <a:ea typeface="Calibri"/>
                <a:cs typeface="Calibri"/>
                <a:sym typeface="Calibri"/>
              </a:rPr>
              <a:t>Übersetzen</a:t>
            </a:r>
            <a:endParaRPr/>
          </a:p>
          <a:p>
            <a:pPr indent="0" lvl="0" marL="0" marR="0" rtl="0" algn="ctr">
              <a:lnSpc>
                <a:spcPct val="100000"/>
              </a:lnSpc>
              <a:spcBef>
                <a:spcPts val="300"/>
              </a:spcBef>
              <a:spcAft>
                <a:spcPts val="0"/>
              </a:spcAft>
              <a:buNone/>
            </a:pPr>
            <a:r>
              <a:rPr b="0" i="0" lang="de" sz="900" u="none" cap="none" strike="noStrike">
                <a:solidFill>
                  <a:srgbClr val="5E6E7C"/>
                </a:solidFill>
                <a:latin typeface="Calibri"/>
                <a:ea typeface="Calibri"/>
                <a:cs typeface="Calibri"/>
                <a:sym typeface="Calibri"/>
              </a:rPr>
              <a:t>Tool → REST</a:t>
            </a:r>
            <a:endParaRPr/>
          </a:p>
        </p:txBody>
      </p:sp>
      <p:sp>
        <p:nvSpPr>
          <p:cNvPr id="536" name="Google Shape;536;p29"/>
          <p:cNvSpPr/>
          <p:nvPr/>
        </p:nvSpPr>
        <p:spPr>
          <a:xfrm>
            <a:off x="5646419" y="1783080"/>
            <a:ext cx="1417320" cy="914400"/>
          </a:xfrm>
          <a:prstGeom prst="roundRect">
            <a:avLst>
              <a:gd fmla="val 10000" name="adj"/>
            </a:avLst>
          </a:prstGeom>
          <a:solidFill>
            <a:srgbClr val="F4F7FA"/>
          </a:solidFill>
          <a:ln cap="flat" cmpd="sng" w="12700">
            <a:solidFill>
              <a:srgbClr val="D7E0E8"/>
            </a:solidFill>
            <a:prstDash val="solid"/>
            <a:round/>
            <a:headEnd len="sm" w="sm" type="none"/>
            <a:tailEnd len="sm" w="sm" type="none"/>
          </a:ln>
          <a:effectLst>
            <a:outerShdw blurRad="50800" rotWithShape="0" dir="5400000" dist="25400">
              <a:srgbClr val="17242F">
                <a:alpha val="16078"/>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None/>
            </a:pPr>
            <a:r>
              <a:rPr b="1" i="0" lang="de" sz="1250" u="none" cap="none" strike="noStrike">
                <a:solidFill>
                  <a:srgbClr val="17242F"/>
                </a:solidFill>
                <a:latin typeface="Calibri"/>
                <a:ea typeface="Calibri"/>
                <a:cs typeface="Calibri"/>
                <a:sym typeface="Calibri"/>
              </a:rPr>
              <a:t>Durchreichen</a:t>
            </a:r>
            <a:endParaRPr/>
          </a:p>
          <a:p>
            <a:pPr indent="0" lvl="0" marL="0" marR="0" rtl="0" algn="ctr">
              <a:lnSpc>
                <a:spcPct val="100000"/>
              </a:lnSpc>
              <a:spcBef>
                <a:spcPts val="300"/>
              </a:spcBef>
              <a:spcAft>
                <a:spcPts val="0"/>
              </a:spcAft>
              <a:buNone/>
            </a:pPr>
            <a:r>
              <a:rPr b="0" i="0" lang="de" sz="900" u="none" cap="none" strike="noStrike">
                <a:solidFill>
                  <a:srgbClr val="5E6E7C"/>
                </a:solidFill>
                <a:latin typeface="Calibri"/>
                <a:ea typeface="Calibri"/>
                <a:cs typeface="Calibri"/>
                <a:sym typeface="Calibri"/>
              </a:rPr>
              <a:t>PAT als Bearer</a:t>
            </a:r>
            <a:endParaRPr/>
          </a:p>
        </p:txBody>
      </p:sp>
      <p:sp>
        <p:nvSpPr>
          <p:cNvPr id="537" name="Google Shape;537;p29"/>
          <p:cNvSpPr/>
          <p:nvPr/>
        </p:nvSpPr>
        <p:spPr>
          <a:xfrm>
            <a:off x="7338059" y="1783080"/>
            <a:ext cx="1371600" cy="914400"/>
          </a:xfrm>
          <a:prstGeom prst="roundRect">
            <a:avLst>
              <a:gd fmla="val 10000" name="adj"/>
            </a:avLst>
          </a:prstGeom>
          <a:solidFill>
            <a:srgbClr val="134E63"/>
          </a:solidFill>
          <a:ln>
            <a:noFill/>
          </a:ln>
          <a:effectLst>
            <a:outerShdw blurRad="50800" rotWithShape="0" dir="5400000" dist="25400">
              <a:srgbClr val="17242F">
                <a:alpha val="16078"/>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None/>
            </a:pPr>
            <a:r>
              <a:rPr b="1" i="0" lang="de" sz="1200" u="none" cap="none" strike="noStrike">
                <a:solidFill>
                  <a:srgbClr val="FFFFFF"/>
                </a:solidFill>
                <a:latin typeface="Calibri"/>
                <a:ea typeface="Calibri"/>
                <a:cs typeface="Calibri"/>
                <a:sym typeface="Calibri"/>
              </a:rPr>
              <a:t>Gateway</a:t>
            </a:r>
            <a:endParaRPr/>
          </a:p>
          <a:p>
            <a:pPr indent="0" lvl="0" marL="0" marR="0" rtl="0" algn="ctr">
              <a:lnSpc>
                <a:spcPct val="100000"/>
              </a:lnSpc>
              <a:spcBef>
                <a:spcPts val="200"/>
              </a:spcBef>
              <a:spcAft>
                <a:spcPts val="0"/>
              </a:spcAft>
              <a:buNone/>
            </a:pPr>
            <a:r>
              <a:rPr b="0" i="0" lang="de" sz="900" u="none" cap="none" strike="noStrike">
                <a:solidFill>
                  <a:srgbClr val="BFD8E2"/>
                </a:solidFill>
                <a:latin typeface="Calibri"/>
                <a:ea typeface="Calibri"/>
                <a:cs typeface="Calibri"/>
                <a:sym typeface="Calibri"/>
              </a:rPr>
              <a:t>→ Domain-Services</a:t>
            </a:r>
            <a:endParaRPr/>
          </a:p>
        </p:txBody>
      </p:sp>
      <p:cxnSp>
        <p:nvCxnSpPr>
          <p:cNvPr id="538" name="Google Shape;538;p29"/>
          <p:cNvCxnSpPr/>
          <p:nvPr/>
        </p:nvCxnSpPr>
        <p:spPr>
          <a:xfrm>
            <a:off x="1988819" y="2240280"/>
            <a:ext cx="274320" cy="0"/>
          </a:xfrm>
          <a:prstGeom prst="straightConnector1">
            <a:avLst/>
          </a:prstGeom>
          <a:noFill/>
          <a:ln cap="flat" cmpd="sng" w="25400">
            <a:solidFill>
              <a:srgbClr val="1C7293"/>
            </a:solidFill>
            <a:prstDash val="solid"/>
            <a:round/>
            <a:headEnd len="sm" w="sm" type="none"/>
            <a:tailEnd len="med" w="med" type="triangle"/>
          </a:ln>
        </p:spPr>
      </p:cxnSp>
      <p:cxnSp>
        <p:nvCxnSpPr>
          <p:cNvPr id="539" name="Google Shape;539;p29"/>
          <p:cNvCxnSpPr/>
          <p:nvPr/>
        </p:nvCxnSpPr>
        <p:spPr>
          <a:xfrm>
            <a:off x="3680459" y="2240280"/>
            <a:ext cx="274320" cy="0"/>
          </a:xfrm>
          <a:prstGeom prst="straightConnector1">
            <a:avLst/>
          </a:prstGeom>
          <a:noFill/>
          <a:ln cap="flat" cmpd="sng" w="25400">
            <a:solidFill>
              <a:srgbClr val="1C7293"/>
            </a:solidFill>
            <a:prstDash val="solid"/>
            <a:round/>
            <a:headEnd len="sm" w="sm" type="none"/>
            <a:tailEnd len="med" w="med" type="triangle"/>
          </a:ln>
        </p:spPr>
      </p:cxnSp>
      <p:cxnSp>
        <p:nvCxnSpPr>
          <p:cNvPr id="540" name="Google Shape;540;p29"/>
          <p:cNvCxnSpPr/>
          <p:nvPr/>
        </p:nvCxnSpPr>
        <p:spPr>
          <a:xfrm>
            <a:off x="5372099" y="2240280"/>
            <a:ext cx="274320" cy="0"/>
          </a:xfrm>
          <a:prstGeom prst="straightConnector1">
            <a:avLst/>
          </a:prstGeom>
          <a:noFill/>
          <a:ln cap="flat" cmpd="sng" w="25400">
            <a:solidFill>
              <a:srgbClr val="1C7293"/>
            </a:solidFill>
            <a:prstDash val="solid"/>
            <a:round/>
            <a:headEnd len="sm" w="sm" type="none"/>
            <a:tailEnd len="med" w="med" type="triangle"/>
          </a:ln>
        </p:spPr>
      </p:cxnSp>
      <p:cxnSp>
        <p:nvCxnSpPr>
          <p:cNvPr id="541" name="Google Shape;541;p29"/>
          <p:cNvCxnSpPr/>
          <p:nvPr/>
        </p:nvCxnSpPr>
        <p:spPr>
          <a:xfrm>
            <a:off x="7063739" y="2240280"/>
            <a:ext cx="274320" cy="0"/>
          </a:xfrm>
          <a:prstGeom prst="straightConnector1">
            <a:avLst/>
          </a:prstGeom>
          <a:noFill/>
          <a:ln cap="flat" cmpd="sng" w="25400">
            <a:solidFill>
              <a:srgbClr val="1C7293"/>
            </a:solidFill>
            <a:prstDash val="solid"/>
            <a:round/>
            <a:headEnd len="sm" w="sm" type="none"/>
            <a:tailEnd len="med" w="med" type="triangle"/>
          </a:ln>
        </p:spPr>
      </p:cxnSp>
      <p:cxnSp>
        <p:nvCxnSpPr>
          <p:cNvPr id="542" name="Google Shape;542;p29"/>
          <p:cNvCxnSpPr/>
          <p:nvPr/>
        </p:nvCxnSpPr>
        <p:spPr>
          <a:xfrm>
            <a:off x="2125979" y="1618488"/>
            <a:ext cx="0" cy="1243584"/>
          </a:xfrm>
          <a:prstGeom prst="straightConnector1">
            <a:avLst/>
          </a:prstGeom>
          <a:noFill/>
          <a:ln cap="flat" cmpd="sng" w="15875">
            <a:solidFill>
              <a:srgbClr val="9FB3C4"/>
            </a:solidFill>
            <a:prstDash val="dash"/>
            <a:round/>
            <a:headEnd len="sm" w="sm" type="none"/>
            <a:tailEnd len="sm" w="sm" type="none"/>
          </a:ln>
        </p:spPr>
      </p:cxnSp>
      <p:sp>
        <p:nvSpPr>
          <p:cNvPr id="543" name="Google Shape;543;p29"/>
          <p:cNvSpPr txBox="1"/>
          <p:nvPr/>
        </p:nvSpPr>
        <p:spPr>
          <a:xfrm>
            <a:off x="1485899" y="1399032"/>
            <a:ext cx="1280160" cy="20116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1" lang="de" sz="850" u="none" cap="none" strike="noStrike">
                <a:solidFill>
                  <a:srgbClr val="9FB3C4"/>
                </a:solidFill>
                <a:latin typeface="Calibri"/>
                <a:ea typeface="Calibri"/>
                <a:cs typeface="Calibri"/>
                <a:sym typeface="Calibri"/>
              </a:rPr>
              <a:t>Systemgrenze</a:t>
            </a:r>
            <a:endParaRPr/>
          </a:p>
        </p:txBody>
      </p:sp>
      <p:sp>
        <p:nvSpPr>
          <p:cNvPr id="544" name="Google Shape;544;p29"/>
          <p:cNvSpPr txBox="1"/>
          <p:nvPr/>
        </p:nvSpPr>
        <p:spPr>
          <a:xfrm>
            <a:off x="425196" y="2907792"/>
            <a:ext cx="8293500" cy="161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de" sz="1050" u="none" cap="none" strike="noStrike">
                <a:solidFill>
                  <a:srgbClr val="1C7293"/>
                </a:solidFill>
                <a:latin typeface="Calibri"/>
                <a:ea typeface="Calibri"/>
                <a:cs typeface="Calibri"/>
                <a:sym typeface="Calibri"/>
              </a:rPr>
              <a:t>Synchron · zustandslos · </a:t>
            </a:r>
            <a:r>
              <a:rPr b="1" lang="de" sz="1050">
                <a:solidFill>
                  <a:srgbClr val="1C7293"/>
                </a:solidFill>
                <a:latin typeface="Calibri"/>
                <a:ea typeface="Calibri"/>
                <a:cs typeface="Calibri"/>
                <a:sym typeface="Calibri"/>
              </a:rPr>
              <a:t>langlebiger Personal Access Token</a:t>
            </a:r>
            <a:endParaRPr/>
          </a:p>
        </p:txBody>
      </p:sp>
      <p:sp>
        <p:nvSpPr>
          <p:cNvPr id="545" name="Google Shape;545;p29"/>
          <p:cNvSpPr/>
          <p:nvPr/>
        </p:nvSpPr>
        <p:spPr>
          <a:xfrm>
            <a:off x="4572000" y="3858768"/>
            <a:ext cx="18288" cy="457200"/>
          </a:xfrm>
          <a:prstGeom prst="roundRect">
            <a:avLst>
              <a:gd fmla="val 0" name="adj"/>
            </a:avLst>
          </a:prstGeom>
          <a:solidFill>
            <a:srgbClr val="2A3A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6" name="Google Shape;546;p29"/>
          <p:cNvSpPr txBox="1"/>
          <p:nvPr/>
        </p:nvSpPr>
        <p:spPr>
          <a:xfrm>
            <a:off x="640080" y="3840480"/>
            <a:ext cx="3794700" cy="35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1200" u="none" cap="none" strike="noStrike">
                <a:solidFill>
                  <a:srgbClr val="FFFFFF"/>
                </a:solidFill>
                <a:latin typeface="Calibri"/>
                <a:ea typeface="Calibri"/>
                <a:cs typeface="Calibri"/>
                <a:sym typeface="Calibri"/>
              </a:rPr>
              <a:t>Input-Adapter · BFF</a:t>
            </a:r>
            <a:endParaRPr/>
          </a:p>
          <a:p>
            <a:pPr indent="0" lvl="0" marL="0" marR="0" rtl="0" algn="l">
              <a:lnSpc>
                <a:spcPct val="102000"/>
              </a:lnSpc>
              <a:spcBef>
                <a:spcPts val="200"/>
              </a:spcBef>
              <a:spcAft>
                <a:spcPts val="0"/>
              </a:spcAft>
              <a:buNone/>
            </a:pPr>
            <a:r>
              <a:rPr b="0" i="0" lang="de" sz="950" u="none" cap="none" strike="noStrike">
                <a:solidFill>
                  <a:srgbClr val="9FB3C4"/>
                </a:solidFill>
                <a:latin typeface="Calibri"/>
                <a:ea typeface="Calibri"/>
                <a:cs typeface="Calibri"/>
                <a:sym typeface="Calibri"/>
              </a:rPr>
              <a:t>Übersetzt ein fremdes Protokoll in die internen REST-Verträge</a:t>
            </a:r>
            <a:endParaRPr/>
          </a:p>
        </p:txBody>
      </p:sp>
      <p:sp>
        <p:nvSpPr>
          <p:cNvPr id="547" name="Google Shape;547;p29"/>
          <p:cNvSpPr txBox="1"/>
          <p:nvPr/>
        </p:nvSpPr>
        <p:spPr>
          <a:xfrm>
            <a:off x="4754880" y="3840480"/>
            <a:ext cx="3794700" cy="35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1200" u="none" cap="none" strike="noStrike">
                <a:solidFill>
                  <a:srgbClr val="FFFFFF"/>
                </a:solidFill>
                <a:latin typeface="Calibri"/>
                <a:ea typeface="Calibri"/>
                <a:cs typeface="Calibri"/>
                <a:sym typeface="Calibri"/>
              </a:rPr>
              <a:t>Neuer Client-Typ</a:t>
            </a:r>
            <a:endParaRPr/>
          </a:p>
          <a:p>
            <a:pPr indent="0" lvl="0" marL="0" marR="0" rtl="0" algn="l">
              <a:lnSpc>
                <a:spcPct val="102000"/>
              </a:lnSpc>
              <a:spcBef>
                <a:spcPts val="200"/>
              </a:spcBef>
              <a:spcAft>
                <a:spcPts val="0"/>
              </a:spcAft>
              <a:buNone/>
            </a:pPr>
            <a:r>
              <a:rPr lang="de" sz="950">
                <a:solidFill>
                  <a:srgbClr val="9FB3C4"/>
                </a:solidFill>
                <a:latin typeface="Calibri"/>
                <a:ea typeface="Calibri"/>
                <a:cs typeface="Calibri"/>
                <a:sym typeface="Calibri"/>
              </a:rPr>
              <a:t>W</a:t>
            </a:r>
            <a:r>
              <a:rPr b="0" i="0" lang="de" sz="950" u="none" cap="none" strike="noStrike">
                <a:solidFill>
                  <a:srgbClr val="9FB3C4"/>
                </a:solidFill>
                <a:latin typeface="Calibri"/>
                <a:ea typeface="Calibri"/>
                <a:cs typeface="Calibri"/>
                <a:sym typeface="Calibri"/>
              </a:rPr>
              <a:t>eiterer Client neben dem Web-Frontend</a:t>
            </a:r>
            <a:r>
              <a:rPr lang="de" sz="950">
                <a:solidFill>
                  <a:srgbClr val="9FB3C4"/>
                </a:solidFill>
                <a:latin typeface="Calibri"/>
                <a:ea typeface="Calibri"/>
                <a:cs typeface="Calibri"/>
                <a:sym typeface="Calibri"/>
              </a:rPr>
              <a:t> und nutzt</a:t>
            </a:r>
            <a:r>
              <a:rPr b="0" i="0" lang="de" sz="950" u="none" cap="none" strike="noStrike">
                <a:solidFill>
                  <a:srgbClr val="9FB3C4"/>
                </a:solidFill>
                <a:latin typeface="Calibri"/>
                <a:ea typeface="Calibri"/>
                <a:cs typeface="Calibri"/>
                <a:sym typeface="Calibri"/>
              </a:rPr>
              <a:t> dieselben Routen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B2A"/>
        </a:solidFill>
      </p:bgPr>
    </p:bg>
    <p:spTree>
      <p:nvGrpSpPr>
        <p:cNvPr id="552" name="Shape 552"/>
        <p:cNvGrpSpPr/>
        <p:nvPr/>
      </p:nvGrpSpPr>
      <p:grpSpPr>
        <a:xfrm>
          <a:off x="0" y="0"/>
          <a:ext cx="0" cy="0"/>
          <a:chOff x="0" y="0"/>
          <a:chExt cx="0" cy="0"/>
        </a:xfrm>
      </p:grpSpPr>
      <p:sp>
        <p:nvSpPr>
          <p:cNvPr id="553" name="Google Shape;553;p30"/>
          <p:cNvSpPr/>
          <p:nvPr/>
        </p:nvSpPr>
        <p:spPr>
          <a:xfrm>
            <a:off x="7269480" y="3223260"/>
            <a:ext cx="617220" cy="617220"/>
          </a:xfrm>
          <a:prstGeom prst="roundRect">
            <a:avLst>
              <a:gd fmla="val 8889" name="adj"/>
            </a:avLst>
          </a:prstGeom>
          <a:solidFill>
            <a:srgbClr val="12263A">
              <a:alpha val="54902"/>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4" name="Google Shape;554;p30"/>
          <p:cNvSpPr/>
          <p:nvPr/>
        </p:nvSpPr>
        <p:spPr>
          <a:xfrm>
            <a:off x="7989570" y="3223260"/>
            <a:ext cx="617220" cy="617220"/>
          </a:xfrm>
          <a:prstGeom prst="roundRect">
            <a:avLst>
              <a:gd fmla="val 8889" name="adj"/>
            </a:avLst>
          </a:prstGeom>
          <a:solidFill>
            <a:srgbClr val="134E63">
              <a:alpha val="6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5" name="Google Shape;555;p30"/>
          <p:cNvSpPr/>
          <p:nvPr/>
        </p:nvSpPr>
        <p:spPr>
          <a:xfrm>
            <a:off x="7269480" y="3943350"/>
            <a:ext cx="617220" cy="617220"/>
          </a:xfrm>
          <a:prstGeom prst="roundRect">
            <a:avLst>
              <a:gd fmla="val 8889" name="adj"/>
            </a:avLst>
          </a:prstGeom>
          <a:solidFill>
            <a:srgbClr val="134E63">
              <a:alpha val="6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6" name="Google Shape;556;p30"/>
          <p:cNvSpPr/>
          <p:nvPr/>
        </p:nvSpPr>
        <p:spPr>
          <a:xfrm>
            <a:off x="7989570" y="3943350"/>
            <a:ext cx="617220" cy="617220"/>
          </a:xfrm>
          <a:prstGeom prst="roundRect">
            <a:avLst>
              <a:gd fmla="val 8889" name="adj"/>
            </a:avLst>
          </a:prstGeom>
          <a:solidFill>
            <a:srgbClr val="12263A">
              <a:alpha val="4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7" name="Google Shape;557;p30"/>
          <p:cNvSpPr/>
          <p:nvPr/>
        </p:nvSpPr>
        <p:spPr>
          <a:xfrm>
            <a:off x="425196" y="1405890"/>
            <a:ext cx="205740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4B6"/>
              </a:buClr>
              <a:buSzPts val="7200"/>
              <a:buFont typeface="Calibri"/>
              <a:buNone/>
            </a:pPr>
            <a:r>
              <a:rPr b="1" lang="de" sz="7200">
                <a:solidFill>
                  <a:srgbClr val="2EC4B6"/>
                </a:solidFill>
                <a:latin typeface="Calibri"/>
                <a:ea typeface="Calibri"/>
                <a:cs typeface="Calibri"/>
                <a:sym typeface="Calibri"/>
              </a:rPr>
              <a:t>04</a:t>
            </a:r>
            <a:endParaRPr sz="7200">
              <a:solidFill>
                <a:schemeClr val="dk1"/>
              </a:solidFill>
              <a:latin typeface="Calibri"/>
              <a:ea typeface="Calibri"/>
              <a:cs typeface="Calibri"/>
              <a:sym typeface="Calibri"/>
            </a:endParaRPr>
          </a:p>
        </p:txBody>
      </p:sp>
      <p:sp>
        <p:nvSpPr>
          <p:cNvPr id="558" name="Google Shape;558;p30"/>
          <p:cNvSpPr/>
          <p:nvPr/>
        </p:nvSpPr>
        <p:spPr>
          <a:xfrm>
            <a:off x="425196" y="2400300"/>
            <a:ext cx="720090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lang="de" sz="3000">
                <a:solidFill>
                  <a:srgbClr val="FFFFFF"/>
                </a:solidFill>
                <a:latin typeface="Calibri"/>
                <a:ea typeface="Calibri"/>
                <a:cs typeface="Calibri"/>
                <a:sym typeface="Calibri"/>
              </a:rPr>
              <a:t>Realisierung</a:t>
            </a:r>
            <a:endParaRPr sz="3000">
              <a:solidFill>
                <a:schemeClr val="dk1"/>
              </a:solidFill>
              <a:latin typeface="Calibri"/>
              <a:ea typeface="Calibri"/>
              <a:cs typeface="Calibri"/>
              <a:sym typeface="Calibri"/>
            </a:endParaRPr>
          </a:p>
        </p:txBody>
      </p:sp>
      <p:cxnSp>
        <p:nvCxnSpPr>
          <p:cNvPr id="559" name="Google Shape;559;p30"/>
          <p:cNvCxnSpPr/>
          <p:nvPr/>
        </p:nvCxnSpPr>
        <p:spPr>
          <a:xfrm>
            <a:off x="425196" y="3086100"/>
            <a:ext cx="1783080" cy="0"/>
          </a:xfrm>
          <a:prstGeom prst="straightConnector1">
            <a:avLst/>
          </a:prstGeom>
          <a:noFill/>
          <a:ln cap="flat" cmpd="sng" w="25400">
            <a:solidFill>
              <a:srgbClr val="1C7293"/>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564" name="Shape 564"/>
        <p:cNvGrpSpPr/>
        <p:nvPr/>
      </p:nvGrpSpPr>
      <p:grpSpPr>
        <a:xfrm>
          <a:off x="0" y="0"/>
          <a:ext cx="0" cy="0"/>
          <a:chOff x="0" y="0"/>
          <a:chExt cx="0" cy="0"/>
        </a:xfrm>
      </p:grpSpPr>
      <p:sp>
        <p:nvSpPr>
          <p:cNvPr id="565" name="Google Shape;565;p31"/>
          <p:cNvSpPr txBox="1"/>
          <p:nvPr/>
        </p:nvSpPr>
        <p:spPr>
          <a:xfrm>
            <a:off x="425196" y="288036"/>
            <a:ext cx="7543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de" sz="900" u="none" cap="none" strike="noStrike">
                <a:solidFill>
                  <a:srgbClr val="1C7293"/>
                </a:solidFill>
                <a:latin typeface="Calibri"/>
                <a:ea typeface="Calibri"/>
                <a:cs typeface="Calibri"/>
                <a:sym typeface="Calibri"/>
              </a:rPr>
              <a:t>REALISIERUNG · VORGEHEN</a:t>
            </a:r>
            <a:endParaRPr/>
          </a:p>
        </p:txBody>
      </p:sp>
      <p:sp>
        <p:nvSpPr>
          <p:cNvPr id="566" name="Google Shape;566;p31"/>
          <p:cNvSpPr txBox="1"/>
          <p:nvPr/>
        </p:nvSpPr>
        <p:spPr>
          <a:xfrm>
            <a:off x="425196" y="493776"/>
            <a:ext cx="82935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de" sz="2300">
                <a:solidFill>
                  <a:srgbClr val="17242F"/>
                </a:solidFill>
                <a:latin typeface="Calibri"/>
                <a:ea typeface="Calibri"/>
                <a:cs typeface="Calibri"/>
                <a:sym typeface="Calibri"/>
              </a:rPr>
              <a:t>Iterative Vorgehensweise</a:t>
            </a:r>
            <a:endParaRPr/>
          </a:p>
        </p:txBody>
      </p:sp>
      <p:sp>
        <p:nvSpPr>
          <p:cNvPr id="567" name="Google Shape;567;p31"/>
          <p:cNvSpPr txBox="1"/>
          <p:nvPr/>
        </p:nvSpPr>
        <p:spPr>
          <a:xfrm>
            <a:off x="425196" y="969264"/>
            <a:ext cx="8293500" cy="177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de" sz="1150">
                <a:solidFill>
                  <a:srgbClr val="5E6E7C"/>
                </a:solidFill>
                <a:latin typeface="Calibri"/>
                <a:ea typeface="Calibri"/>
                <a:cs typeface="Calibri"/>
                <a:sym typeface="Calibri"/>
              </a:rPr>
              <a:t>J</a:t>
            </a:r>
            <a:r>
              <a:rPr b="0" i="0" lang="de" sz="1150" u="none" cap="none" strike="noStrike">
                <a:solidFill>
                  <a:srgbClr val="5E6E7C"/>
                </a:solidFill>
                <a:latin typeface="Calibri"/>
                <a:ea typeface="Calibri"/>
                <a:cs typeface="Calibri"/>
                <a:sym typeface="Calibri"/>
              </a:rPr>
              <a:t>edes Feature durchläuft denselben Rhythmus.</a:t>
            </a:r>
            <a:endParaRPr/>
          </a:p>
        </p:txBody>
      </p:sp>
      <p:sp>
        <p:nvSpPr>
          <p:cNvPr id="568" name="Google Shape;568;p31"/>
          <p:cNvSpPr/>
          <p:nvPr/>
        </p:nvSpPr>
        <p:spPr>
          <a:xfrm>
            <a:off x="512064" y="1874519"/>
            <a:ext cx="1810500" cy="1371600"/>
          </a:xfrm>
          <a:prstGeom prst="roundRect">
            <a:avLst>
              <a:gd fmla="val 9000" name="adj"/>
            </a:avLst>
          </a:prstGeom>
          <a:solidFill>
            <a:srgbClr val="F4F7FA"/>
          </a:solidFill>
          <a:ln cap="flat" cmpd="sng" w="12700">
            <a:solidFill>
              <a:srgbClr val="D7E0E8"/>
            </a:solidFill>
            <a:prstDash val="solid"/>
            <a:round/>
            <a:headEnd len="sm" w="sm" type="none"/>
            <a:tailEnd len="sm" w="sm" type="none"/>
          </a:ln>
          <a:effectLst>
            <a:outerShdw blurRad="50800" rotWithShape="0" dir="5400000" dist="25400">
              <a:srgbClr val="17242F">
                <a:alpha val="18040"/>
              </a:srgbClr>
            </a:outerShdw>
          </a:effectLst>
        </p:spPr>
        <p:txBody>
          <a:bodyPr anchorCtr="0" anchor="t" bIns="54850" lIns="54850" spcFirstLastPara="1" rIns="54850" wrap="square" tIns="54850">
            <a:noAutofit/>
          </a:bodyPr>
          <a:lstStyle/>
          <a:p>
            <a:pPr indent="0" lvl="0" marL="0" marR="0" rtl="0" algn="ctr">
              <a:lnSpc>
                <a:spcPct val="100000"/>
              </a:lnSpc>
              <a:spcBef>
                <a:spcPts val="0"/>
              </a:spcBef>
              <a:spcAft>
                <a:spcPts val="0"/>
              </a:spcAft>
              <a:buNone/>
            </a:pPr>
            <a:r>
              <a:rPr b="1" i="0" lang="de" sz="1350" u="none" cap="none" strike="noStrike">
                <a:solidFill>
                  <a:srgbClr val="17242F"/>
                </a:solidFill>
                <a:latin typeface="Calibri"/>
                <a:ea typeface="Calibri"/>
                <a:cs typeface="Calibri"/>
                <a:sym typeface="Calibri"/>
              </a:rPr>
              <a:t>Planung</a:t>
            </a:r>
            <a:endParaRPr/>
          </a:p>
          <a:p>
            <a:pPr indent="0" lvl="0" marL="0" marR="0" rtl="0" algn="ctr">
              <a:lnSpc>
                <a:spcPct val="105000"/>
              </a:lnSpc>
              <a:spcBef>
                <a:spcPts val="400"/>
              </a:spcBef>
              <a:spcAft>
                <a:spcPts val="0"/>
              </a:spcAft>
              <a:buNone/>
            </a:pPr>
            <a:r>
              <a:rPr b="0" i="0" lang="de" sz="1050" u="none" cap="none" strike="noStrike">
                <a:solidFill>
                  <a:srgbClr val="5E6E7C"/>
                </a:solidFill>
                <a:latin typeface="Calibri"/>
                <a:ea typeface="Calibri"/>
                <a:cs typeface="Calibri"/>
                <a:sym typeface="Calibri"/>
              </a:rPr>
              <a:t>Inkrement schneiden,</a:t>
            </a:r>
            <a:br>
              <a:rPr b="0" i="0" lang="de" sz="1050" u="none" cap="none" strike="noStrike">
                <a:solidFill>
                  <a:srgbClr val="5E6E7C"/>
                </a:solidFill>
                <a:latin typeface="Calibri"/>
                <a:ea typeface="Calibri"/>
                <a:cs typeface="Calibri"/>
                <a:sym typeface="Calibri"/>
              </a:rPr>
            </a:br>
            <a:r>
              <a:rPr b="0" i="0" lang="de" sz="1050" u="none" cap="none" strike="noStrike">
                <a:solidFill>
                  <a:srgbClr val="5E6E7C"/>
                </a:solidFill>
                <a:latin typeface="Calibri"/>
                <a:ea typeface="Calibri"/>
                <a:cs typeface="Calibri"/>
                <a:sym typeface="Calibri"/>
              </a:rPr>
              <a:t>Ziel &amp; Scope festlegen</a:t>
            </a:r>
            <a:endParaRPr/>
          </a:p>
        </p:txBody>
      </p:sp>
      <p:sp>
        <p:nvSpPr>
          <p:cNvPr id="569" name="Google Shape;569;p31"/>
          <p:cNvSpPr/>
          <p:nvPr/>
        </p:nvSpPr>
        <p:spPr>
          <a:xfrm>
            <a:off x="1161188" y="1254362"/>
            <a:ext cx="512100" cy="512100"/>
          </a:xfrm>
          <a:prstGeom prst="ellipse">
            <a:avLst/>
          </a:prstGeom>
          <a:solidFill>
            <a:srgbClr val="2EC4B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de" sz="1700" u="none" cap="none" strike="noStrike">
                <a:solidFill>
                  <a:srgbClr val="FFFFFF"/>
                </a:solidFill>
                <a:latin typeface="Calibri"/>
                <a:ea typeface="Calibri"/>
                <a:cs typeface="Calibri"/>
                <a:sym typeface="Calibri"/>
              </a:rPr>
              <a:t>1</a:t>
            </a:r>
            <a:endParaRPr/>
          </a:p>
        </p:txBody>
      </p:sp>
      <p:cxnSp>
        <p:nvCxnSpPr>
          <p:cNvPr id="570" name="Google Shape;570;p31"/>
          <p:cNvCxnSpPr/>
          <p:nvPr/>
        </p:nvCxnSpPr>
        <p:spPr>
          <a:xfrm>
            <a:off x="2340864" y="2560320"/>
            <a:ext cx="255900" cy="0"/>
          </a:xfrm>
          <a:prstGeom prst="straightConnector1">
            <a:avLst/>
          </a:prstGeom>
          <a:noFill/>
          <a:ln cap="flat" cmpd="sng" w="30475">
            <a:solidFill>
              <a:srgbClr val="1C7293"/>
            </a:solidFill>
            <a:prstDash val="solid"/>
            <a:round/>
            <a:headEnd len="sm" w="sm" type="none"/>
            <a:tailEnd len="med" w="med" type="triangle"/>
          </a:ln>
        </p:spPr>
      </p:cxnSp>
      <p:sp>
        <p:nvSpPr>
          <p:cNvPr id="571" name="Google Shape;571;p31"/>
          <p:cNvSpPr/>
          <p:nvPr/>
        </p:nvSpPr>
        <p:spPr>
          <a:xfrm>
            <a:off x="2615184" y="1874519"/>
            <a:ext cx="1810500" cy="1371600"/>
          </a:xfrm>
          <a:prstGeom prst="roundRect">
            <a:avLst>
              <a:gd fmla="val 9000" name="adj"/>
            </a:avLst>
          </a:prstGeom>
          <a:solidFill>
            <a:srgbClr val="F4F7FA"/>
          </a:solidFill>
          <a:ln cap="flat" cmpd="sng" w="12700">
            <a:solidFill>
              <a:srgbClr val="D7E0E8"/>
            </a:solidFill>
            <a:prstDash val="solid"/>
            <a:round/>
            <a:headEnd len="sm" w="sm" type="none"/>
            <a:tailEnd len="sm" w="sm" type="none"/>
          </a:ln>
          <a:effectLst>
            <a:outerShdw blurRad="50800" rotWithShape="0" dir="5400000" dist="25400">
              <a:srgbClr val="17242F">
                <a:alpha val="18040"/>
              </a:srgbClr>
            </a:outerShdw>
          </a:effectLst>
        </p:spPr>
        <p:txBody>
          <a:bodyPr anchorCtr="0" anchor="t" bIns="54850" lIns="54850" spcFirstLastPara="1" rIns="54850" wrap="square" tIns="54850">
            <a:noAutofit/>
          </a:bodyPr>
          <a:lstStyle/>
          <a:p>
            <a:pPr indent="0" lvl="0" marL="0" marR="0" rtl="0" algn="ctr">
              <a:lnSpc>
                <a:spcPct val="100000"/>
              </a:lnSpc>
              <a:spcBef>
                <a:spcPts val="0"/>
              </a:spcBef>
              <a:spcAft>
                <a:spcPts val="0"/>
              </a:spcAft>
              <a:buNone/>
            </a:pPr>
            <a:r>
              <a:rPr b="1" i="0" lang="de" sz="1350" u="none" cap="none" strike="noStrike">
                <a:solidFill>
                  <a:srgbClr val="17242F"/>
                </a:solidFill>
                <a:latin typeface="Calibri"/>
                <a:ea typeface="Calibri"/>
                <a:cs typeface="Calibri"/>
                <a:sym typeface="Calibri"/>
              </a:rPr>
              <a:t>Spezifikation</a:t>
            </a:r>
            <a:endParaRPr/>
          </a:p>
          <a:p>
            <a:pPr indent="0" lvl="0" marL="0" marR="0" rtl="0" algn="ctr">
              <a:lnSpc>
                <a:spcPct val="105000"/>
              </a:lnSpc>
              <a:spcBef>
                <a:spcPts val="400"/>
              </a:spcBef>
              <a:spcAft>
                <a:spcPts val="0"/>
              </a:spcAft>
              <a:buNone/>
            </a:pPr>
            <a:r>
              <a:rPr b="0" i="0" lang="de" sz="1050" u="none" cap="none" strike="noStrike">
                <a:solidFill>
                  <a:srgbClr val="5E6E7C"/>
                </a:solidFill>
                <a:latin typeface="Calibri"/>
                <a:ea typeface="Calibri"/>
                <a:cs typeface="Calibri"/>
                <a:sym typeface="Calibri"/>
              </a:rPr>
              <a:t>Doku, OpenAPI</a:t>
            </a:r>
            <a:br>
              <a:rPr b="0" i="0" lang="de" sz="1050" u="none" cap="none" strike="noStrike">
                <a:solidFill>
                  <a:srgbClr val="5E6E7C"/>
                </a:solidFill>
                <a:latin typeface="Calibri"/>
                <a:ea typeface="Calibri"/>
                <a:cs typeface="Calibri"/>
                <a:sym typeface="Calibri"/>
              </a:rPr>
            </a:br>
            <a:r>
              <a:rPr b="0" i="0" lang="de" sz="1050" u="none" cap="none" strike="noStrike">
                <a:solidFill>
                  <a:srgbClr val="5E6E7C"/>
                </a:solidFill>
                <a:latin typeface="Calibri"/>
                <a:ea typeface="Calibri"/>
                <a:cs typeface="Calibri"/>
                <a:sym typeface="Calibri"/>
              </a:rPr>
              <a:t>&amp; SQL zuerst</a:t>
            </a:r>
            <a:endParaRPr/>
          </a:p>
        </p:txBody>
      </p:sp>
      <p:sp>
        <p:nvSpPr>
          <p:cNvPr id="572" name="Google Shape;572;p31"/>
          <p:cNvSpPr/>
          <p:nvPr/>
        </p:nvSpPr>
        <p:spPr>
          <a:xfrm>
            <a:off x="3264308" y="1254362"/>
            <a:ext cx="512100" cy="512100"/>
          </a:xfrm>
          <a:prstGeom prst="ellipse">
            <a:avLst/>
          </a:prstGeom>
          <a:solidFill>
            <a:srgbClr val="2EC4B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de" sz="1700" u="none" cap="none" strike="noStrike">
                <a:solidFill>
                  <a:srgbClr val="FFFFFF"/>
                </a:solidFill>
                <a:latin typeface="Calibri"/>
                <a:ea typeface="Calibri"/>
                <a:cs typeface="Calibri"/>
                <a:sym typeface="Calibri"/>
              </a:rPr>
              <a:t>2</a:t>
            </a:r>
            <a:endParaRPr/>
          </a:p>
        </p:txBody>
      </p:sp>
      <p:cxnSp>
        <p:nvCxnSpPr>
          <p:cNvPr id="573" name="Google Shape;573;p31"/>
          <p:cNvCxnSpPr/>
          <p:nvPr/>
        </p:nvCxnSpPr>
        <p:spPr>
          <a:xfrm>
            <a:off x="4443983" y="2560320"/>
            <a:ext cx="255900" cy="0"/>
          </a:xfrm>
          <a:prstGeom prst="straightConnector1">
            <a:avLst/>
          </a:prstGeom>
          <a:noFill/>
          <a:ln cap="flat" cmpd="sng" w="30475">
            <a:solidFill>
              <a:srgbClr val="1C7293"/>
            </a:solidFill>
            <a:prstDash val="solid"/>
            <a:round/>
            <a:headEnd len="sm" w="sm" type="none"/>
            <a:tailEnd len="med" w="med" type="triangle"/>
          </a:ln>
        </p:spPr>
      </p:cxnSp>
      <p:sp>
        <p:nvSpPr>
          <p:cNvPr id="574" name="Google Shape;574;p31"/>
          <p:cNvSpPr/>
          <p:nvPr/>
        </p:nvSpPr>
        <p:spPr>
          <a:xfrm>
            <a:off x="4718304" y="1874519"/>
            <a:ext cx="1810500" cy="1371600"/>
          </a:xfrm>
          <a:prstGeom prst="roundRect">
            <a:avLst>
              <a:gd fmla="val 9000" name="adj"/>
            </a:avLst>
          </a:prstGeom>
          <a:solidFill>
            <a:srgbClr val="F4F7FA"/>
          </a:solidFill>
          <a:ln cap="flat" cmpd="sng" w="12700">
            <a:solidFill>
              <a:srgbClr val="D7E0E8"/>
            </a:solidFill>
            <a:prstDash val="solid"/>
            <a:round/>
            <a:headEnd len="sm" w="sm" type="none"/>
            <a:tailEnd len="sm" w="sm" type="none"/>
          </a:ln>
          <a:effectLst>
            <a:outerShdw blurRad="50800" rotWithShape="0" dir="5400000" dist="25400">
              <a:srgbClr val="17242F">
                <a:alpha val="18040"/>
              </a:srgbClr>
            </a:outerShdw>
          </a:effectLst>
        </p:spPr>
        <p:txBody>
          <a:bodyPr anchorCtr="0" anchor="t" bIns="54850" lIns="54850" spcFirstLastPara="1" rIns="54850" wrap="square" tIns="54850">
            <a:noAutofit/>
          </a:bodyPr>
          <a:lstStyle/>
          <a:p>
            <a:pPr indent="0" lvl="0" marL="0" marR="0" rtl="0" algn="ctr">
              <a:lnSpc>
                <a:spcPct val="100000"/>
              </a:lnSpc>
              <a:spcBef>
                <a:spcPts val="0"/>
              </a:spcBef>
              <a:spcAft>
                <a:spcPts val="0"/>
              </a:spcAft>
              <a:buNone/>
            </a:pPr>
            <a:r>
              <a:rPr b="1" i="0" lang="de" sz="1350" u="none" cap="none" strike="noStrike">
                <a:solidFill>
                  <a:srgbClr val="17242F"/>
                </a:solidFill>
                <a:latin typeface="Calibri"/>
                <a:ea typeface="Calibri"/>
                <a:cs typeface="Calibri"/>
                <a:sym typeface="Calibri"/>
              </a:rPr>
              <a:t>Implementierung</a:t>
            </a:r>
            <a:endParaRPr/>
          </a:p>
          <a:p>
            <a:pPr indent="0" lvl="0" marL="0" marR="0" rtl="0" algn="ctr">
              <a:lnSpc>
                <a:spcPct val="105000"/>
              </a:lnSpc>
              <a:spcBef>
                <a:spcPts val="400"/>
              </a:spcBef>
              <a:spcAft>
                <a:spcPts val="0"/>
              </a:spcAft>
              <a:buNone/>
            </a:pPr>
            <a:r>
              <a:rPr b="0" i="0" lang="de" sz="1050" u="none" cap="none" strike="noStrike">
                <a:solidFill>
                  <a:srgbClr val="5E6E7C"/>
                </a:solidFill>
                <a:latin typeface="Calibri"/>
                <a:ea typeface="Calibri"/>
                <a:cs typeface="Calibri"/>
                <a:sym typeface="Calibri"/>
              </a:rPr>
              <a:t>Generieren + Fachlogik,</a:t>
            </a:r>
            <a:br>
              <a:rPr b="0" i="0" lang="de" sz="1050" u="none" cap="none" strike="noStrike">
                <a:solidFill>
                  <a:srgbClr val="5E6E7C"/>
                </a:solidFill>
                <a:latin typeface="Calibri"/>
                <a:ea typeface="Calibri"/>
                <a:cs typeface="Calibri"/>
                <a:sym typeface="Calibri"/>
              </a:rPr>
            </a:br>
            <a:r>
              <a:rPr b="0" i="0" lang="de" sz="1050" u="none" cap="none" strike="noStrike">
                <a:solidFill>
                  <a:srgbClr val="5E6E7C"/>
                </a:solidFill>
                <a:latin typeface="Calibri"/>
                <a:ea typeface="Calibri"/>
                <a:cs typeface="Calibri"/>
                <a:sym typeface="Calibri"/>
              </a:rPr>
              <a:t>Tests schreiben</a:t>
            </a:r>
            <a:endParaRPr/>
          </a:p>
        </p:txBody>
      </p:sp>
      <p:sp>
        <p:nvSpPr>
          <p:cNvPr id="575" name="Google Shape;575;p31"/>
          <p:cNvSpPr/>
          <p:nvPr/>
        </p:nvSpPr>
        <p:spPr>
          <a:xfrm>
            <a:off x="5367428" y="1254362"/>
            <a:ext cx="512100" cy="512100"/>
          </a:xfrm>
          <a:prstGeom prst="ellipse">
            <a:avLst/>
          </a:prstGeom>
          <a:solidFill>
            <a:srgbClr val="2EC4B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de" sz="1700" u="none" cap="none" strike="noStrike">
                <a:solidFill>
                  <a:srgbClr val="FFFFFF"/>
                </a:solidFill>
                <a:latin typeface="Calibri"/>
                <a:ea typeface="Calibri"/>
                <a:cs typeface="Calibri"/>
                <a:sym typeface="Calibri"/>
              </a:rPr>
              <a:t>3</a:t>
            </a:r>
            <a:endParaRPr/>
          </a:p>
        </p:txBody>
      </p:sp>
      <p:cxnSp>
        <p:nvCxnSpPr>
          <p:cNvPr id="576" name="Google Shape;576;p31"/>
          <p:cNvCxnSpPr/>
          <p:nvPr/>
        </p:nvCxnSpPr>
        <p:spPr>
          <a:xfrm>
            <a:off x="6547104" y="2560320"/>
            <a:ext cx="255900" cy="0"/>
          </a:xfrm>
          <a:prstGeom prst="straightConnector1">
            <a:avLst/>
          </a:prstGeom>
          <a:noFill/>
          <a:ln cap="flat" cmpd="sng" w="30475">
            <a:solidFill>
              <a:srgbClr val="1C7293"/>
            </a:solidFill>
            <a:prstDash val="solid"/>
            <a:round/>
            <a:headEnd len="sm" w="sm" type="none"/>
            <a:tailEnd len="med" w="med" type="triangle"/>
          </a:ln>
        </p:spPr>
      </p:cxnSp>
      <p:sp>
        <p:nvSpPr>
          <p:cNvPr id="577" name="Google Shape;577;p31"/>
          <p:cNvSpPr/>
          <p:nvPr/>
        </p:nvSpPr>
        <p:spPr>
          <a:xfrm>
            <a:off x="6821424" y="1874519"/>
            <a:ext cx="1810500" cy="1371600"/>
          </a:xfrm>
          <a:prstGeom prst="roundRect">
            <a:avLst>
              <a:gd fmla="val 9000" name="adj"/>
            </a:avLst>
          </a:prstGeom>
          <a:solidFill>
            <a:srgbClr val="F4F7FA"/>
          </a:solidFill>
          <a:ln cap="flat" cmpd="sng" w="12700">
            <a:solidFill>
              <a:srgbClr val="D7E0E8"/>
            </a:solidFill>
            <a:prstDash val="solid"/>
            <a:round/>
            <a:headEnd len="sm" w="sm" type="none"/>
            <a:tailEnd len="sm" w="sm" type="none"/>
          </a:ln>
          <a:effectLst>
            <a:outerShdw blurRad="50800" rotWithShape="0" dir="5400000" dist="25400">
              <a:srgbClr val="17242F">
                <a:alpha val="18040"/>
              </a:srgbClr>
            </a:outerShdw>
          </a:effectLst>
        </p:spPr>
        <p:txBody>
          <a:bodyPr anchorCtr="0" anchor="t" bIns="54850" lIns="54850" spcFirstLastPara="1" rIns="54850" wrap="square" tIns="54850">
            <a:noAutofit/>
          </a:bodyPr>
          <a:lstStyle/>
          <a:p>
            <a:pPr indent="0" lvl="0" marL="0" marR="0" rtl="0" algn="ctr">
              <a:lnSpc>
                <a:spcPct val="100000"/>
              </a:lnSpc>
              <a:spcBef>
                <a:spcPts val="0"/>
              </a:spcBef>
              <a:spcAft>
                <a:spcPts val="0"/>
              </a:spcAft>
              <a:buNone/>
            </a:pPr>
            <a:r>
              <a:rPr b="1" i="0" lang="de" sz="1350" u="none" cap="none" strike="noStrike">
                <a:solidFill>
                  <a:srgbClr val="17242F"/>
                </a:solidFill>
                <a:latin typeface="Calibri"/>
                <a:ea typeface="Calibri"/>
                <a:cs typeface="Calibri"/>
                <a:sym typeface="Calibri"/>
              </a:rPr>
              <a:t>Doku nachführen</a:t>
            </a:r>
            <a:endParaRPr/>
          </a:p>
          <a:p>
            <a:pPr indent="0" lvl="0" marL="0" marR="0" rtl="0" algn="ctr">
              <a:lnSpc>
                <a:spcPct val="105000"/>
              </a:lnSpc>
              <a:spcBef>
                <a:spcPts val="400"/>
              </a:spcBef>
              <a:spcAft>
                <a:spcPts val="0"/>
              </a:spcAft>
              <a:buNone/>
            </a:pPr>
            <a:r>
              <a:rPr b="0" i="0" lang="de" sz="1050" u="none" cap="none" strike="noStrike">
                <a:solidFill>
                  <a:srgbClr val="5E6E7C"/>
                </a:solidFill>
                <a:latin typeface="Calibri"/>
                <a:ea typeface="Calibri"/>
                <a:cs typeface="Calibri"/>
                <a:sym typeface="Calibri"/>
              </a:rPr>
              <a:t>Realität zurück in die</a:t>
            </a:r>
            <a:br>
              <a:rPr b="0" i="0" lang="de" sz="1050" u="none" cap="none" strike="noStrike">
                <a:solidFill>
                  <a:srgbClr val="5E6E7C"/>
                </a:solidFill>
                <a:latin typeface="Calibri"/>
                <a:ea typeface="Calibri"/>
                <a:cs typeface="Calibri"/>
                <a:sym typeface="Calibri"/>
              </a:rPr>
            </a:br>
            <a:r>
              <a:rPr b="0" i="0" lang="de" sz="1050" u="none" cap="none" strike="noStrike">
                <a:solidFill>
                  <a:srgbClr val="5E6E7C"/>
                </a:solidFill>
                <a:latin typeface="Calibri"/>
                <a:ea typeface="Calibri"/>
                <a:cs typeface="Calibri"/>
                <a:sym typeface="Calibri"/>
              </a:rPr>
              <a:t>Spezifikation</a:t>
            </a:r>
            <a:endParaRPr/>
          </a:p>
        </p:txBody>
      </p:sp>
      <p:sp>
        <p:nvSpPr>
          <p:cNvPr id="578" name="Google Shape;578;p31"/>
          <p:cNvSpPr/>
          <p:nvPr/>
        </p:nvSpPr>
        <p:spPr>
          <a:xfrm>
            <a:off x="7470548" y="1254362"/>
            <a:ext cx="512100" cy="512100"/>
          </a:xfrm>
          <a:prstGeom prst="ellipse">
            <a:avLst/>
          </a:prstGeom>
          <a:solidFill>
            <a:srgbClr val="2EC4B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de" sz="1700" u="none" cap="none" strike="noStrike">
                <a:solidFill>
                  <a:srgbClr val="FFFFFF"/>
                </a:solidFill>
                <a:latin typeface="Calibri"/>
                <a:ea typeface="Calibri"/>
                <a:cs typeface="Calibri"/>
                <a:sym typeface="Calibri"/>
              </a:rPr>
              <a:t>4</a:t>
            </a:r>
            <a:endParaRPr/>
          </a:p>
        </p:txBody>
      </p:sp>
      <p:cxnSp>
        <p:nvCxnSpPr>
          <p:cNvPr id="579" name="Google Shape;579;p31"/>
          <p:cNvCxnSpPr/>
          <p:nvPr/>
        </p:nvCxnSpPr>
        <p:spPr>
          <a:xfrm>
            <a:off x="7726679" y="3246120"/>
            <a:ext cx="0" cy="914400"/>
          </a:xfrm>
          <a:prstGeom prst="straightConnector1">
            <a:avLst/>
          </a:prstGeom>
          <a:noFill/>
          <a:ln cap="flat" cmpd="sng" w="33000">
            <a:solidFill>
              <a:srgbClr val="134E63"/>
            </a:solidFill>
            <a:prstDash val="solid"/>
            <a:round/>
            <a:headEnd len="sm" w="sm" type="none"/>
            <a:tailEnd len="sm" w="sm" type="none"/>
          </a:ln>
        </p:spPr>
      </p:cxnSp>
      <p:cxnSp>
        <p:nvCxnSpPr>
          <p:cNvPr id="580" name="Google Shape;580;p31"/>
          <p:cNvCxnSpPr/>
          <p:nvPr/>
        </p:nvCxnSpPr>
        <p:spPr>
          <a:xfrm rot="10800000">
            <a:off x="1417379" y="4160520"/>
            <a:ext cx="6309300" cy="0"/>
          </a:xfrm>
          <a:prstGeom prst="straightConnector1">
            <a:avLst/>
          </a:prstGeom>
          <a:noFill/>
          <a:ln cap="flat" cmpd="sng" w="33000">
            <a:solidFill>
              <a:srgbClr val="134E63"/>
            </a:solidFill>
            <a:prstDash val="solid"/>
            <a:round/>
            <a:headEnd len="sm" w="sm" type="none"/>
            <a:tailEnd len="sm" w="sm" type="none"/>
          </a:ln>
        </p:spPr>
      </p:cxnSp>
      <p:cxnSp>
        <p:nvCxnSpPr>
          <p:cNvPr id="581" name="Google Shape;581;p31"/>
          <p:cNvCxnSpPr/>
          <p:nvPr/>
        </p:nvCxnSpPr>
        <p:spPr>
          <a:xfrm rot="10800000">
            <a:off x="1417320" y="3264420"/>
            <a:ext cx="0" cy="896100"/>
          </a:xfrm>
          <a:prstGeom prst="straightConnector1">
            <a:avLst/>
          </a:prstGeom>
          <a:noFill/>
          <a:ln cap="flat" cmpd="sng" w="33000">
            <a:solidFill>
              <a:srgbClr val="134E63"/>
            </a:solidFill>
            <a:prstDash val="solid"/>
            <a:round/>
            <a:headEnd len="sm" w="sm" type="none"/>
            <a:tailEnd len="med" w="med" type="triangle"/>
          </a:ln>
        </p:spPr>
      </p:cxnSp>
      <p:sp>
        <p:nvSpPr>
          <p:cNvPr id="582" name="Google Shape;582;p31"/>
          <p:cNvSpPr/>
          <p:nvPr/>
        </p:nvSpPr>
        <p:spPr>
          <a:xfrm>
            <a:off x="3383280" y="3941063"/>
            <a:ext cx="2377500" cy="438900"/>
          </a:xfrm>
          <a:prstGeom prst="roundRect">
            <a:avLst>
              <a:gd fmla="val 50000" name="adj"/>
            </a:avLst>
          </a:prstGeom>
          <a:solidFill>
            <a:srgbClr val="FFFFFF"/>
          </a:solidFill>
          <a:ln cap="flat" cmpd="sng" w="17775">
            <a:solidFill>
              <a:srgbClr val="134E63"/>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None/>
            </a:pPr>
            <a:r>
              <a:rPr b="1" i="0" lang="de" sz="1100" u="none" cap="none" strike="noStrike">
                <a:solidFill>
                  <a:srgbClr val="134E63"/>
                </a:solidFill>
                <a:latin typeface="Calibri"/>
                <a:ea typeface="Calibri"/>
                <a:cs typeface="Calibri"/>
                <a:sym typeface="Calibri"/>
              </a:rPr>
              <a:t>nächstes Inkrement  ↺</a:t>
            </a:r>
            <a:endParaRPr/>
          </a:p>
        </p:txBody>
      </p:sp>
      <p:sp>
        <p:nvSpPr>
          <p:cNvPr id="583" name="Google Shape;583;p31"/>
          <p:cNvSpPr/>
          <p:nvPr/>
        </p:nvSpPr>
        <p:spPr>
          <a:xfrm>
            <a:off x="425196" y="4553712"/>
            <a:ext cx="8293500" cy="384000"/>
          </a:xfrm>
          <a:prstGeom prst="roundRect">
            <a:avLst>
              <a:gd fmla="val 14000" name="adj"/>
            </a:avLst>
          </a:prstGeom>
          <a:solidFill>
            <a:srgbClr val="E4ED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de" sz="1050">
                <a:solidFill>
                  <a:srgbClr val="17242F"/>
                </a:solidFill>
                <a:latin typeface="Calibri"/>
                <a:ea typeface="Calibri"/>
                <a:cs typeface="Calibri"/>
                <a:sym typeface="Calibri"/>
              </a:rPr>
              <a:t>Schritte mit Unterstützung durch Claude Code durchgeführt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588" name="Shape 588"/>
        <p:cNvGrpSpPr/>
        <p:nvPr/>
      </p:nvGrpSpPr>
      <p:grpSpPr>
        <a:xfrm>
          <a:off x="0" y="0"/>
          <a:ext cx="0" cy="0"/>
          <a:chOff x="0" y="0"/>
          <a:chExt cx="0" cy="0"/>
        </a:xfrm>
      </p:grpSpPr>
      <p:sp>
        <p:nvSpPr>
          <p:cNvPr id="589" name="Google Shape;589;p32"/>
          <p:cNvSpPr/>
          <p:nvPr/>
        </p:nvSpPr>
        <p:spPr>
          <a:xfrm>
            <a:off x="425196" y="288036"/>
            <a:ext cx="7543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900"/>
              <a:buFont typeface="Calibri"/>
              <a:buNone/>
            </a:pPr>
            <a:r>
              <a:rPr b="1" lang="de" sz="900">
                <a:solidFill>
                  <a:srgbClr val="1C7293"/>
                </a:solidFill>
                <a:latin typeface="Calibri"/>
                <a:ea typeface="Calibri"/>
                <a:cs typeface="Calibri"/>
                <a:sym typeface="Calibri"/>
              </a:rPr>
              <a:t>REALISIERUNG · KI-REFLEXION</a:t>
            </a:r>
            <a:endParaRPr sz="900">
              <a:solidFill>
                <a:schemeClr val="dk1"/>
              </a:solidFill>
              <a:latin typeface="Calibri"/>
              <a:ea typeface="Calibri"/>
              <a:cs typeface="Calibri"/>
              <a:sym typeface="Calibri"/>
            </a:endParaRPr>
          </a:p>
        </p:txBody>
      </p:sp>
      <p:sp>
        <p:nvSpPr>
          <p:cNvPr id="590" name="Google Shape;590;p32"/>
          <p:cNvSpPr/>
          <p:nvPr/>
        </p:nvSpPr>
        <p:spPr>
          <a:xfrm>
            <a:off x="425196" y="493776"/>
            <a:ext cx="829818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2300"/>
              <a:buFont typeface="Calibri"/>
              <a:buNone/>
            </a:pPr>
            <a:r>
              <a:rPr b="1" lang="de" sz="2300">
                <a:solidFill>
                  <a:srgbClr val="17242F"/>
                </a:solidFill>
                <a:latin typeface="Calibri"/>
                <a:ea typeface="Calibri"/>
                <a:cs typeface="Calibri"/>
                <a:sym typeface="Calibri"/>
              </a:rPr>
              <a:t>Einsatz von KI</a:t>
            </a:r>
            <a:endParaRPr sz="2300">
              <a:solidFill>
                <a:schemeClr val="dk1"/>
              </a:solidFill>
              <a:latin typeface="Calibri"/>
              <a:ea typeface="Calibri"/>
              <a:cs typeface="Calibri"/>
              <a:sym typeface="Calibri"/>
            </a:endParaRPr>
          </a:p>
        </p:txBody>
      </p:sp>
      <p:sp>
        <p:nvSpPr>
          <p:cNvPr id="591" name="Google Shape;591;p32"/>
          <p:cNvSpPr/>
          <p:nvPr/>
        </p:nvSpPr>
        <p:spPr>
          <a:xfrm>
            <a:off x="425196" y="10012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1000"/>
              <a:buFont typeface="Calibri"/>
              <a:buNone/>
            </a:pPr>
            <a:r>
              <a:rPr lang="de" sz="1000">
                <a:solidFill>
                  <a:srgbClr val="5E6E7C"/>
                </a:solidFill>
                <a:latin typeface="Calibri"/>
                <a:ea typeface="Calibri"/>
                <a:cs typeface="Calibri"/>
                <a:sym typeface="Calibri"/>
              </a:rPr>
              <a:t>Claude Code (Opus 4.8), als Agent direkt im Repository.</a:t>
            </a:r>
            <a:endParaRPr sz="1000">
              <a:solidFill>
                <a:schemeClr val="dk1"/>
              </a:solidFill>
              <a:latin typeface="Calibri"/>
              <a:ea typeface="Calibri"/>
              <a:cs typeface="Calibri"/>
              <a:sym typeface="Calibri"/>
            </a:endParaRPr>
          </a:p>
        </p:txBody>
      </p:sp>
      <p:sp>
        <p:nvSpPr>
          <p:cNvPr id="592" name="Google Shape;592;p32"/>
          <p:cNvSpPr/>
          <p:nvPr/>
        </p:nvSpPr>
        <p:spPr>
          <a:xfrm>
            <a:off x="425196" y="1289304"/>
            <a:ext cx="3992385" cy="3017520"/>
          </a:xfrm>
          <a:prstGeom prst="roundRect">
            <a:avLst>
              <a:gd fmla="val 2045"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3" name="Google Shape;593;p32"/>
          <p:cNvSpPr/>
          <p:nvPr/>
        </p:nvSpPr>
        <p:spPr>
          <a:xfrm>
            <a:off x="425196" y="1289304"/>
            <a:ext cx="3992385" cy="54864"/>
          </a:xfrm>
          <a:prstGeom prst="rect">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4" name="Google Shape;594;p32"/>
          <p:cNvSpPr/>
          <p:nvPr/>
        </p:nvSpPr>
        <p:spPr>
          <a:xfrm>
            <a:off x="630936" y="1467612"/>
            <a:ext cx="3580905"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300"/>
              <a:buFont typeface="Calibri"/>
              <a:buNone/>
            </a:pPr>
            <a:r>
              <a:rPr b="1" lang="de" sz="1300">
                <a:solidFill>
                  <a:srgbClr val="17242F"/>
                </a:solidFill>
                <a:latin typeface="Calibri"/>
                <a:ea typeface="Calibri"/>
                <a:cs typeface="Calibri"/>
                <a:sym typeface="Calibri"/>
              </a:rPr>
              <a:t>Was gut funktioniert hat</a:t>
            </a:r>
            <a:endParaRPr sz="1300">
              <a:solidFill>
                <a:schemeClr val="dk1"/>
              </a:solidFill>
              <a:latin typeface="Calibri"/>
              <a:ea typeface="Calibri"/>
              <a:cs typeface="Calibri"/>
              <a:sym typeface="Calibri"/>
            </a:endParaRPr>
          </a:p>
        </p:txBody>
      </p:sp>
      <p:sp>
        <p:nvSpPr>
          <p:cNvPr id="595" name="Google Shape;595;p32"/>
          <p:cNvSpPr/>
          <p:nvPr/>
        </p:nvSpPr>
        <p:spPr>
          <a:xfrm>
            <a:off x="630936" y="2688336"/>
            <a:ext cx="123300" cy="123300"/>
          </a:xfrm>
          <a:prstGeom prst="ellipse">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6" name="Google Shape;596;p32"/>
          <p:cNvSpPr/>
          <p:nvPr/>
        </p:nvSpPr>
        <p:spPr>
          <a:xfrm>
            <a:off x="850392" y="2660904"/>
            <a:ext cx="33615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Konsistenz über sieben Services</a:t>
            </a:r>
            <a:endParaRPr sz="900">
              <a:solidFill>
                <a:schemeClr val="dk1"/>
              </a:solidFill>
              <a:latin typeface="Calibri"/>
              <a:ea typeface="Calibri"/>
              <a:cs typeface="Calibri"/>
              <a:sym typeface="Calibri"/>
            </a:endParaRPr>
          </a:p>
        </p:txBody>
      </p:sp>
      <p:sp>
        <p:nvSpPr>
          <p:cNvPr id="597" name="Google Shape;597;p32"/>
          <p:cNvSpPr/>
          <p:nvPr/>
        </p:nvSpPr>
        <p:spPr>
          <a:xfrm>
            <a:off x="850392" y="2846070"/>
            <a:ext cx="33615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Gleiche Struktur, gleiche Patterns, gleiche Fehlerbehandlung. In Anforderungen definiert und automatisch von Claude durchgesetzt</a:t>
            </a:r>
            <a:endParaRPr sz="800">
              <a:solidFill>
                <a:schemeClr val="dk1"/>
              </a:solidFill>
              <a:latin typeface="Calibri"/>
              <a:ea typeface="Calibri"/>
              <a:cs typeface="Calibri"/>
              <a:sym typeface="Calibri"/>
            </a:endParaRPr>
          </a:p>
        </p:txBody>
      </p:sp>
      <p:sp>
        <p:nvSpPr>
          <p:cNvPr id="598" name="Google Shape;598;p32"/>
          <p:cNvSpPr/>
          <p:nvPr/>
        </p:nvSpPr>
        <p:spPr>
          <a:xfrm>
            <a:off x="630936" y="3319272"/>
            <a:ext cx="123300" cy="123300"/>
          </a:xfrm>
          <a:prstGeom prst="ellipse">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9" name="Google Shape;599;p32"/>
          <p:cNvSpPr/>
          <p:nvPr/>
        </p:nvSpPr>
        <p:spPr>
          <a:xfrm>
            <a:off x="850392" y="3291840"/>
            <a:ext cx="33615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Spezifikation und Dokumentation</a:t>
            </a:r>
            <a:endParaRPr sz="900">
              <a:solidFill>
                <a:schemeClr val="dk1"/>
              </a:solidFill>
              <a:latin typeface="Calibri"/>
              <a:ea typeface="Calibri"/>
              <a:cs typeface="Calibri"/>
              <a:sym typeface="Calibri"/>
            </a:endParaRPr>
          </a:p>
        </p:txBody>
      </p:sp>
      <p:sp>
        <p:nvSpPr>
          <p:cNvPr id="600" name="Google Shape;600;p32"/>
          <p:cNvSpPr/>
          <p:nvPr/>
        </p:nvSpPr>
        <p:spPr>
          <a:xfrm>
            <a:off x="850392" y="3477006"/>
            <a:ext cx="33615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Umfangreiche Architektur- und Service-Dokumente als belastbare Grundlage vor dem Code. Regelmäßige Updates dieser durchgesetzt.</a:t>
            </a:r>
            <a:endParaRPr sz="800">
              <a:solidFill>
                <a:schemeClr val="dk1"/>
              </a:solidFill>
              <a:latin typeface="Calibri"/>
              <a:ea typeface="Calibri"/>
              <a:cs typeface="Calibri"/>
              <a:sym typeface="Calibri"/>
            </a:endParaRPr>
          </a:p>
        </p:txBody>
      </p:sp>
      <p:sp>
        <p:nvSpPr>
          <p:cNvPr id="601" name="Google Shape;601;p32"/>
          <p:cNvSpPr/>
          <p:nvPr/>
        </p:nvSpPr>
        <p:spPr>
          <a:xfrm>
            <a:off x="4726191" y="1289304"/>
            <a:ext cx="3992385" cy="3017520"/>
          </a:xfrm>
          <a:prstGeom prst="roundRect">
            <a:avLst>
              <a:gd fmla="val 2045"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2" name="Google Shape;602;p32"/>
          <p:cNvSpPr/>
          <p:nvPr/>
        </p:nvSpPr>
        <p:spPr>
          <a:xfrm>
            <a:off x="4726191" y="1289304"/>
            <a:ext cx="3992385" cy="54864"/>
          </a:xfrm>
          <a:prstGeom prst="rect">
            <a:avLst/>
          </a:prstGeom>
          <a:solidFill>
            <a:srgbClr val="E0A0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3" name="Google Shape;603;p32"/>
          <p:cNvSpPr/>
          <p:nvPr/>
        </p:nvSpPr>
        <p:spPr>
          <a:xfrm>
            <a:off x="4931931" y="1467612"/>
            <a:ext cx="3580905"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300"/>
              <a:buFont typeface="Calibri"/>
              <a:buNone/>
            </a:pPr>
            <a:r>
              <a:rPr b="1" lang="de" sz="1300">
                <a:solidFill>
                  <a:srgbClr val="17242F"/>
                </a:solidFill>
                <a:latin typeface="Calibri"/>
                <a:ea typeface="Calibri"/>
                <a:cs typeface="Calibri"/>
                <a:sym typeface="Calibri"/>
              </a:rPr>
              <a:t>Grenzen / Schwierigkeiten</a:t>
            </a:r>
            <a:endParaRPr sz="1300">
              <a:solidFill>
                <a:schemeClr val="dk1"/>
              </a:solidFill>
              <a:latin typeface="Calibri"/>
              <a:ea typeface="Calibri"/>
              <a:cs typeface="Calibri"/>
              <a:sym typeface="Calibri"/>
            </a:endParaRPr>
          </a:p>
        </p:txBody>
      </p:sp>
      <p:sp>
        <p:nvSpPr>
          <p:cNvPr id="604" name="Google Shape;604;p32"/>
          <p:cNvSpPr/>
          <p:nvPr/>
        </p:nvSpPr>
        <p:spPr>
          <a:xfrm>
            <a:off x="630911" y="2012874"/>
            <a:ext cx="123300" cy="123300"/>
          </a:xfrm>
          <a:prstGeom prst="ellipse">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5" name="Google Shape;605;p32"/>
          <p:cNvSpPr/>
          <p:nvPr/>
        </p:nvSpPr>
        <p:spPr>
          <a:xfrm>
            <a:off x="850367" y="1985442"/>
            <a:ext cx="33615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Schnelle Iterationen</a:t>
            </a:r>
            <a:endParaRPr sz="900">
              <a:solidFill>
                <a:schemeClr val="dk1"/>
              </a:solidFill>
              <a:latin typeface="Calibri"/>
              <a:ea typeface="Calibri"/>
              <a:cs typeface="Calibri"/>
              <a:sym typeface="Calibri"/>
            </a:endParaRPr>
          </a:p>
        </p:txBody>
      </p:sp>
      <p:sp>
        <p:nvSpPr>
          <p:cNvPr id="606" name="Google Shape;606;p32"/>
          <p:cNvSpPr/>
          <p:nvPr/>
        </p:nvSpPr>
        <p:spPr>
          <a:xfrm>
            <a:off x="850367" y="2170608"/>
            <a:ext cx="33615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Features ließen sich in wenigen Anfragen implementieren.</a:t>
            </a:r>
            <a:endParaRPr sz="800">
              <a:solidFill>
                <a:schemeClr val="dk1"/>
              </a:solidFill>
              <a:latin typeface="Calibri"/>
              <a:ea typeface="Calibri"/>
              <a:cs typeface="Calibri"/>
              <a:sym typeface="Calibri"/>
            </a:endParaRPr>
          </a:p>
        </p:txBody>
      </p:sp>
      <p:sp>
        <p:nvSpPr>
          <p:cNvPr id="607" name="Google Shape;607;p32"/>
          <p:cNvSpPr/>
          <p:nvPr/>
        </p:nvSpPr>
        <p:spPr>
          <a:xfrm>
            <a:off x="4931911" y="2040299"/>
            <a:ext cx="123300" cy="123300"/>
          </a:xfrm>
          <a:prstGeom prst="ellipse">
            <a:avLst/>
          </a:prstGeom>
          <a:solidFill>
            <a:srgbClr val="E0A0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8" name="Google Shape;608;p32"/>
          <p:cNvSpPr/>
          <p:nvPr/>
        </p:nvSpPr>
        <p:spPr>
          <a:xfrm>
            <a:off x="5151367" y="2012867"/>
            <a:ext cx="33615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Viele Tokens für Dokumentation</a:t>
            </a:r>
            <a:endParaRPr sz="900">
              <a:solidFill>
                <a:schemeClr val="dk1"/>
              </a:solidFill>
              <a:latin typeface="Calibri"/>
              <a:ea typeface="Calibri"/>
              <a:cs typeface="Calibri"/>
              <a:sym typeface="Calibri"/>
            </a:endParaRPr>
          </a:p>
        </p:txBody>
      </p:sp>
      <p:sp>
        <p:nvSpPr>
          <p:cNvPr id="609" name="Google Shape;609;p32"/>
          <p:cNvSpPr/>
          <p:nvPr/>
        </p:nvSpPr>
        <p:spPr>
          <a:xfrm>
            <a:off x="5151367" y="2198033"/>
            <a:ext cx="33615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Regelmäßige Updates der Dokumentation waren </a:t>
            </a:r>
            <a:r>
              <a:rPr lang="de" sz="800">
                <a:solidFill>
                  <a:srgbClr val="5E6E7C"/>
                </a:solidFill>
                <a:latin typeface="Calibri"/>
                <a:ea typeface="Calibri"/>
                <a:cs typeface="Calibri"/>
                <a:sym typeface="Calibri"/>
              </a:rPr>
              <a:t>häufig</a:t>
            </a:r>
            <a:r>
              <a:rPr lang="de" sz="800">
                <a:solidFill>
                  <a:srgbClr val="5E6E7C"/>
                </a:solidFill>
                <a:latin typeface="Calibri"/>
                <a:ea typeface="Calibri"/>
                <a:cs typeface="Calibri"/>
                <a:sym typeface="Calibri"/>
              </a:rPr>
              <a:t> mit sehr großem Kontext verbunden.</a:t>
            </a:r>
            <a:endParaRPr sz="800">
              <a:solidFill>
                <a:schemeClr val="dk1"/>
              </a:solidFill>
              <a:latin typeface="Calibri"/>
              <a:ea typeface="Calibri"/>
              <a:cs typeface="Calibri"/>
              <a:sym typeface="Calibri"/>
            </a:endParaRPr>
          </a:p>
        </p:txBody>
      </p:sp>
      <p:sp>
        <p:nvSpPr>
          <p:cNvPr id="610" name="Google Shape;610;p32"/>
          <p:cNvSpPr/>
          <p:nvPr/>
        </p:nvSpPr>
        <p:spPr>
          <a:xfrm>
            <a:off x="4931899" y="2780924"/>
            <a:ext cx="123300" cy="123300"/>
          </a:xfrm>
          <a:prstGeom prst="ellipse">
            <a:avLst/>
          </a:prstGeom>
          <a:solidFill>
            <a:srgbClr val="E0A0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1" name="Google Shape;611;p32"/>
          <p:cNvSpPr/>
          <p:nvPr/>
        </p:nvSpPr>
        <p:spPr>
          <a:xfrm>
            <a:off x="5151355" y="2753492"/>
            <a:ext cx="33615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Komplexe Aufgaben teils mit </a:t>
            </a:r>
            <a:r>
              <a:rPr b="1" lang="de" sz="900">
                <a:solidFill>
                  <a:srgbClr val="17242F"/>
                </a:solidFill>
                <a:latin typeface="Calibri"/>
                <a:ea typeface="Calibri"/>
                <a:cs typeface="Calibri"/>
                <a:sym typeface="Calibri"/>
              </a:rPr>
              <a:t>undokumentierten</a:t>
            </a:r>
            <a:r>
              <a:rPr b="1" lang="de" sz="900">
                <a:solidFill>
                  <a:srgbClr val="17242F"/>
                </a:solidFill>
                <a:latin typeface="Calibri"/>
                <a:ea typeface="Calibri"/>
                <a:cs typeface="Calibri"/>
                <a:sym typeface="Calibri"/>
              </a:rPr>
              <a:t> Nebeneffekten implementiert</a:t>
            </a:r>
            <a:endParaRPr sz="900">
              <a:solidFill>
                <a:schemeClr val="dk1"/>
              </a:solidFill>
              <a:latin typeface="Calibri"/>
              <a:ea typeface="Calibri"/>
              <a:cs typeface="Calibri"/>
              <a:sym typeface="Calibri"/>
            </a:endParaRPr>
          </a:p>
        </p:txBody>
      </p:sp>
      <p:sp>
        <p:nvSpPr>
          <p:cNvPr id="612" name="Google Shape;612;p32"/>
          <p:cNvSpPr/>
          <p:nvPr/>
        </p:nvSpPr>
        <p:spPr>
          <a:xfrm>
            <a:off x="5151355" y="2938658"/>
            <a:ext cx="33615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Eingriffe in Services haben bei nicht </a:t>
            </a:r>
            <a:r>
              <a:rPr lang="de" sz="800">
                <a:solidFill>
                  <a:srgbClr val="5E6E7C"/>
                </a:solidFill>
                <a:latin typeface="Calibri"/>
                <a:ea typeface="Calibri"/>
                <a:cs typeface="Calibri"/>
                <a:sym typeface="Calibri"/>
              </a:rPr>
              <a:t>exakter</a:t>
            </a:r>
            <a:r>
              <a:rPr lang="de" sz="800">
                <a:solidFill>
                  <a:srgbClr val="5E6E7C"/>
                </a:solidFill>
                <a:latin typeface="Calibri"/>
                <a:ea typeface="Calibri"/>
                <a:cs typeface="Calibri"/>
                <a:sym typeface="Calibri"/>
              </a:rPr>
              <a:t> Planung zu fehlerhaften Annahmen geführt. Bsp. Frontend Rework ohne übernahmen </a:t>
            </a:r>
            <a:r>
              <a:rPr lang="de" sz="800">
                <a:solidFill>
                  <a:srgbClr val="5E6E7C"/>
                </a:solidFill>
                <a:latin typeface="Calibri"/>
                <a:ea typeface="Calibri"/>
                <a:cs typeface="Calibri"/>
                <a:sym typeface="Calibri"/>
              </a:rPr>
              <a:t>essenzieller</a:t>
            </a:r>
            <a:r>
              <a:rPr lang="de" sz="800">
                <a:solidFill>
                  <a:srgbClr val="5E6E7C"/>
                </a:solidFill>
                <a:latin typeface="Calibri"/>
                <a:ea typeface="Calibri"/>
                <a:cs typeface="Calibri"/>
                <a:sym typeface="Calibri"/>
              </a:rPr>
              <a:t> Features.</a:t>
            </a:r>
            <a:endParaRPr sz="800">
              <a:solidFill>
                <a:schemeClr val="dk1"/>
              </a:solidFill>
              <a:latin typeface="Calibri"/>
              <a:ea typeface="Calibri"/>
              <a:cs typeface="Calibri"/>
              <a:sym typeface="Calibri"/>
            </a:endParaRPr>
          </a:p>
        </p:txBody>
      </p:sp>
      <p:sp>
        <p:nvSpPr>
          <p:cNvPr id="613" name="Google Shape;613;p32"/>
          <p:cNvSpPr/>
          <p:nvPr/>
        </p:nvSpPr>
        <p:spPr>
          <a:xfrm>
            <a:off x="4931911" y="3411849"/>
            <a:ext cx="123300" cy="123300"/>
          </a:xfrm>
          <a:prstGeom prst="ellipse">
            <a:avLst/>
          </a:prstGeom>
          <a:solidFill>
            <a:srgbClr val="E0A0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4" name="Google Shape;614;p32"/>
          <p:cNvSpPr/>
          <p:nvPr/>
        </p:nvSpPr>
        <p:spPr>
          <a:xfrm>
            <a:off x="5151367" y="3384417"/>
            <a:ext cx="33615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Halluzinationen in Doku</a:t>
            </a:r>
            <a:endParaRPr sz="900">
              <a:solidFill>
                <a:schemeClr val="dk1"/>
              </a:solidFill>
              <a:latin typeface="Calibri"/>
              <a:ea typeface="Calibri"/>
              <a:cs typeface="Calibri"/>
              <a:sym typeface="Calibri"/>
            </a:endParaRPr>
          </a:p>
        </p:txBody>
      </p:sp>
      <p:sp>
        <p:nvSpPr>
          <p:cNvPr id="615" name="Google Shape;615;p32"/>
          <p:cNvSpPr/>
          <p:nvPr/>
        </p:nvSpPr>
        <p:spPr>
          <a:xfrm>
            <a:off x="5151367" y="3569582"/>
            <a:ext cx="33615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In der Doku wurde teils geplantes mit Implementierten vermischt. Bsp. Authorization lange nur als Stub implementiert aber als fertig dokumentiert.</a:t>
            </a:r>
            <a:endParaRPr sz="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B2A"/>
        </a:solidFill>
      </p:bgPr>
    </p:bg>
    <p:spTree>
      <p:nvGrpSpPr>
        <p:cNvPr id="620" name="Shape 620"/>
        <p:cNvGrpSpPr/>
        <p:nvPr/>
      </p:nvGrpSpPr>
      <p:grpSpPr>
        <a:xfrm>
          <a:off x="0" y="0"/>
          <a:ext cx="0" cy="0"/>
          <a:chOff x="0" y="0"/>
          <a:chExt cx="0" cy="0"/>
        </a:xfrm>
      </p:grpSpPr>
      <p:sp>
        <p:nvSpPr>
          <p:cNvPr id="621" name="Google Shape;621;p33"/>
          <p:cNvSpPr/>
          <p:nvPr/>
        </p:nvSpPr>
        <p:spPr>
          <a:xfrm>
            <a:off x="7269480" y="3223260"/>
            <a:ext cx="617220" cy="617220"/>
          </a:xfrm>
          <a:prstGeom prst="roundRect">
            <a:avLst>
              <a:gd fmla="val 8889" name="adj"/>
            </a:avLst>
          </a:prstGeom>
          <a:solidFill>
            <a:srgbClr val="12263A">
              <a:alpha val="54902"/>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2" name="Google Shape;622;p33"/>
          <p:cNvSpPr/>
          <p:nvPr/>
        </p:nvSpPr>
        <p:spPr>
          <a:xfrm>
            <a:off x="7989570" y="3223260"/>
            <a:ext cx="617220" cy="617220"/>
          </a:xfrm>
          <a:prstGeom prst="roundRect">
            <a:avLst>
              <a:gd fmla="val 8889" name="adj"/>
            </a:avLst>
          </a:prstGeom>
          <a:solidFill>
            <a:srgbClr val="134E63">
              <a:alpha val="6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3" name="Google Shape;623;p33"/>
          <p:cNvSpPr/>
          <p:nvPr/>
        </p:nvSpPr>
        <p:spPr>
          <a:xfrm>
            <a:off x="7269480" y="3943350"/>
            <a:ext cx="617220" cy="617220"/>
          </a:xfrm>
          <a:prstGeom prst="roundRect">
            <a:avLst>
              <a:gd fmla="val 8889" name="adj"/>
            </a:avLst>
          </a:prstGeom>
          <a:solidFill>
            <a:srgbClr val="134E63">
              <a:alpha val="6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4" name="Google Shape;624;p33"/>
          <p:cNvSpPr/>
          <p:nvPr/>
        </p:nvSpPr>
        <p:spPr>
          <a:xfrm>
            <a:off x="7989570" y="3943350"/>
            <a:ext cx="617220" cy="617220"/>
          </a:xfrm>
          <a:prstGeom prst="roundRect">
            <a:avLst>
              <a:gd fmla="val 8889" name="adj"/>
            </a:avLst>
          </a:prstGeom>
          <a:solidFill>
            <a:srgbClr val="12263A">
              <a:alpha val="4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5" name="Google Shape;625;p33"/>
          <p:cNvSpPr/>
          <p:nvPr/>
        </p:nvSpPr>
        <p:spPr>
          <a:xfrm>
            <a:off x="425196" y="1405890"/>
            <a:ext cx="205740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4B6"/>
              </a:buClr>
              <a:buSzPts val="7200"/>
              <a:buFont typeface="Calibri"/>
              <a:buNone/>
            </a:pPr>
            <a:r>
              <a:rPr b="1" lang="de" sz="7200">
                <a:solidFill>
                  <a:srgbClr val="2EC4B6"/>
                </a:solidFill>
                <a:latin typeface="Calibri"/>
                <a:ea typeface="Calibri"/>
                <a:cs typeface="Calibri"/>
                <a:sym typeface="Calibri"/>
              </a:rPr>
              <a:t>05</a:t>
            </a:r>
            <a:endParaRPr sz="7200">
              <a:solidFill>
                <a:schemeClr val="dk1"/>
              </a:solidFill>
              <a:latin typeface="Calibri"/>
              <a:ea typeface="Calibri"/>
              <a:cs typeface="Calibri"/>
              <a:sym typeface="Calibri"/>
            </a:endParaRPr>
          </a:p>
        </p:txBody>
      </p:sp>
      <p:sp>
        <p:nvSpPr>
          <p:cNvPr id="626" name="Google Shape;626;p33"/>
          <p:cNvSpPr/>
          <p:nvPr/>
        </p:nvSpPr>
        <p:spPr>
          <a:xfrm>
            <a:off x="425196" y="2400300"/>
            <a:ext cx="720090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lang="de" sz="3000">
                <a:solidFill>
                  <a:srgbClr val="FFFFFF"/>
                </a:solidFill>
                <a:latin typeface="Calibri"/>
                <a:ea typeface="Calibri"/>
                <a:cs typeface="Calibri"/>
                <a:sym typeface="Calibri"/>
              </a:rPr>
              <a:t>Deployment &amp; Evaluation</a:t>
            </a:r>
            <a:endParaRPr sz="3000">
              <a:solidFill>
                <a:schemeClr val="dk1"/>
              </a:solidFill>
              <a:latin typeface="Calibri"/>
              <a:ea typeface="Calibri"/>
              <a:cs typeface="Calibri"/>
              <a:sym typeface="Calibri"/>
            </a:endParaRPr>
          </a:p>
        </p:txBody>
      </p:sp>
      <p:cxnSp>
        <p:nvCxnSpPr>
          <p:cNvPr id="627" name="Google Shape;627;p33"/>
          <p:cNvCxnSpPr/>
          <p:nvPr/>
        </p:nvCxnSpPr>
        <p:spPr>
          <a:xfrm>
            <a:off x="425196" y="3086100"/>
            <a:ext cx="1783080" cy="0"/>
          </a:xfrm>
          <a:prstGeom prst="straightConnector1">
            <a:avLst/>
          </a:prstGeom>
          <a:noFill/>
          <a:ln cap="flat" cmpd="sng" w="25400">
            <a:solidFill>
              <a:srgbClr val="1C7293"/>
            </a:solidFill>
            <a:prstDash val="solid"/>
            <a:round/>
            <a:headEnd len="sm" w="sm" type="none"/>
            <a:tailEnd len="sm" w="sm"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632" name="Shape 632"/>
        <p:cNvGrpSpPr/>
        <p:nvPr/>
      </p:nvGrpSpPr>
      <p:grpSpPr>
        <a:xfrm>
          <a:off x="0" y="0"/>
          <a:ext cx="0" cy="0"/>
          <a:chOff x="0" y="0"/>
          <a:chExt cx="0" cy="0"/>
        </a:xfrm>
      </p:grpSpPr>
      <p:sp>
        <p:nvSpPr>
          <p:cNvPr id="633" name="Google Shape;633;p34"/>
          <p:cNvSpPr/>
          <p:nvPr/>
        </p:nvSpPr>
        <p:spPr>
          <a:xfrm>
            <a:off x="425196" y="288036"/>
            <a:ext cx="7543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900"/>
              <a:buFont typeface="Calibri"/>
              <a:buNone/>
            </a:pPr>
            <a:r>
              <a:rPr b="1" lang="de" sz="900">
                <a:solidFill>
                  <a:srgbClr val="1C7293"/>
                </a:solidFill>
                <a:latin typeface="Calibri"/>
                <a:ea typeface="Calibri"/>
                <a:cs typeface="Calibri"/>
                <a:sym typeface="Calibri"/>
              </a:rPr>
              <a:t>DEPLOYMENT · START</a:t>
            </a:r>
            <a:endParaRPr sz="900">
              <a:solidFill>
                <a:schemeClr val="dk1"/>
              </a:solidFill>
              <a:latin typeface="Calibri"/>
              <a:ea typeface="Calibri"/>
              <a:cs typeface="Calibri"/>
              <a:sym typeface="Calibri"/>
            </a:endParaRPr>
          </a:p>
        </p:txBody>
      </p:sp>
      <p:sp>
        <p:nvSpPr>
          <p:cNvPr id="634" name="Google Shape;634;p34"/>
          <p:cNvSpPr/>
          <p:nvPr/>
        </p:nvSpPr>
        <p:spPr>
          <a:xfrm>
            <a:off x="425196" y="493776"/>
            <a:ext cx="829818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2300"/>
              <a:buFont typeface="Calibri"/>
              <a:buNone/>
            </a:pPr>
            <a:r>
              <a:rPr b="1" lang="de" sz="2300">
                <a:solidFill>
                  <a:srgbClr val="17242F"/>
                </a:solidFill>
                <a:latin typeface="Calibri"/>
                <a:ea typeface="Calibri"/>
                <a:cs typeface="Calibri"/>
                <a:sym typeface="Calibri"/>
              </a:rPr>
              <a:t>Voraussetzungen und Start — ein Kommando</a:t>
            </a:r>
            <a:endParaRPr sz="2300">
              <a:solidFill>
                <a:schemeClr val="dk1"/>
              </a:solidFill>
              <a:latin typeface="Calibri"/>
              <a:ea typeface="Calibri"/>
              <a:cs typeface="Calibri"/>
              <a:sym typeface="Calibri"/>
            </a:endParaRPr>
          </a:p>
        </p:txBody>
      </p:sp>
      <p:sp>
        <p:nvSpPr>
          <p:cNvPr id="635" name="Google Shape;635;p34"/>
          <p:cNvSpPr/>
          <p:nvPr/>
        </p:nvSpPr>
        <p:spPr>
          <a:xfrm>
            <a:off x="425196" y="1097280"/>
            <a:ext cx="8293379" cy="788670"/>
          </a:xfrm>
          <a:prstGeom prst="roundRect">
            <a:avLst>
              <a:gd fmla="val 7826" name="adj"/>
            </a:avLst>
          </a:prstGeom>
          <a:solidFill>
            <a:srgbClr val="12263A"/>
          </a:solidFill>
          <a:ln>
            <a:noFill/>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36" name="Google Shape;636;p34"/>
          <p:cNvSpPr/>
          <p:nvPr/>
        </p:nvSpPr>
        <p:spPr>
          <a:xfrm>
            <a:off x="699516" y="1179576"/>
            <a:ext cx="2331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4B6"/>
              </a:buClr>
              <a:buSzPts val="2600"/>
              <a:buFont typeface="Consolas"/>
              <a:buNone/>
            </a:pPr>
            <a:r>
              <a:rPr b="1" lang="de" sz="2600">
                <a:solidFill>
                  <a:srgbClr val="2EC4B6"/>
                </a:solidFill>
                <a:latin typeface="Consolas"/>
                <a:ea typeface="Consolas"/>
                <a:cs typeface="Consolas"/>
                <a:sym typeface="Consolas"/>
              </a:rPr>
              <a:t>make up</a:t>
            </a:r>
            <a:endParaRPr sz="2600">
              <a:solidFill>
                <a:schemeClr val="dk1"/>
              </a:solidFill>
              <a:latin typeface="Calibri"/>
              <a:ea typeface="Calibri"/>
              <a:cs typeface="Calibri"/>
              <a:sym typeface="Calibri"/>
            </a:endParaRPr>
          </a:p>
        </p:txBody>
      </p:sp>
      <p:sp>
        <p:nvSpPr>
          <p:cNvPr id="637" name="Google Shape;637;p34"/>
          <p:cNvSpPr/>
          <p:nvPr/>
        </p:nvSpPr>
        <p:spPr>
          <a:xfrm>
            <a:off x="3099816" y="1220724"/>
            <a:ext cx="562356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de" sz="1100">
                <a:solidFill>
                  <a:srgbClr val="FFFFFF"/>
                </a:solidFill>
                <a:latin typeface="Calibri"/>
                <a:ea typeface="Calibri"/>
                <a:cs typeface="Calibri"/>
                <a:sym typeface="Calibri"/>
              </a:rPr>
              <a:t>Services, Datenbank, Broker, Cache, Object-Storage und Gateway starten gemeinsam.</a:t>
            </a:r>
            <a:endParaRPr sz="1100">
              <a:solidFill>
                <a:schemeClr val="dk1"/>
              </a:solidFill>
              <a:latin typeface="Calibri"/>
              <a:ea typeface="Calibri"/>
              <a:cs typeface="Calibri"/>
              <a:sym typeface="Calibri"/>
            </a:endParaRPr>
          </a:p>
        </p:txBody>
      </p:sp>
      <p:sp>
        <p:nvSpPr>
          <p:cNvPr id="638" name="Google Shape;638;p34"/>
          <p:cNvSpPr/>
          <p:nvPr/>
        </p:nvSpPr>
        <p:spPr>
          <a:xfrm>
            <a:off x="3099816" y="1440180"/>
            <a:ext cx="562356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4"/>
              </a:buClr>
              <a:buSzPts val="900"/>
              <a:buFont typeface="Calibri"/>
              <a:buNone/>
            </a:pPr>
            <a:r>
              <a:rPr lang="de" sz="900">
                <a:solidFill>
                  <a:srgbClr val="9FB3C4"/>
                </a:solidFill>
                <a:latin typeface="Calibri"/>
                <a:ea typeface="Calibri"/>
                <a:cs typeface="Calibri"/>
                <a:sym typeface="Calibri"/>
              </a:rPr>
              <a:t>Erster Lauf rund 3 Minuten — danach ist das komplette System lokal erreichbar. Kein manuelles Setup, keine externe Abhängigkeit.</a:t>
            </a:r>
            <a:endParaRPr sz="900">
              <a:solidFill>
                <a:schemeClr val="dk1"/>
              </a:solidFill>
              <a:latin typeface="Calibri"/>
              <a:ea typeface="Calibri"/>
              <a:cs typeface="Calibri"/>
              <a:sym typeface="Calibri"/>
            </a:endParaRPr>
          </a:p>
        </p:txBody>
      </p:sp>
      <p:sp>
        <p:nvSpPr>
          <p:cNvPr id="639" name="Google Shape;639;p34"/>
          <p:cNvSpPr/>
          <p:nvPr/>
        </p:nvSpPr>
        <p:spPr>
          <a:xfrm>
            <a:off x="425196" y="2023110"/>
            <a:ext cx="3992385" cy="1028700"/>
          </a:xfrm>
          <a:prstGeom prst="roundRect">
            <a:avLst>
              <a:gd fmla="val 5333"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0" name="Google Shape;640;p34"/>
          <p:cNvSpPr/>
          <p:nvPr/>
        </p:nvSpPr>
        <p:spPr>
          <a:xfrm>
            <a:off x="617220" y="2112264"/>
            <a:ext cx="3608337"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Voraussetzungen</a:t>
            </a:r>
            <a:endParaRPr sz="1100">
              <a:solidFill>
                <a:schemeClr val="dk1"/>
              </a:solidFill>
              <a:latin typeface="Calibri"/>
              <a:ea typeface="Calibri"/>
              <a:cs typeface="Calibri"/>
              <a:sym typeface="Calibri"/>
            </a:endParaRPr>
          </a:p>
        </p:txBody>
      </p:sp>
      <p:sp>
        <p:nvSpPr>
          <p:cNvPr id="641" name="Google Shape;641;p34"/>
          <p:cNvSpPr/>
          <p:nvPr/>
        </p:nvSpPr>
        <p:spPr>
          <a:xfrm>
            <a:off x="617220" y="2359152"/>
            <a:ext cx="1463497" cy="233172"/>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2" name="Google Shape;642;p34"/>
          <p:cNvSpPr/>
          <p:nvPr/>
        </p:nvSpPr>
        <p:spPr>
          <a:xfrm>
            <a:off x="617220" y="2359152"/>
            <a:ext cx="1463497"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700"/>
              <a:buFont typeface="Calibri"/>
              <a:buNone/>
            </a:pPr>
            <a:r>
              <a:rPr b="1" lang="de" sz="700">
                <a:solidFill>
                  <a:srgbClr val="134E63"/>
                </a:solidFill>
                <a:latin typeface="Calibri"/>
                <a:ea typeface="Calibri"/>
                <a:cs typeface="Calibri"/>
                <a:sym typeface="Calibri"/>
              </a:rPr>
              <a:t>Docker + Docker Compose</a:t>
            </a:r>
            <a:endParaRPr sz="700">
              <a:solidFill>
                <a:schemeClr val="dk1"/>
              </a:solidFill>
              <a:latin typeface="Calibri"/>
              <a:ea typeface="Calibri"/>
              <a:cs typeface="Calibri"/>
              <a:sym typeface="Calibri"/>
            </a:endParaRPr>
          </a:p>
        </p:txBody>
      </p:sp>
      <p:sp>
        <p:nvSpPr>
          <p:cNvPr id="643" name="Google Shape;643;p34"/>
          <p:cNvSpPr/>
          <p:nvPr/>
        </p:nvSpPr>
        <p:spPr>
          <a:xfrm>
            <a:off x="2331720" y="2359152"/>
            <a:ext cx="447142" cy="233172"/>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4" name="Google Shape;644;p34"/>
          <p:cNvSpPr/>
          <p:nvPr/>
        </p:nvSpPr>
        <p:spPr>
          <a:xfrm>
            <a:off x="2331720" y="2359152"/>
            <a:ext cx="447142"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700"/>
              <a:buFont typeface="Calibri"/>
              <a:buNone/>
            </a:pPr>
            <a:r>
              <a:rPr b="1" lang="de" sz="700">
                <a:solidFill>
                  <a:srgbClr val="134E63"/>
                </a:solidFill>
                <a:latin typeface="Calibri"/>
                <a:ea typeface="Calibri"/>
                <a:cs typeface="Calibri"/>
                <a:sym typeface="Calibri"/>
              </a:rPr>
              <a:t>Make</a:t>
            </a:r>
            <a:endParaRPr sz="700">
              <a:solidFill>
                <a:schemeClr val="dk1"/>
              </a:solidFill>
              <a:latin typeface="Calibri"/>
              <a:ea typeface="Calibri"/>
              <a:cs typeface="Calibri"/>
              <a:sym typeface="Calibri"/>
            </a:endParaRPr>
          </a:p>
        </p:txBody>
      </p:sp>
      <p:sp>
        <p:nvSpPr>
          <p:cNvPr id="645" name="Google Shape;645;p34"/>
          <p:cNvSpPr/>
          <p:nvPr/>
        </p:nvSpPr>
        <p:spPr>
          <a:xfrm>
            <a:off x="3031236" y="2352294"/>
            <a:ext cx="1262901" cy="233172"/>
          </a:xfrm>
          <a:prstGeom prst="roundRect">
            <a:avLst>
              <a:gd fmla="val 50000" name="adj"/>
            </a:avLst>
          </a:prstGeom>
          <a:solidFill>
            <a:srgbClr val="E4EDF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6" name="Google Shape;646;p34"/>
          <p:cNvSpPr/>
          <p:nvPr/>
        </p:nvSpPr>
        <p:spPr>
          <a:xfrm>
            <a:off x="2962656" y="2359152"/>
            <a:ext cx="1463498"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4E63"/>
              </a:buClr>
              <a:buSzPts val="700"/>
              <a:buFont typeface="Calibri"/>
              <a:buNone/>
            </a:pPr>
            <a:r>
              <a:rPr b="1" lang="de" sz="700">
                <a:solidFill>
                  <a:srgbClr val="134E63"/>
                </a:solidFill>
                <a:latin typeface="Calibri"/>
                <a:ea typeface="Calibri"/>
                <a:cs typeface="Calibri"/>
                <a:sym typeface="Calibri"/>
              </a:rPr>
              <a:t>Python 3 (Seed-Skripte)</a:t>
            </a:r>
            <a:endParaRPr sz="700">
              <a:solidFill>
                <a:schemeClr val="dk1"/>
              </a:solidFill>
              <a:latin typeface="Calibri"/>
              <a:ea typeface="Calibri"/>
              <a:cs typeface="Calibri"/>
              <a:sym typeface="Calibri"/>
            </a:endParaRPr>
          </a:p>
        </p:txBody>
      </p:sp>
      <p:sp>
        <p:nvSpPr>
          <p:cNvPr id="647" name="Google Shape;647;p34"/>
          <p:cNvSpPr/>
          <p:nvPr/>
        </p:nvSpPr>
        <p:spPr>
          <a:xfrm>
            <a:off x="617220" y="2674620"/>
            <a:ext cx="3608337"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5"/>
              </a:buClr>
              <a:buSzPts val="800"/>
              <a:buFont typeface="Calibri"/>
              <a:buNone/>
            </a:pPr>
            <a:r>
              <a:rPr i="1" lang="de" sz="800">
                <a:solidFill>
                  <a:srgbClr val="8A98A5"/>
                </a:solidFill>
                <a:latin typeface="Calibri"/>
                <a:ea typeface="Calibri"/>
                <a:cs typeface="Calibri"/>
                <a:sym typeface="Calibri"/>
              </a:rPr>
              <a:t>Go und Node.js nur nötig, wenn außerhalb von Docker gebaut wird.</a:t>
            </a:r>
            <a:endParaRPr sz="800">
              <a:solidFill>
                <a:schemeClr val="dk1"/>
              </a:solidFill>
              <a:latin typeface="Calibri"/>
              <a:ea typeface="Calibri"/>
              <a:cs typeface="Calibri"/>
              <a:sym typeface="Calibri"/>
            </a:endParaRPr>
          </a:p>
        </p:txBody>
      </p:sp>
      <p:sp>
        <p:nvSpPr>
          <p:cNvPr id="648" name="Google Shape;648;p34"/>
          <p:cNvSpPr/>
          <p:nvPr/>
        </p:nvSpPr>
        <p:spPr>
          <a:xfrm>
            <a:off x="4726191" y="2023110"/>
            <a:ext cx="3992385" cy="1028700"/>
          </a:xfrm>
          <a:prstGeom prst="roundRect">
            <a:avLst>
              <a:gd fmla="val 5333"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9" name="Google Shape;649;p34"/>
          <p:cNvSpPr/>
          <p:nvPr/>
        </p:nvSpPr>
        <p:spPr>
          <a:xfrm>
            <a:off x="4918215" y="2112264"/>
            <a:ext cx="3608337"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100"/>
              <a:buFont typeface="Calibri"/>
              <a:buNone/>
            </a:pPr>
            <a:r>
              <a:rPr b="1" lang="de" sz="1100">
                <a:solidFill>
                  <a:srgbClr val="17242F"/>
                </a:solidFill>
                <a:latin typeface="Calibri"/>
                <a:ea typeface="Calibri"/>
                <a:cs typeface="Calibri"/>
                <a:sym typeface="Calibri"/>
              </a:rPr>
              <a:t>Weitere Kommandos</a:t>
            </a:r>
            <a:endParaRPr sz="1100">
              <a:solidFill>
                <a:schemeClr val="dk1"/>
              </a:solidFill>
              <a:latin typeface="Calibri"/>
              <a:ea typeface="Calibri"/>
              <a:cs typeface="Calibri"/>
              <a:sym typeface="Calibri"/>
            </a:endParaRPr>
          </a:p>
        </p:txBody>
      </p:sp>
      <p:sp>
        <p:nvSpPr>
          <p:cNvPr id="650" name="Google Shape;650;p34"/>
          <p:cNvSpPr/>
          <p:nvPr/>
        </p:nvSpPr>
        <p:spPr>
          <a:xfrm>
            <a:off x="4918215" y="2359152"/>
            <a:ext cx="89154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4E63"/>
              </a:buClr>
              <a:buSzPts val="800"/>
              <a:buFont typeface="Consolas"/>
              <a:buNone/>
            </a:pPr>
            <a:r>
              <a:rPr b="1" lang="de" sz="800">
                <a:solidFill>
                  <a:srgbClr val="134E63"/>
                </a:solidFill>
                <a:latin typeface="Consolas"/>
                <a:ea typeface="Consolas"/>
                <a:cs typeface="Consolas"/>
                <a:sym typeface="Consolas"/>
              </a:rPr>
              <a:t>make seed</a:t>
            </a:r>
            <a:endParaRPr sz="800">
              <a:solidFill>
                <a:schemeClr val="dk1"/>
              </a:solidFill>
              <a:latin typeface="Calibri"/>
              <a:ea typeface="Calibri"/>
              <a:cs typeface="Calibri"/>
              <a:sym typeface="Calibri"/>
            </a:endParaRPr>
          </a:p>
        </p:txBody>
      </p:sp>
      <p:sp>
        <p:nvSpPr>
          <p:cNvPr id="651" name="Google Shape;651;p34"/>
          <p:cNvSpPr/>
          <p:nvPr/>
        </p:nvSpPr>
        <p:spPr>
          <a:xfrm>
            <a:off x="4918215" y="2537460"/>
            <a:ext cx="8915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700"/>
              <a:buFont typeface="Calibri"/>
              <a:buNone/>
            </a:pPr>
            <a:r>
              <a:rPr lang="de" sz="700">
                <a:solidFill>
                  <a:srgbClr val="5E6E7C"/>
                </a:solidFill>
                <a:latin typeface="Calibri"/>
                <a:ea typeface="Calibri"/>
                <a:cs typeface="Calibri"/>
                <a:sym typeface="Calibri"/>
              </a:rPr>
              <a:t>Demo-Daten</a:t>
            </a:r>
            <a:endParaRPr sz="700">
              <a:solidFill>
                <a:schemeClr val="dk1"/>
              </a:solidFill>
              <a:latin typeface="Calibri"/>
              <a:ea typeface="Calibri"/>
              <a:cs typeface="Calibri"/>
              <a:sym typeface="Calibri"/>
            </a:endParaRPr>
          </a:p>
        </p:txBody>
      </p:sp>
      <p:sp>
        <p:nvSpPr>
          <p:cNvPr id="652" name="Google Shape;652;p34"/>
          <p:cNvSpPr/>
          <p:nvPr/>
        </p:nvSpPr>
        <p:spPr>
          <a:xfrm>
            <a:off x="5850903" y="2359152"/>
            <a:ext cx="89154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4E63"/>
              </a:buClr>
              <a:buSzPts val="800"/>
              <a:buFont typeface="Consolas"/>
              <a:buNone/>
            </a:pPr>
            <a:r>
              <a:rPr b="1" lang="de" sz="800">
                <a:solidFill>
                  <a:srgbClr val="134E63"/>
                </a:solidFill>
                <a:latin typeface="Consolas"/>
                <a:ea typeface="Consolas"/>
                <a:cs typeface="Consolas"/>
                <a:sym typeface="Consolas"/>
              </a:rPr>
              <a:t>make urls</a:t>
            </a:r>
            <a:endParaRPr sz="800">
              <a:solidFill>
                <a:schemeClr val="dk1"/>
              </a:solidFill>
              <a:latin typeface="Calibri"/>
              <a:ea typeface="Calibri"/>
              <a:cs typeface="Calibri"/>
              <a:sym typeface="Calibri"/>
            </a:endParaRPr>
          </a:p>
        </p:txBody>
      </p:sp>
      <p:sp>
        <p:nvSpPr>
          <p:cNvPr id="653" name="Google Shape;653;p34"/>
          <p:cNvSpPr/>
          <p:nvPr/>
        </p:nvSpPr>
        <p:spPr>
          <a:xfrm>
            <a:off x="5850903" y="2537460"/>
            <a:ext cx="8915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700"/>
              <a:buFont typeface="Calibri"/>
              <a:buNone/>
            </a:pPr>
            <a:r>
              <a:rPr lang="de" sz="700">
                <a:solidFill>
                  <a:srgbClr val="5E6E7C"/>
                </a:solidFill>
                <a:latin typeface="Calibri"/>
                <a:ea typeface="Calibri"/>
                <a:cs typeface="Calibri"/>
                <a:sym typeface="Calibri"/>
              </a:rPr>
              <a:t>alle URLs</a:t>
            </a:r>
            <a:endParaRPr sz="700">
              <a:solidFill>
                <a:schemeClr val="dk1"/>
              </a:solidFill>
              <a:latin typeface="Calibri"/>
              <a:ea typeface="Calibri"/>
              <a:cs typeface="Calibri"/>
              <a:sym typeface="Calibri"/>
            </a:endParaRPr>
          </a:p>
        </p:txBody>
      </p:sp>
      <p:sp>
        <p:nvSpPr>
          <p:cNvPr id="654" name="Google Shape;654;p34"/>
          <p:cNvSpPr/>
          <p:nvPr/>
        </p:nvSpPr>
        <p:spPr>
          <a:xfrm>
            <a:off x="6783591" y="2359152"/>
            <a:ext cx="89154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4E63"/>
              </a:buClr>
              <a:buSzPts val="800"/>
              <a:buFont typeface="Consolas"/>
              <a:buNone/>
            </a:pPr>
            <a:r>
              <a:rPr b="1" lang="de" sz="800">
                <a:solidFill>
                  <a:srgbClr val="134E63"/>
                </a:solidFill>
                <a:latin typeface="Consolas"/>
                <a:ea typeface="Consolas"/>
                <a:cs typeface="Consolas"/>
                <a:sym typeface="Consolas"/>
              </a:rPr>
              <a:t>make logs</a:t>
            </a:r>
            <a:endParaRPr sz="800">
              <a:solidFill>
                <a:schemeClr val="dk1"/>
              </a:solidFill>
              <a:latin typeface="Calibri"/>
              <a:ea typeface="Calibri"/>
              <a:cs typeface="Calibri"/>
              <a:sym typeface="Calibri"/>
            </a:endParaRPr>
          </a:p>
        </p:txBody>
      </p:sp>
      <p:sp>
        <p:nvSpPr>
          <p:cNvPr id="655" name="Google Shape;655;p34"/>
          <p:cNvSpPr/>
          <p:nvPr/>
        </p:nvSpPr>
        <p:spPr>
          <a:xfrm>
            <a:off x="6783591" y="2537460"/>
            <a:ext cx="8915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700"/>
              <a:buFont typeface="Calibri"/>
              <a:buNone/>
            </a:pPr>
            <a:r>
              <a:rPr lang="de" sz="700">
                <a:solidFill>
                  <a:srgbClr val="5E6E7C"/>
                </a:solidFill>
                <a:latin typeface="Calibri"/>
                <a:ea typeface="Calibri"/>
                <a:cs typeface="Calibri"/>
                <a:sym typeface="Calibri"/>
              </a:rPr>
              <a:t>Logs</a:t>
            </a:r>
            <a:endParaRPr sz="700">
              <a:solidFill>
                <a:schemeClr val="dk1"/>
              </a:solidFill>
              <a:latin typeface="Calibri"/>
              <a:ea typeface="Calibri"/>
              <a:cs typeface="Calibri"/>
              <a:sym typeface="Calibri"/>
            </a:endParaRPr>
          </a:p>
        </p:txBody>
      </p:sp>
      <p:sp>
        <p:nvSpPr>
          <p:cNvPr id="656" name="Google Shape;656;p34"/>
          <p:cNvSpPr/>
          <p:nvPr/>
        </p:nvSpPr>
        <p:spPr>
          <a:xfrm>
            <a:off x="7716279" y="2359152"/>
            <a:ext cx="89154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4E63"/>
              </a:buClr>
              <a:buSzPts val="800"/>
              <a:buFont typeface="Consolas"/>
              <a:buNone/>
            </a:pPr>
            <a:r>
              <a:rPr b="1" lang="de" sz="800">
                <a:solidFill>
                  <a:srgbClr val="134E63"/>
                </a:solidFill>
                <a:latin typeface="Consolas"/>
                <a:ea typeface="Consolas"/>
                <a:cs typeface="Consolas"/>
                <a:sym typeface="Consolas"/>
              </a:rPr>
              <a:t>make down</a:t>
            </a:r>
            <a:endParaRPr sz="800">
              <a:solidFill>
                <a:schemeClr val="dk1"/>
              </a:solidFill>
              <a:latin typeface="Calibri"/>
              <a:ea typeface="Calibri"/>
              <a:cs typeface="Calibri"/>
              <a:sym typeface="Calibri"/>
            </a:endParaRPr>
          </a:p>
        </p:txBody>
      </p:sp>
      <p:sp>
        <p:nvSpPr>
          <p:cNvPr id="657" name="Google Shape;657;p34"/>
          <p:cNvSpPr/>
          <p:nvPr/>
        </p:nvSpPr>
        <p:spPr>
          <a:xfrm>
            <a:off x="7716279" y="2537460"/>
            <a:ext cx="8915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700"/>
              <a:buFont typeface="Calibri"/>
              <a:buNone/>
            </a:pPr>
            <a:r>
              <a:rPr lang="de" sz="700">
                <a:solidFill>
                  <a:srgbClr val="5E6E7C"/>
                </a:solidFill>
                <a:latin typeface="Calibri"/>
                <a:ea typeface="Calibri"/>
                <a:cs typeface="Calibri"/>
                <a:sym typeface="Calibri"/>
              </a:rPr>
              <a:t>stoppen</a:t>
            </a:r>
            <a:endParaRPr sz="700">
              <a:solidFill>
                <a:schemeClr val="dk1"/>
              </a:solidFill>
              <a:latin typeface="Calibri"/>
              <a:ea typeface="Calibri"/>
              <a:cs typeface="Calibri"/>
              <a:sym typeface="Calibri"/>
            </a:endParaRPr>
          </a:p>
        </p:txBody>
      </p:sp>
      <p:sp>
        <p:nvSpPr>
          <p:cNvPr id="658" name="Google Shape;658;p34"/>
          <p:cNvSpPr/>
          <p:nvPr/>
        </p:nvSpPr>
        <p:spPr>
          <a:xfrm>
            <a:off x="4918215" y="2729484"/>
            <a:ext cx="3608337"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5"/>
              </a:buClr>
              <a:buSzPts val="800"/>
              <a:buFont typeface="Calibri"/>
              <a:buNone/>
            </a:pPr>
            <a:r>
              <a:rPr i="1" lang="de" sz="800">
                <a:solidFill>
                  <a:srgbClr val="8A98A5"/>
                </a:solidFill>
                <a:latin typeface="Calibri"/>
                <a:ea typeface="Calibri"/>
                <a:cs typeface="Calibri"/>
                <a:sym typeface="Calibri"/>
              </a:rPr>
              <a:t>Login der Demo-Daten:  alice@teamboard.local</a:t>
            </a:r>
            <a:endParaRPr sz="800">
              <a:solidFill>
                <a:schemeClr val="dk1"/>
              </a:solidFill>
              <a:latin typeface="Calibri"/>
              <a:ea typeface="Calibri"/>
              <a:cs typeface="Calibri"/>
              <a:sym typeface="Calibri"/>
            </a:endParaRPr>
          </a:p>
        </p:txBody>
      </p:sp>
      <p:sp>
        <p:nvSpPr>
          <p:cNvPr id="659" name="Google Shape;659;p34"/>
          <p:cNvSpPr/>
          <p:nvPr/>
        </p:nvSpPr>
        <p:spPr>
          <a:xfrm>
            <a:off x="438912" y="3168396"/>
            <a:ext cx="41148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800"/>
              <a:buFont typeface="Calibri"/>
              <a:buNone/>
            </a:pPr>
            <a:r>
              <a:rPr b="1" lang="de" sz="800">
                <a:solidFill>
                  <a:srgbClr val="1C7293"/>
                </a:solidFill>
                <a:latin typeface="Calibri"/>
                <a:ea typeface="Calibri"/>
                <a:cs typeface="Calibri"/>
                <a:sym typeface="Calibri"/>
              </a:rPr>
              <a:t>NACH MAKE UP ERREICHBAR</a:t>
            </a:r>
            <a:endParaRPr sz="800">
              <a:solidFill>
                <a:schemeClr val="dk1"/>
              </a:solidFill>
              <a:latin typeface="Calibri"/>
              <a:ea typeface="Calibri"/>
              <a:cs typeface="Calibri"/>
              <a:sym typeface="Calibri"/>
            </a:endParaRPr>
          </a:p>
        </p:txBody>
      </p:sp>
      <p:sp>
        <p:nvSpPr>
          <p:cNvPr id="660" name="Google Shape;660;p34"/>
          <p:cNvSpPr/>
          <p:nvPr/>
        </p:nvSpPr>
        <p:spPr>
          <a:xfrm>
            <a:off x="425196" y="3394710"/>
            <a:ext cx="1919040" cy="548640"/>
          </a:xfrm>
          <a:prstGeom prst="roundRect">
            <a:avLst>
              <a:gd fmla="val 8750" name="adj"/>
            </a:avLst>
          </a:prstGeom>
          <a:solidFill>
            <a:srgbClr val="FFFFFF"/>
          </a:solidFill>
          <a:ln cap="flat" cmpd="sng" w="12700">
            <a:solidFill>
              <a:srgbClr val="D7E0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1" name="Google Shape;661;p34"/>
          <p:cNvSpPr/>
          <p:nvPr/>
        </p:nvSpPr>
        <p:spPr>
          <a:xfrm>
            <a:off x="576072" y="3483864"/>
            <a:ext cx="1617288"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Frontend</a:t>
            </a:r>
            <a:endParaRPr sz="900">
              <a:solidFill>
                <a:schemeClr val="dk1"/>
              </a:solidFill>
              <a:latin typeface="Calibri"/>
              <a:ea typeface="Calibri"/>
              <a:cs typeface="Calibri"/>
              <a:sym typeface="Calibri"/>
            </a:endParaRPr>
          </a:p>
        </p:txBody>
      </p:sp>
      <p:sp>
        <p:nvSpPr>
          <p:cNvPr id="662" name="Google Shape;662;p34"/>
          <p:cNvSpPr/>
          <p:nvPr/>
        </p:nvSpPr>
        <p:spPr>
          <a:xfrm>
            <a:off x="576072" y="3669030"/>
            <a:ext cx="161728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700"/>
              <a:buFont typeface="Consolas"/>
              <a:buNone/>
            </a:pPr>
            <a:r>
              <a:rPr lang="de" sz="700">
                <a:solidFill>
                  <a:srgbClr val="5E6E7C"/>
                </a:solidFill>
                <a:latin typeface="Consolas"/>
                <a:ea typeface="Consolas"/>
                <a:cs typeface="Consolas"/>
                <a:sym typeface="Consolas"/>
              </a:rPr>
              <a:t>localhost:3000</a:t>
            </a:r>
            <a:endParaRPr sz="700">
              <a:solidFill>
                <a:schemeClr val="dk1"/>
              </a:solidFill>
              <a:latin typeface="Calibri"/>
              <a:ea typeface="Calibri"/>
              <a:cs typeface="Calibri"/>
              <a:sym typeface="Calibri"/>
            </a:endParaRPr>
          </a:p>
        </p:txBody>
      </p:sp>
      <p:sp>
        <p:nvSpPr>
          <p:cNvPr id="663" name="Google Shape;663;p34"/>
          <p:cNvSpPr/>
          <p:nvPr/>
        </p:nvSpPr>
        <p:spPr>
          <a:xfrm>
            <a:off x="2549976" y="3394710"/>
            <a:ext cx="1919040" cy="548640"/>
          </a:xfrm>
          <a:prstGeom prst="roundRect">
            <a:avLst>
              <a:gd fmla="val 8750" name="adj"/>
            </a:avLst>
          </a:prstGeom>
          <a:solidFill>
            <a:srgbClr val="FFFFFF"/>
          </a:solidFill>
          <a:ln cap="flat" cmpd="sng" w="12700">
            <a:solidFill>
              <a:srgbClr val="D7E0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4" name="Google Shape;664;p34"/>
          <p:cNvSpPr/>
          <p:nvPr/>
        </p:nvSpPr>
        <p:spPr>
          <a:xfrm>
            <a:off x="2700852" y="3483864"/>
            <a:ext cx="1617288"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API-Gateway</a:t>
            </a:r>
            <a:endParaRPr sz="900">
              <a:solidFill>
                <a:schemeClr val="dk1"/>
              </a:solidFill>
              <a:latin typeface="Calibri"/>
              <a:ea typeface="Calibri"/>
              <a:cs typeface="Calibri"/>
              <a:sym typeface="Calibri"/>
            </a:endParaRPr>
          </a:p>
        </p:txBody>
      </p:sp>
      <p:sp>
        <p:nvSpPr>
          <p:cNvPr id="665" name="Google Shape;665;p34"/>
          <p:cNvSpPr/>
          <p:nvPr/>
        </p:nvSpPr>
        <p:spPr>
          <a:xfrm>
            <a:off x="2700852" y="3669030"/>
            <a:ext cx="161728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700"/>
              <a:buFont typeface="Consolas"/>
              <a:buNone/>
            </a:pPr>
            <a:r>
              <a:rPr lang="de" sz="700">
                <a:solidFill>
                  <a:srgbClr val="5E6E7C"/>
                </a:solidFill>
                <a:latin typeface="Consolas"/>
                <a:ea typeface="Consolas"/>
                <a:cs typeface="Consolas"/>
                <a:sym typeface="Consolas"/>
              </a:rPr>
              <a:t>localhost:80</a:t>
            </a:r>
            <a:endParaRPr sz="700">
              <a:solidFill>
                <a:schemeClr val="dk1"/>
              </a:solidFill>
              <a:latin typeface="Calibri"/>
              <a:ea typeface="Calibri"/>
              <a:cs typeface="Calibri"/>
              <a:sym typeface="Calibri"/>
            </a:endParaRPr>
          </a:p>
        </p:txBody>
      </p:sp>
      <p:sp>
        <p:nvSpPr>
          <p:cNvPr id="666" name="Google Shape;666;p34"/>
          <p:cNvSpPr/>
          <p:nvPr/>
        </p:nvSpPr>
        <p:spPr>
          <a:xfrm>
            <a:off x="4674756" y="3394710"/>
            <a:ext cx="1919040" cy="548640"/>
          </a:xfrm>
          <a:prstGeom prst="roundRect">
            <a:avLst>
              <a:gd fmla="val 8750" name="adj"/>
            </a:avLst>
          </a:prstGeom>
          <a:solidFill>
            <a:srgbClr val="FFFFFF"/>
          </a:solidFill>
          <a:ln cap="flat" cmpd="sng" w="12700">
            <a:solidFill>
              <a:srgbClr val="D7E0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7" name="Google Shape;667;p34"/>
          <p:cNvSpPr/>
          <p:nvPr/>
        </p:nvSpPr>
        <p:spPr>
          <a:xfrm>
            <a:off x="4825632" y="3483864"/>
            <a:ext cx="1617288"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Swagger-Docs</a:t>
            </a:r>
            <a:endParaRPr sz="900">
              <a:solidFill>
                <a:schemeClr val="dk1"/>
              </a:solidFill>
              <a:latin typeface="Calibri"/>
              <a:ea typeface="Calibri"/>
              <a:cs typeface="Calibri"/>
              <a:sym typeface="Calibri"/>
            </a:endParaRPr>
          </a:p>
        </p:txBody>
      </p:sp>
      <p:sp>
        <p:nvSpPr>
          <p:cNvPr id="668" name="Google Shape;668;p34"/>
          <p:cNvSpPr/>
          <p:nvPr/>
        </p:nvSpPr>
        <p:spPr>
          <a:xfrm>
            <a:off x="4825632" y="3669030"/>
            <a:ext cx="161728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700"/>
              <a:buFont typeface="Consolas"/>
              <a:buNone/>
            </a:pPr>
            <a:r>
              <a:rPr lang="de" sz="700">
                <a:solidFill>
                  <a:srgbClr val="5E6E7C"/>
                </a:solidFill>
                <a:latin typeface="Consolas"/>
                <a:ea typeface="Consolas"/>
                <a:cs typeface="Consolas"/>
                <a:sym typeface="Consolas"/>
              </a:rPr>
              <a:t>/plugin/docs · /board-registry/docs</a:t>
            </a:r>
            <a:endParaRPr sz="700">
              <a:solidFill>
                <a:schemeClr val="dk1"/>
              </a:solidFill>
              <a:latin typeface="Calibri"/>
              <a:ea typeface="Calibri"/>
              <a:cs typeface="Calibri"/>
              <a:sym typeface="Calibri"/>
            </a:endParaRPr>
          </a:p>
        </p:txBody>
      </p:sp>
      <p:sp>
        <p:nvSpPr>
          <p:cNvPr id="669" name="Google Shape;669;p34"/>
          <p:cNvSpPr/>
          <p:nvPr/>
        </p:nvSpPr>
        <p:spPr>
          <a:xfrm>
            <a:off x="6799535" y="3394710"/>
            <a:ext cx="1919040" cy="548640"/>
          </a:xfrm>
          <a:prstGeom prst="roundRect">
            <a:avLst>
              <a:gd fmla="val 8750" name="adj"/>
            </a:avLst>
          </a:prstGeom>
          <a:solidFill>
            <a:srgbClr val="FFFFFF"/>
          </a:solidFill>
          <a:ln cap="flat" cmpd="sng" w="12700">
            <a:solidFill>
              <a:srgbClr val="D7E0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70" name="Google Shape;670;p34"/>
          <p:cNvSpPr/>
          <p:nvPr/>
        </p:nvSpPr>
        <p:spPr>
          <a:xfrm>
            <a:off x="6950411" y="3483864"/>
            <a:ext cx="1617288"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Traefik-Dashboard</a:t>
            </a:r>
            <a:endParaRPr sz="900">
              <a:solidFill>
                <a:schemeClr val="dk1"/>
              </a:solidFill>
              <a:latin typeface="Calibri"/>
              <a:ea typeface="Calibri"/>
              <a:cs typeface="Calibri"/>
              <a:sym typeface="Calibri"/>
            </a:endParaRPr>
          </a:p>
        </p:txBody>
      </p:sp>
      <p:sp>
        <p:nvSpPr>
          <p:cNvPr id="671" name="Google Shape;671;p34"/>
          <p:cNvSpPr/>
          <p:nvPr/>
        </p:nvSpPr>
        <p:spPr>
          <a:xfrm>
            <a:off x="6950411" y="3669030"/>
            <a:ext cx="161728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700"/>
              <a:buFont typeface="Consolas"/>
              <a:buNone/>
            </a:pPr>
            <a:r>
              <a:rPr lang="de" sz="700">
                <a:solidFill>
                  <a:srgbClr val="5E6E7C"/>
                </a:solidFill>
                <a:latin typeface="Consolas"/>
                <a:ea typeface="Consolas"/>
                <a:cs typeface="Consolas"/>
                <a:sym typeface="Consolas"/>
              </a:rPr>
              <a:t>localhost:8080</a:t>
            </a:r>
            <a:endParaRPr sz="700">
              <a:solidFill>
                <a:schemeClr val="dk1"/>
              </a:solidFill>
              <a:latin typeface="Calibri"/>
              <a:ea typeface="Calibri"/>
              <a:cs typeface="Calibri"/>
              <a:sym typeface="Calibri"/>
            </a:endParaRPr>
          </a:p>
        </p:txBody>
      </p:sp>
      <p:sp>
        <p:nvSpPr>
          <p:cNvPr id="672" name="Google Shape;672;p34"/>
          <p:cNvSpPr/>
          <p:nvPr/>
        </p:nvSpPr>
        <p:spPr>
          <a:xfrm>
            <a:off x="425196" y="4046220"/>
            <a:ext cx="1919040" cy="548640"/>
          </a:xfrm>
          <a:prstGeom prst="roundRect">
            <a:avLst>
              <a:gd fmla="val 8750" name="adj"/>
            </a:avLst>
          </a:prstGeom>
          <a:solidFill>
            <a:srgbClr val="FFFFFF"/>
          </a:solidFill>
          <a:ln cap="flat" cmpd="sng" w="12700">
            <a:solidFill>
              <a:srgbClr val="D7E0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73" name="Google Shape;673;p34"/>
          <p:cNvSpPr/>
          <p:nvPr/>
        </p:nvSpPr>
        <p:spPr>
          <a:xfrm>
            <a:off x="576072" y="4135374"/>
            <a:ext cx="1617288"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RabbitMQ</a:t>
            </a:r>
            <a:endParaRPr sz="900">
              <a:solidFill>
                <a:schemeClr val="dk1"/>
              </a:solidFill>
              <a:latin typeface="Calibri"/>
              <a:ea typeface="Calibri"/>
              <a:cs typeface="Calibri"/>
              <a:sym typeface="Calibri"/>
            </a:endParaRPr>
          </a:p>
        </p:txBody>
      </p:sp>
      <p:sp>
        <p:nvSpPr>
          <p:cNvPr id="674" name="Google Shape;674;p34"/>
          <p:cNvSpPr/>
          <p:nvPr/>
        </p:nvSpPr>
        <p:spPr>
          <a:xfrm>
            <a:off x="576072" y="4320540"/>
            <a:ext cx="161728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700"/>
              <a:buFont typeface="Consolas"/>
              <a:buNone/>
            </a:pPr>
            <a:r>
              <a:rPr lang="de" sz="700">
                <a:solidFill>
                  <a:srgbClr val="5E6E7C"/>
                </a:solidFill>
                <a:latin typeface="Consolas"/>
                <a:ea typeface="Consolas"/>
                <a:cs typeface="Consolas"/>
                <a:sym typeface="Consolas"/>
              </a:rPr>
              <a:t>localhost:15672</a:t>
            </a:r>
            <a:endParaRPr sz="700">
              <a:solidFill>
                <a:schemeClr val="dk1"/>
              </a:solidFill>
              <a:latin typeface="Calibri"/>
              <a:ea typeface="Calibri"/>
              <a:cs typeface="Calibri"/>
              <a:sym typeface="Calibri"/>
            </a:endParaRPr>
          </a:p>
        </p:txBody>
      </p:sp>
      <p:sp>
        <p:nvSpPr>
          <p:cNvPr id="675" name="Google Shape;675;p34"/>
          <p:cNvSpPr/>
          <p:nvPr/>
        </p:nvSpPr>
        <p:spPr>
          <a:xfrm>
            <a:off x="2549976" y="4046220"/>
            <a:ext cx="1919040" cy="548640"/>
          </a:xfrm>
          <a:prstGeom prst="roundRect">
            <a:avLst>
              <a:gd fmla="val 8750" name="adj"/>
            </a:avLst>
          </a:prstGeom>
          <a:solidFill>
            <a:srgbClr val="FFFFFF"/>
          </a:solidFill>
          <a:ln cap="flat" cmpd="sng" w="12700">
            <a:solidFill>
              <a:srgbClr val="D7E0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76" name="Google Shape;676;p34"/>
          <p:cNvSpPr/>
          <p:nvPr/>
        </p:nvSpPr>
        <p:spPr>
          <a:xfrm>
            <a:off x="2700852" y="4135374"/>
            <a:ext cx="1617288"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MinIO-Console</a:t>
            </a:r>
            <a:endParaRPr sz="900">
              <a:solidFill>
                <a:schemeClr val="dk1"/>
              </a:solidFill>
              <a:latin typeface="Calibri"/>
              <a:ea typeface="Calibri"/>
              <a:cs typeface="Calibri"/>
              <a:sym typeface="Calibri"/>
            </a:endParaRPr>
          </a:p>
        </p:txBody>
      </p:sp>
      <p:sp>
        <p:nvSpPr>
          <p:cNvPr id="677" name="Google Shape;677;p34"/>
          <p:cNvSpPr/>
          <p:nvPr/>
        </p:nvSpPr>
        <p:spPr>
          <a:xfrm>
            <a:off x="2700852" y="4320540"/>
            <a:ext cx="161728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700"/>
              <a:buFont typeface="Consolas"/>
              <a:buNone/>
            </a:pPr>
            <a:r>
              <a:rPr lang="de" sz="700">
                <a:solidFill>
                  <a:srgbClr val="5E6E7C"/>
                </a:solidFill>
                <a:latin typeface="Consolas"/>
                <a:ea typeface="Consolas"/>
                <a:cs typeface="Consolas"/>
                <a:sym typeface="Consolas"/>
              </a:rPr>
              <a:t>localhost:9001</a:t>
            </a:r>
            <a:endParaRPr sz="700">
              <a:solidFill>
                <a:schemeClr val="dk1"/>
              </a:solidFill>
              <a:latin typeface="Calibri"/>
              <a:ea typeface="Calibri"/>
              <a:cs typeface="Calibri"/>
              <a:sym typeface="Calibri"/>
            </a:endParaRPr>
          </a:p>
        </p:txBody>
      </p:sp>
      <p:sp>
        <p:nvSpPr>
          <p:cNvPr id="678" name="Google Shape;678;p34"/>
          <p:cNvSpPr/>
          <p:nvPr/>
        </p:nvSpPr>
        <p:spPr>
          <a:xfrm>
            <a:off x="4674756" y="4046220"/>
            <a:ext cx="1919040" cy="548640"/>
          </a:xfrm>
          <a:prstGeom prst="roundRect">
            <a:avLst>
              <a:gd fmla="val 8750" name="adj"/>
            </a:avLst>
          </a:prstGeom>
          <a:solidFill>
            <a:srgbClr val="FFFFFF"/>
          </a:solidFill>
          <a:ln cap="flat" cmpd="sng" w="12700">
            <a:solidFill>
              <a:srgbClr val="D7E0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79" name="Google Shape;679;p34"/>
          <p:cNvSpPr/>
          <p:nvPr/>
        </p:nvSpPr>
        <p:spPr>
          <a:xfrm>
            <a:off x="4825632" y="4135374"/>
            <a:ext cx="1617288"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MailHog</a:t>
            </a:r>
            <a:endParaRPr sz="900">
              <a:solidFill>
                <a:schemeClr val="dk1"/>
              </a:solidFill>
              <a:latin typeface="Calibri"/>
              <a:ea typeface="Calibri"/>
              <a:cs typeface="Calibri"/>
              <a:sym typeface="Calibri"/>
            </a:endParaRPr>
          </a:p>
        </p:txBody>
      </p:sp>
      <p:sp>
        <p:nvSpPr>
          <p:cNvPr id="680" name="Google Shape;680;p34"/>
          <p:cNvSpPr/>
          <p:nvPr/>
        </p:nvSpPr>
        <p:spPr>
          <a:xfrm>
            <a:off x="4825632" y="4320540"/>
            <a:ext cx="161728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700"/>
              <a:buFont typeface="Consolas"/>
              <a:buNone/>
            </a:pPr>
            <a:r>
              <a:rPr lang="de" sz="700">
                <a:solidFill>
                  <a:srgbClr val="5E6E7C"/>
                </a:solidFill>
                <a:latin typeface="Consolas"/>
                <a:ea typeface="Consolas"/>
                <a:cs typeface="Consolas"/>
                <a:sym typeface="Consolas"/>
              </a:rPr>
              <a:t>localhost:8025</a:t>
            </a:r>
            <a:endParaRPr sz="700">
              <a:solidFill>
                <a:schemeClr val="dk1"/>
              </a:solidFill>
              <a:latin typeface="Calibri"/>
              <a:ea typeface="Calibri"/>
              <a:cs typeface="Calibri"/>
              <a:sym typeface="Calibri"/>
            </a:endParaRPr>
          </a:p>
        </p:txBody>
      </p:sp>
      <p:sp>
        <p:nvSpPr>
          <p:cNvPr id="681" name="Google Shape;681;p34"/>
          <p:cNvSpPr/>
          <p:nvPr/>
        </p:nvSpPr>
        <p:spPr>
          <a:xfrm>
            <a:off x="6799535" y="4046220"/>
            <a:ext cx="1919040" cy="548640"/>
          </a:xfrm>
          <a:prstGeom prst="roundRect">
            <a:avLst>
              <a:gd fmla="val 8750" name="adj"/>
            </a:avLst>
          </a:prstGeom>
          <a:solidFill>
            <a:srgbClr val="FFFFFF"/>
          </a:solidFill>
          <a:ln cap="flat" cmpd="sng" w="12700">
            <a:solidFill>
              <a:srgbClr val="D7E0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2" name="Google Shape;682;p34"/>
          <p:cNvSpPr/>
          <p:nvPr/>
        </p:nvSpPr>
        <p:spPr>
          <a:xfrm>
            <a:off x="6950411" y="4135374"/>
            <a:ext cx="1617288"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Jaeger-Tracing</a:t>
            </a:r>
            <a:endParaRPr sz="900">
              <a:solidFill>
                <a:schemeClr val="dk1"/>
              </a:solidFill>
              <a:latin typeface="Calibri"/>
              <a:ea typeface="Calibri"/>
              <a:cs typeface="Calibri"/>
              <a:sym typeface="Calibri"/>
            </a:endParaRPr>
          </a:p>
        </p:txBody>
      </p:sp>
      <p:sp>
        <p:nvSpPr>
          <p:cNvPr id="683" name="Google Shape;683;p34"/>
          <p:cNvSpPr/>
          <p:nvPr/>
        </p:nvSpPr>
        <p:spPr>
          <a:xfrm>
            <a:off x="6950411" y="4320540"/>
            <a:ext cx="161728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700"/>
              <a:buFont typeface="Consolas"/>
              <a:buNone/>
            </a:pPr>
            <a:r>
              <a:rPr lang="de" sz="700">
                <a:solidFill>
                  <a:srgbClr val="5E6E7C"/>
                </a:solidFill>
                <a:latin typeface="Consolas"/>
                <a:ea typeface="Consolas"/>
                <a:cs typeface="Consolas"/>
                <a:sym typeface="Consolas"/>
              </a:rPr>
              <a:t>localhost:16686</a:t>
            </a:r>
            <a:endParaRPr sz="7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688" name="Shape 688"/>
        <p:cNvGrpSpPr/>
        <p:nvPr/>
      </p:nvGrpSpPr>
      <p:grpSpPr>
        <a:xfrm>
          <a:off x="0" y="0"/>
          <a:ext cx="0" cy="0"/>
          <a:chOff x="0" y="0"/>
          <a:chExt cx="0" cy="0"/>
        </a:xfrm>
      </p:grpSpPr>
      <p:sp>
        <p:nvSpPr>
          <p:cNvPr id="689" name="Google Shape;689;p35"/>
          <p:cNvSpPr/>
          <p:nvPr/>
        </p:nvSpPr>
        <p:spPr>
          <a:xfrm>
            <a:off x="425196" y="288036"/>
            <a:ext cx="7543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900"/>
              <a:buFont typeface="Calibri"/>
              <a:buNone/>
            </a:pPr>
            <a:r>
              <a:rPr b="1" lang="de" sz="900">
                <a:solidFill>
                  <a:srgbClr val="1C7293"/>
                </a:solidFill>
                <a:latin typeface="Calibri"/>
                <a:ea typeface="Calibri"/>
                <a:cs typeface="Calibri"/>
                <a:sym typeface="Calibri"/>
              </a:rPr>
              <a:t>DEPLOYMENT · CI/CD</a:t>
            </a:r>
            <a:endParaRPr sz="900">
              <a:solidFill>
                <a:schemeClr val="dk1"/>
              </a:solidFill>
              <a:latin typeface="Calibri"/>
              <a:ea typeface="Calibri"/>
              <a:cs typeface="Calibri"/>
              <a:sym typeface="Calibri"/>
            </a:endParaRPr>
          </a:p>
        </p:txBody>
      </p:sp>
      <p:sp>
        <p:nvSpPr>
          <p:cNvPr id="690" name="Google Shape;690;p35"/>
          <p:cNvSpPr/>
          <p:nvPr/>
        </p:nvSpPr>
        <p:spPr>
          <a:xfrm>
            <a:off x="425196" y="493776"/>
            <a:ext cx="829818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2300"/>
              <a:buFont typeface="Calibri"/>
              <a:buNone/>
            </a:pPr>
            <a:r>
              <a:rPr b="1" lang="de" sz="2300">
                <a:solidFill>
                  <a:srgbClr val="17242F"/>
                </a:solidFill>
                <a:latin typeface="Calibri"/>
                <a:ea typeface="Calibri"/>
                <a:cs typeface="Calibri"/>
                <a:sym typeface="Calibri"/>
              </a:rPr>
              <a:t>Von Push zu Production — vollautomatisch</a:t>
            </a:r>
            <a:endParaRPr sz="2300">
              <a:solidFill>
                <a:schemeClr val="dk1"/>
              </a:solidFill>
              <a:latin typeface="Calibri"/>
              <a:ea typeface="Calibri"/>
              <a:cs typeface="Calibri"/>
              <a:sym typeface="Calibri"/>
            </a:endParaRPr>
          </a:p>
        </p:txBody>
      </p:sp>
      <p:sp>
        <p:nvSpPr>
          <p:cNvPr id="691" name="Google Shape;691;p35"/>
          <p:cNvSpPr/>
          <p:nvPr/>
        </p:nvSpPr>
        <p:spPr>
          <a:xfrm>
            <a:off x="425196" y="10012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1000"/>
              <a:buFont typeface="Calibri"/>
              <a:buNone/>
            </a:pPr>
            <a:r>
              <a:rPr lang="de" sz="1000">
                <a:solidFill>
                  <a:srgbClr val="5E6E7C"/>
                </a:solidFill>
                <a:latin typeface="Calibri"/>
                <a:ea typeface="Calibri"/>
                <a:cs typeface="Calibri"/>
                <a:sym typeface="Calibri"/>
              </a:rPr>
              <a:t>Ein Push löst Build, Registry-Push und Deploy aus. Kein manueller Schritt, keine Konsole.</a:t>
            </a:r>
            <a:endParaRPr sz="1000">
              <a:solidFill>
                <a:schemeClr val="dk1"/>
              </a:solidFill>
              <a:latin typeface="Calibri"/>
              <a:ea typeface="Calibri"/>
              <a:cs typeface="Calibri"/>
              <a:sym typeface="Calibri"/>
            </a:endParaRPr>
          </a:p>
        </p:txBody>
      </p:sp>
      <p:sp>
        <p:nvSpPr>
          <p:cNvPr id="692" name="Google Shape;692;p35"/>
          <p:cNvSpPr/>
          <p:nvPr/>
        </p:nvSpPr>
        <p:spPr>
          <a:xfrm>
            <a:off x="425196" y="1405890"/>
            <a:ext cx="1428247" cy="1028700"/>
          </a:xfrm>
          <a:prstGeom prst="roundRect">
            <a:avLst>
              <a:gd fmla="val 600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3" name="Google Shape;693;p35"/>
          <p:cNvSpPr/>
          <p:nvPr/>
        </p:nvSpPr>
        <p:spPr>
          <a:xfrm>
            <a:off x="576072" y="1543050"/>
            <a:ext cx="315468" cy="315468"/>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4" name="Google Shape;694;p35"/>
          <p:cNvSpPr/>
          <p:nvPr/>
        </p:nvSpPr>
        <p:spPr>
          <a:xfrm>
            <a:off x="576072" y="1543050"/>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de" sz="1100">
                <a:solidFill>
                  <a:srgbClr val="FFFFFF"/>
                </a:solidFill>
                <a:latin typeface="Calibri"/>
                <a:ea typeface="Calibri"/>
                <a:cs typeface="Calibri"/>
                <a:sym typeface="Calibri"/>
              </a:rPr>
              <a:t>1</a:t>
            </a:r>
            <a:endParaRPr sz="1100">
              <a:solidFill>
                <a:schemeClr val="dk1"/>
              </a:solidFill>
              <a:latin typeface="Calibri"/>
              <a:ea typeface="Calibri"/>
              <a:cs typeface="Calibri"/>
              <a:sym typeface="Calibri"/>
            </a:endParaRPr>
          </a:p>
        </p:txBody>
      </p:sp>
      <p:sp>
        <p:nvSpPr>
          <p:cNvPr id="695" name="Google Shape;695;p35"/>
          <p:cNvSpPr/>
          <p:nvPr/>
        </p:nvSpPr>
        <p:spPr>
          <a:xfrm>
            <a:off x="562356" y="1899666"/>
            <a:ext cx="1188217"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b="1" lang="de" sz="1000">
                <a:solidFill>
                  <a:srgbClr val="17242F"/>
                </a:solidFill>
                <a:latin typeface="Calibri"/>
                <a:ea typeface="Calibri"/>
                <a:cs typeface="Calibri"/>
                <a:sym typeface="Calibri"/>
              </a:rPr>
              <a:t>git push</a:t>
            </a:r>
            <a:endParaRPr sz="1000">
              <a:solidFill>
                <a:schemeClr val="dk1"/>
              </a:solidFill>
              <a:latin typeface="Calibri"/>
              <a:ea typeface="Calibri"/>
              <a:cs typeface="Calibri"/>
              <a:sym typeface="Calibri"/>
            </a:endParaRPr>
          </a:p>
        </p:txBody>
      </p:sp>
      <p:sp>
        <p:nvSpPr>
          <p:cNvPr id="696" name="Google Shape;696;p35"/>
          <p:cNvSpPr/>
          <p:nvPr/>
        </p:nvSpPr>
        <p:spPr>
          <a:xfrm>
            <a:off x="562356" y="2173986"/>
            <a:ext cx="1188217"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beliebiger Branch</a:t>
            </a:r>
            <a:endParaRPr sz="800">
              <a:solidFill>
                <a:schemeClr val="dk1"/>
              </a:solidFill>
              <a:latin typeface="Calibri"/>
              <a:ea typeface="Calibri"/>
              <a:cs typeface="Calibri"/>
              <a:sym typeface="Calibri"/>
            </a:endParaRPr>
          </a:p>
        </p:txBody>
      </p:sp>
      <p:sp>
        <p:nvSpPr>
          <p:cNvPr id="697" name="Google Shape;697;p35"/>
          <p:cNvSpPr/>
          <p:nvPr/>
        </p:nvSpPr>
        <p:spPr>
          <a:xfrm>
            <a:off x="1880875" y="1844802"/>
            <a:ext cx="233172" cy="150876"/>
          </a:xfrm>
          <a:prstGeom prst="rightArrow">
            <a:avLst>
              <a:gd fmla="val 50000" name="adj1"/>
              <a:gd fmla="val 50000" name="adj2"/>
            </a:avLst>
          </a:prstGeom>
          <a:solidFill>
            <a:srgbClr val="AEBECB"/>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8" name="Google Shape;698;p35"/>
          <p:cNvSpPr/>
          <p:nvPr/>
        </p:nvSpPr>
        <p:spPr>
          <a:xfrm>
            <a:off x="2141479" y="1405890"/>
            <a:ext cx="1428247" cy="1028700"/>
          </a:xfrm>
          <a:prstGeom prst="roundRect">
            <a:avLst>
              <a:gd fmla="val 600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9" name="Google Shape;699;p35"/>
          <p:cNvSpPr/>
          <p:nvPr/>
        </p:nvSpPr>
        <p:spPr>
          <a:xfrm>
            <a:off x="2292355" y="1543050"/>
            <a:ext cx="315468" cy="315468"/>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00" name="Google Shape;700;p35"/>
          <p:cNvSpPr/>
          <p:nvPr/>
        </p:nvSpPr>
        <p:spPr>
          <a:xfrm>
            <a:off x="2292355" y="1543050"/>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de" sz="1100">
                <a:solidFill>
                  <a:srgbClr val="FFFFFF"/>
                </a:solidFill>
                <a:latin typeface="Calibri"/>
                <a:ea typeface="Calibri"/>
                <a:cs typeface="Calibri"/>
                <a:sym typeface="Calibri"/>
              </a:rPr>
              <a:t>2</a:t>
            </a:r>
            <a:endParaRPr sz="1100">
              <a:solidFill>
                <a:schemeClr val="dk1"/>
              </a:solidFill>
              <a:latin typeface="Calibri"/>
              <a:ea typeface="Calibri"/>
              <a:cs typeface="Calibri"/>
              <a:sym typeface="Calibri"/>
            </a:endParaRPr>
          </a:p>
        </p:txBody>
      </p:sp>
      <p:sp>
        <p:nvSpPr>
          <p:cNvPr id="701" name="Google Shape;701;p35"/>
          <p:cNvSpPr/>
          <p:nvPr/>
        </p:nvSpPr>
        <p:spPr>
          <a:xfrm>
            <a:off x="2278639" y="1899666"/>
            <a:ext cx="1188217"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b="1" lang="de" sz="1000">
                <a:solidFill>
                  <a:srgbClr val="17242F"/>
                </a:solidFill>
                <a:latin typeface="Calibri"/>
                <a:ea typeface="Calibri"/>
                <a:cs typeface="Calibri"/>
                <a:sym typeface="Calibri"/>
              </a:rPr>
              <a:t>GitHub Actions</a:t>
            </a:r>
            <a:endParaRPr sz="1000">
              <a:solidFill>
                <a:schemeClr val="dk1"/>
              </a:solidFill>
              <a:latin typeface="Calibri"/>
              <a:ea typeface="Calibri"/>
              <a:cs typeface="Calibri"/>
              <a:sym typeface="Calibri"/>
            </a:endParaRPr>
          </a:p>
        </p:txBody>
      </p:sp>
      <p:sp>
        <p:nvSpPr>
          <p:cNvPr id="702" name="Google Shape;702;p35"/>
          <p:cNvSpPr/>
          <p:nvPr/>
        </p:nvSpPr>
        <p:spPr>
          <a:xfrm>
            <a:off x="2278639" y="2173986"/>
            <a:ext cx="1188217"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9 Images bauen</a:t>
            </a:r>
            <a:endParaRPr sz="800">
              <a:solidFill>
                <a:schemeClr val="dk1"/>
              </a:solidFill>
              <a:latin typeface="Calibri"/>
              <a:ea typeface="Calibri"/>
              <a:cs typeface="Calibri"/>
              <a:sym typeface="Calibri"/>
            </a:endParaRPr>
          </a:p>
        </p:txBody>
      </p:sp>
      <p:sp>
        <p:nvSpPr>
          <p:cNvPr id="703" name="Google Shape;703;p35"/>
          <p:cNvSpPr/>
          <p:nvPr/>
        </p:nvSpPr>
        <p:spPr>
          <a:xfrm>
            <a:off x="3597158" y="1844802"/>
            <a:ext cx="233172" cy="150876"/>
          </a:xfrm>
          <a:prstGeom prst="rightArrow">
            <a:avLst>
              <a:gd fmla="val 50000" name="adj1"/>
              <a:gd fmla="val 50000" name="adj2"/>
            </a:avLst>
          </a:prstGeom>
          <a:solidFill>
            <a:srgbClr val="AEBECB"/>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04" name="Google Shape;704;p35"/>
          <p:cNvSpPr/>
          <p:nvPr/>
        </p:nvSpPr>
        <p:spPr>
          <a:xfrm>
            <a:off x="3857762" y="1405890"/>
            <a:ext cx="1428247" cy="1028700"/>
          </a:xfrm>
          <a:prstGeom prst="roundRect">
            <a:avLst>
              <a:gd fmla="val 600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05" name="Google Shape;705;p35"/>
          <p:cNvSpPr/>
          <p:nvPr/>
        </p:nvSpPr>
        <p:spPr>
          <a:xfrm>
            <a:off x="4008638" y="1543050"/>
            <a:ext cx="315468" cy="315468"/>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06" name="Google Shape;706;p35"/>
          <p:cNvSpPr/>
          <p:nvPr/>
        </p:nvSpPr>
        <p:spPr>
          <a:xfrm>
            <a:off x="4008638" y="1543050"/>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de" sz="1100">
                <a:solidFill>
                  <a:srgbClr val="FFFFFF"/>
                </a:solidFill>
                <a:latin typeface="Calibri"/>
                <a:ea typeface="Calibri"/>
                <a:cs typeface="Calibri"/>
                <a:sym typeface="Calibri"/>
              </a:rPr>
              <a:t>3</a:t>
            </a:r>
            <a:endParaRPr sz="1100">
              <a:solidFill>
                <a:schemeClr val="dk1"/>
              </a:solidFill>
              <a:latin typeface="Calibri"/>
              <a:ea typeface="Calibri"/>
              <a:cs typeface="Calibri"/>
              <a:sym typeface="Calibri"/>
            </a:endParaRPr>
          </a:p>
        </p:txBody>
      </p:sp>
      <p:sp>
        <p:nvSpPr>
          <p:cNvPr id="707" name="Google Shape;707;p35"/>
          <p:cNvSpPr/>
          <p:nvPr/>
        </p:nvSpPr>
        <p:spPr>
          <a:xfrm>
            <a:off x="3994922" y="1899666"/>
            <a:ext cx="1188217"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b="1" lang="de" sz="1000">
                <a:solidFill>
                  <a:srgbClr val="17242F"/>
                </a:solidFill>
                <a:latin typeface="Calibri"/>
                <a:ea typeface="Calibri"/>
                <a:cs typeface="Calibri"/>
                <a:sym typeface="Calibri"/>
              </a:rPr>
              <a:t>GHCR</a:t>
            </a:r>
            <a:endParaRPr sz="1000">
              <a:solidFill>
                <a:schemeClr val="dk1"/>
              </a:solidFill>
              <a:latin typeface="Calibri"/>
              <a:ea typeface="Calibri"/>
              <a:cs typeface="Calibri"/>
              <a:sym typeface="Calibri"/>
            </a:endParaRPr>
          </a:p>
        </p:txBody>
      </p:sp>
      <p:sp>
        <p:nvSpPr>
          <p:cNvPr id="708" name="Google Shape;708;p35"/>
          <p:cNvSpPr/>
          <p:nvPr/>
        </p:nvSpPr>
        <p:spPr>
          <a:xfrm>
            <a:off x="3994922" y="2173986"/>
            <a:ext cx="1188217"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Push · Tag = SHA</a:t>
            </a:r>
            <a:endParaRPr sz="800">
              <a:solidFill>
                <a:schemeClr val="dk1"/>
              </a:solidFill>
              <a:latin typeface="Calibri"/>
              <a:ea typeface="Calibri"/>
              <a:cs typeface="Calibri"/>
              <a:sym typeface="Calibri"/>
            </a:endParaRPr>
          </a:p>
        </p:txBody>
      </p:sp>
      <p:sp>
        <p:nvSpPr>
          <p:cNvPr id="709" name="Google Shape;709;p35"/>
          <p:cNvSpPr/>
          <p:nvPr/>
        </p:nvSpPr>
        <p:spPr>
          <a:xfrm>
            <a:off x="5313441" y="1844802"/>
            <a:ext cx="233172" cy="150876"/>
          </a:xfrm>
          <a:prstGeom prst="rightArrow">
            <a:avLst>
              <a:gd fmla="val 50000" name="adj1"/>
              <a:gd fmla="val 50000" name="adj2"/>
            </a:avLst>
          </a:prstGeom>
          <a:solidFill>
            <a:srgbClr val="AEBECB"/>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0" name="Google Shape;710;p35"/>
          <p:cNvSpPr/>
          <p:nvPr/>
        </p:nvSpPr>
        <p:spPr>
          <a:xfrm>
            <a:off x="5574045" y="1405890"/>
            <a:ext cx="1428247" cy="1028700"/>
          </a:xfrm>
          <a:prstGeom prst="roundRect">
            <a:avLst>
              <a:gd fmla="val 600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1" name="Google Shape;711;p35"/>
          <p:cNvSpPr/>
          <p:nvPr/>
        </p:nvSpPr>
        <p:spPr>
          <a:xfrm>
            <a:off x="5724921" y="1543050"/>
            <a:ext cx="315468" cy="315468"/>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2" name="Google Shape;712;p35"/>
          <p:cNvSpPr/>
          <p:nvPr/>
        </p:nvSpPr>
        <p:spPr>
          <a:xfrm>
            <a:off x="5724921" y="1543050"/>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de" sz="1100">
                <a:solidFill>
                  <a:srgbClr val="FFFFFF"/>
                </a:solidFill>
                <a:latin typeface="Calibri"/>
                <a:ea typeface="Calibri"/>
                <a:cs typeface="Calibri"/>
                <a:sym typeface="Calibri"/>
              </a:rPr>
              <a:t>4</a:t>
            </a:r>
            <a:endParaRPr sz="1100">
              <a:solidFill>
                <a:schemeClr val="dk1"/>
              </a:solidFill>
              <a:latin typeface="Calibri"/>
              <a:ea typeface="Calibri"/>
              <a:cs typeface="Calibri"/>
              <a:sym typeface="Calibri"/>
            </a:endParaRPr>
          </a:p>
        </p:txBody>
      </p:sp>
      <p:sp>
        <p:nvSpPr>
          <p:cNvPr id="713" name="Google Shape;713;p35"/>
          <p:cNvSpPr/>
          <p:nvPr/>
        </p:nvSpPr>
        <p:spPr>
          <a:xfrm>
            <a:off x="5711205" y="1899666"/>
            <a:ext cx="1188217"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b="1" lang="de" sz="1000">
                <a:solidFill>
                  <a:srgbClr val="17242F"/>
                </a:solidFill>
                <a:latin typeface="Calibri"/>
                <a:ea typeface="Calibri"/>
                <a:cs typeface="Calibri"/>
                <a:sym typeface="Calibri"/>
              </a:rPr>
              <a:t>SSH → EC2</a:t>
            </a:r>
            <a:endParaRPr sz="1000">
              <a:solidFill>
                <a:schemeClr val="dk1"/>
              </a:solidFill>
              <a:latin typeface="Calibri"/>
              <a:ea typeface="Calibri"/>
              <a:cs typeface="Calibri"/>
              <a:sym typeface="Calibri"/>
            </a:endParaRPr>
          </a:p>
        </p:txBody>
      </p:sp>
      <p:sp>
        <p:nvSpPr>
          <p:cNvPr id="714" name="Google Shape;714;p35"/>
          <p:cNvSpPr/>
          <p:nvPr/>
        </p:nvSpPr>
        <p:spPr>
          <a:xfrm>
            <a:off x="5711205" y="2173986"/>
            <a:ext cx="1188217"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self-provisioning</a:t>
            </a:r>
            <a:endParaRPr sz="800">
              <a:solidFill>
                <a:schemeClr val="dk1"/>
              </a:solidFill>
              <a:latin typeface="Calibri"/>
              <a:ea typeface="Calibri"/>
              <a:cs typeface="Calibri"/>
              <a:sym typeface="Calibri"/>
            </a:endParaRPr>
          </a:p>
        </p:txBody>
      </p:sp>
      <p:sp>
        <p:nvSpPr>
          <p:cNvPr id="715" name="Google Shape;715;p35"/>
          <p:cNvSpPr/>
          <p:nvPr/>
        </p:nvSpPr>
        <p:spPr>
          <a:xfrm>
            <a:off x="7029724" y="1844802"/>
            <a:ext cx="233172" cy="150876"/>
          </a:xfrm>
          <a:prstGeom prst="rightArrow">
            <a:avLst>
              <a:gd fmla="val 50000" name="adj1"/>
              <a:gd fmla="val 50000" name="adj2"/>
            </a:avLst>
          </a:prstGeom>
          <a:solidFill>
            <a:srgbClr val="AEBECB"/>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6" name="Google Shape;716;p35"/>
          <p:cNvSpPr/>
          <p:nvPr/>
        </p:nvSpPr>
        <p:spPr>
          <a:xfrm>
            <a:off x="7290329" y="1405890"/>
            <a:ext cx="1428247" cy="1028700"/>
          </a:xfrm>
          <a:prstGeom prst="roundRect">
            <a:avLst>
              <a:gd fmla="val 600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7" name="Google Shape;717;p35"/>
          <p:cNvSpPr/>
          <p:nvPr/>
        </p:nvSpPr>
        <p:spPr>
          <a:xfrm>
            <a:off x="7441205" y="1543050"/>
            <a:ext cx="315468" cy="315468"/>
          </a:xfrm>
          <a:prstGeom prst="ellipse">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8" name="Google Shape;718;p35"/>
          <p:cNvSpPr/>
          <p:nvPr/>
        </p:nvSpPr>
        <p:spPr>
          <a:xfrm>
            <a:off x="7441205" y="1543050"/>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de" sz="1100">
                <a:solidFill>
                  <a:srgbClr val="FFFFFF"/>
                </a:solidFill>
                <a:latin typeface="Calibri"/>
                <a:ea typeface="Calibri"/>
                <a:cs typeface="Calibri"/>
                <a:sym typeface="Calibri"/>
              </a:rPr>
              <a:t>5</a:t>
            </a:r>
            <a:endParaRPr sz="1100">
              <a:solidFill>
                <a:schemeClr val="dk1"/>
              </a:solidFill>
              <a:latin typeface="Calibri"/>
              <a:ea typeface="Calibri"/>
              <a:cs typeface="Calibri"/>
              <a:sym typeface="Calibri"/>
            </a:endParaRPr>
          </a:p>
        </p:txBody>
      </p:sp>
      <p:sp>
        <p:nvSpPr>
          <p:cNvPr id="719" name="Google Shape;719;p35"/>
          <p:cNvSpPr/>
          <p:nvPr/>
        </p:nvSpPr>
        <p:spPr>
          <a:xfrm>
            <a:off x="7427489" y="1899666"/>
            <a:ext cx="1188217"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b="1" lang="de" sz="1000">
                <a:solidFill>
                  <a:srgbClr val="17242F"/>
                </a:solidFill>
                <a:latin typeface="Calibri"/>
                <a:ea typeface="Calibri"/>
                <a:cs typeface="Calibri"/>
                <a:sym typeface="Calibri"/>
              </a:rPr>
              <a:t>docker compose up</a:t>
            </a:r>
            <a:endParaRPr sz="1000">
              <a:solidFill>
                <a:schemeClr val="dk1"/>
              </a:solidFill>
              <a:latin typeface="Calibri"/>
              <a:ea typeface="Calibri"/>
              <a:cs typeface="Calibri"/>
              <a:sym typeface="Calibri"/>
            </a:endParaRPr>
          </a:p>
        </p:txBody>
      </p:sp>
      <p:sp>
        <p:nvSpPr>
          <p:cNvPr id="720" name="Google Shape;720;p35"/>
          <p:cNvSpPr/>
          <p:nvPr/>
        </p:nvSpPr>
        <p:spPr>
          <a:xfrm>
            <a:off x="7427489" y="2173986"/>
            <a:ext cx="1188217"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läuft live</a:t>
            </a:r>
            <a:endParaRPr sz="800">
              <a:solidFill>
                <a:schemeClr val="dk1"/>
              </a:solidFill>
              <a:latin typeface="Calibri"/>
              <a:ea typeface="Calibri"/>
              <a:cs typeface="Calibri"/>
              <a:sym typeface="Calibri"/>
            </a:endParaRPr>
          </a:p>
        </p:txBody>
      </p:sp>
      <p:sp>
        <p:nvSpPr>
          <p:cNvPr id="721" name="Google Shape;721;p35"/>
          <p:cNvSpPr/>
          <p:nvPr/>
        </p:nvSpPr>
        <p:spPr>
          <a:xfrm>
            <a:off x="425196" y="2640330"/>
            <a:ext cx="1893323" cy="1131570"/>
          </a:xfrm>
          <a:prstGeom prst="roundRect">
            <a:avLst>
              <a:gd fmla="val 4848"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2" name="Google Shape;722;p35"/>
          <p:cNvSpPr/>
          <p:nvPr/>
        </p:nvSpPr>
        <p:spPr>
          <a:xfrm>
            <a:off x="603504" y="2804922"/>
            <a:ext cx="274320" cy="274320"/>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3" name="Google Shape;723;p35"/>
          <p:cNvSpPr/>
          <p:nvPr/>
        </p:nvSpPr>
        <p:spPr>
          <a:xfrm>
            <a:off x="603504" y="280492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1</a:t>
            </a:r>
            <a:endParaRPr sz="900">
              <a:solidFill>
                <a:schemeClr val="dk1"/>
              </a:solidFill>
              <a:latin typeface="Calibri"/>
              <a:ea typeface="Calibri"/>
              <a:cs typeface="Calibri"/>
              <a:sym typeface="Calibri"/>
            </a:endParaRPr>
          </a:p>
        </p:txBody>
      </p:sp>
      <p:sp>
        <p:nvSpPr>
          <p:cNvPr id="724" name="Google Shape;724;p35"/>
          <p:cNvSpPr/>
          <p:nvPr/>
        </p:nvSpPr>
        <p:spPr>
          <a:xfrm>
            <a:off x="603504" y="3134106"/>
            <a:ext cx="153670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Keine langlebigen Keys</a:t>
            </a:r>
            <a:endParaRPr sz="900">
              <a:solidFill>
                <a:schemeClr val="dk1"/>
              </a:solidFill>
              <a:latin typeface="Calibri"/>
              <a:ea typeface="Calibri"/>
              <a:cs typeface="Calibri"/>
              <a:sym typeface="Calibri"/>
            </a:endParaRPr>
          </a:p>
        </p:txBody>
      </p:sp>
      <p:sp>
        <p:nvSpPr>
          <p:cNvPr id="725" name="Google Shape;725;p35"/>
          <p:cNvSpPr/>
          <p:nvPr/>
        </p:nvSpPr>
        <p:spPr>
          <a:xfrm>
            <a:off x="603504" y="3339846"/>
            <a:ext cx="153670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Github Secrets für Tokens, </a:t>
            </a:r>
            <a:r>
              <a:rPr lang="de" sz="800">
                <a:solidFill>
                  <a:srgbClr val="5E6E7C"/>
                </a:solidFill>
                <a:latin typeface="Calibri"/>
                <a:ea typeface="Calibri"/>
                <a:cs typeface="Calibri"/>
                <a:sym typeface="Calibri"/>
              </a:rPr>
              <a:t>nichts dauerhaftes im Repository.</a:t>
            </a:r>
            <a:endParaRPr sz="800">
              <a:solidFill>
                <a:schemeClr val="dk1"/>
              </a:solidFill>
              <a:latin typeface="Calibri"/>
              <a:ea typeface="Calibri"/>
              <a:cs typeface="Calibri"/>
              <a:sym typeface="Calibri"/>
            </a:endParaRPr>
          </a:p>
        </p:txBody>
      </p:sp>
      <p:sp>
        <p:nvSpPr>
          <p:cNvPr id="726" name="Google Shape;726;p35"/>
          <p:cNvSpPr/>
          <p:nvPr/>
        </p:nvSpPr>
        <p:spPr>
          <a:xfrm>
            <a:off x="2558549" y="2640330"/>
            <a:ext cx="1893323" cy="1131570"/>
          </a:xfrm>
          <a:prstGeom prst="roundRect">
            <a:avLst>
              <a:gd fmla="val 4848"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7" name="Google Shape;727;p35"/>
          <p:cNvSpPr/>
          <p:nvPr/>
        </p:nvSpPr>
        <p:spPr>
          <a:xfrm>
            <a:off x="2736856" y="2804922"/>
            <a:ext cx="274320" cy="274320"/>
          </a:xfrm>
          <a:prstGeom prst="ellipse">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8" name="Google Shape;728;p35"/>
          <p:cNvSpPr/>
          <p:nvPr/>
        </p:nvSpPr>
        <p:spPr>
          <a:xfrm>
            <a:off x="2736856" y="280492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2</a:t>
            </a:r>
            <a:endParaRPr sz="900">
              <a:solidFill>
                <a:schemeClr val="dk1"/>
              </a:solidFill>
              <a:latin typeface="Calibri"/>
              <a:ea typeface="Calibri"/>
              <a:cs typeface="Calibri"/>
              <a:sym typeface="Calibri"/>
            </a:endParaRPr>
          </a:p>
        </p:txBody>
      </p:sp>
      <p:sp>
        <p:nvSpPr>
          <p:cNvPr id="729" name="Google Shape;729;p35"/>
          <p:cNvSpPr/>
          <p:nvPr/>
        </p:nvSpPr>
        <p:spPr>
          <a:xfrm>
            <a:off x="2736856" y="3134106"/>
            <a:ext cx="153670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Self-provisioning</a:t>
            </a:r>
            <a:endParaRPr sz="900">
              <a:solidFill>
                <a:schemeClr val="dk1"/>
              </a:solidFill>
              <a:latin typeface="Calibri"/>
              <a:ea typeface="Calibri"/>
              <a:cs typeface="Calibri"/>
              <a:sym typeface="Calibri"/>
            </a:endParaRPr>
          </a:p>
        </p:txBody>
      </p:sp>
      <p:sp>
        <p:nvSpPr>
          <p:cNvPr id="730" name="Google Shape;730;p35"/>
          <p:cNvSpPr/>
          <p:nvPr/>
        </p:nvSpPr>
        <p:spPr>
          <a:xfrm>
            <a:off x="2736856" y="3339846"/>
            <a:ext cx="153670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Eine frische EC2 installiert alles von selbst durch die Pipeline</a:t>
            </a:r>
            <a:endParaRPr sz="800">
              <a:solidFill>
                <a:schemeClr val="dk1"/>
              </a:solidFill>
              <a:latin typeface="Calibri"/>
              <a:ea typeface="Calibri"/>
              <a:cs typeface="Calibri"/>
              <a:sym typeface="Calibri"/>
            </a:endParaRPr>
          </a:p>
        </p:txBody>
      </p:sp>
      <p:sp>
        <p:nvSpPr>
          <p:cNvPr id="731" name="Google Shape;731;p35"/>
          <p:cNvSpPr/>
          <p:nvPr/>
        </p:nvSpPr>
        <p:spPr>
          <a:xfrm>
            <a:off x="4691901" y="2640330"/>
            <a:ext cx="1893323" cy="1131570"/>
          </a:xfrm>
          <a:prstGeom prst="roundRect">
            <a:avLst>
              <a:gd fmla="val 4848"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32" name="Google Shape;732;p35"/>
          <p:cNvSpPr/>
          <p:nvPr/>
        </p:nvSpPr>
        <p:spPr>
          <a:xfrm>
            <a:off x="4870209" y="2804922"/>
            <a:ext cx="274320" cy="274320"/>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33" name="Google Shape;733;p35"/>
          <p:cNvSpPr/>
          <p:nvPr/>
        </p:nvSpPr>
        <p:spPr>
          <a:xfrm>
            <a:off x="4870209" y="280492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3</a:t>
            </a:r>
            <a:endParaRPr sz="900">
              <a:solidFill>
                <a:schemeClr val="dk1"/>
              </a:solidFill>
              <a:latin typeface="Calibri"/>
              <a:ea typeface="Calibri"/>
              <a:cs typeface="Calibri"/>
              <a:sym typeface="Calibri"/>
            </a:endParaRPr>
          </a:p>
        </p:txBody>
      </p:sp>
      <p:sp>
        <p:nvSpPr>
          <p:cNvPr id="734" name="Google Shape;734;p35"/>
          <p:cNvSpPr/>
          <p:nvPr/>
        </p:nvSpPr>
        <p:spPr>
          <a:xfrm>
            <a:off x="4870209" y="3134106"/>
            <a:ext cx="153670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Secrets beim ersten Lauf</a:t>
            </a:r>
            <a:endParaRPr sz="900">
              <a:solidFill>
                <a:schemeClr val="dk1"/>
              </a:solidFill>
              <a:latin typeface="Calibri"/>
              <a:ea typeface="Calibri"/>
              <a:cs typeface="Calibri"/>
              <a:sym typeface="Calibri"/>
            </a:endParaRPr>
          </a:p>
        </p:txBody>
      </p:sp>
      <p:sp>
        <p:nvSpPr>
          <p:cNvPr id="735" name="Google Shape;735;p35"/>
          <p:cNvSpPr/>
          <p:nvPr/>
        </p:nvSpPr>
        <p:spPr>
          <a:xfrm>
            <a:off x="4870209" y="3339846"/>
            <a:ext cx="153670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Zufalls-Secrets werden automatisch erzeugt</a:t>
            </a:r>
            <a:endParaRPr sz="800">
              <a:solidFill>
                <a:schemeClr val="dk1"/>
              </a:solidFill>
              <a:latin typeface="Calibri"/>
              <a:ea typeface="Calibri"/>
              <a:cs typeface="Calibri"/>
              <a:sym typeface="Calibri"/>
            </a:endParaRPr>
          </a:p>
        </p:txBody>
      </p:sp>
      <p:sp>
        <p:nvSpPr>
          <p:cNvPr id="736" name="Google Shape;736;p35"/>
          <p:cNvSpPr/>
          <p:nvPr/>
        </p:nvSpPr>
        <p:spPr>
          <a:xfrm>
            <a:off x="6825253" y="2640330"/>
            <a:ext cx="1893323" cy="1131570"/>
          </a:xfrm>
          <a:prstGeom prst="roundRect">
            <a:avLst>
              <a:gd fmla="val 4848"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37" name="Google Shape;737;p35"/>
          <p:cNvSpPr/>
          <p:nvPr/>
        </p:nvSpPr>
        <p:spPr>
          <a:xfrm>
            <a:off x="7003561" y="2804922"/>
            <a:ext cx="274320" cy="274320"/>
          </a:xfrm>
          <a:prstGeom prst="ellipse">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38" name="Google Shape;738;p35"/>
          <p:cNvSpPr/>
          <p:nvPr/>
        </p:nvSpPr>
        <p:spPr>
          <a:xfrm>
            <a:off x="7003561" y="280492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4</a:t>
            </a:r>
            <a:endParaRPr sz="900">
              <a:solidFill>
                <a:schemeClr val="dk1"/>
              </a:solidFill>
              <a:latin typeface="Calibri"/>
              <a:ea typeface="Calibri"/>
              <a:cs typeface="Calibri"/>
              <a:sym typeface="Calibri"/>
            </a:endParaRPr>
          </a:p>
        </p:txBody>
      </p:sp>
      <p:sp>
        <p:nvSpPr>
          <p:cNvPr id="739" name="Google Shape;739;p35"/>
          <p:cNvSpPr/>
          <p:nvPr/>
        </p:nvSpPr>
        <p:spPr>
          <a:xfrm>
            <a:off x="7003561" y="3134106"/>
            <a:ext cx="1536707"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Aufräumend &amp; serialisiert</a:t>
            </a:r>
            <a:endParaRPr sz="900">
              <a:solidFill>
                <a:schemeClr val="dk1"/>
              </a:solidFill>
              <a:latin typeface="Calibri"/>
              <a:ea typeface="Calibri"/>
              <a:cs typeface="Calibri"/>
              <a:sym typeface="Calibri"/>
            </a:endParaRPr>
          </a:p>
        </p:txBody>
      </p:sp>
      <p:sp>
        <p:nvSpPr>
          <p:cNvPr id="740" name="Google Shape;740;p35"/>
          <p:cNvSpPr/>
          <p:nvPr/>
        </p:nvSpPr>
        <p:spPr>
          <a:xfrm>
            <a:off x="7003561" y="3339846"/>
            <a:ext cx="1536707"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A</a:t>
            </a:r>
            <a:r>
              <a:rPr lang="de" sz="800">
                <a:solidFill>
                  <a:srgbClr val="5E6E7C"/>
                </a:solidFill>
                <a:latin typeface="Calibri"/>
                <a:ea typeface="Calibri"/>
                <a:cs typeface="Calibri"/>
                <a:sym typeface="Calibri"/>
              </a:rPr>
              <a:t>lte Images werden automatisch entfernt.</a:t>
            </a:r>
            <a:endParaRPr sz="800">
              <a:solidFill>
                <a:schemeClr val="dk1"/>
              </a:solidFill>
              <a:latin typeface="Calibri"/>
              <a:ea typeface="Calibri"/>
              <a:cs typeface="Calibri"/>
              <a:sym typeface="Calibri"/>
            </a:endParaRPr>
          </a:p>
        </p:txBody>
      </p:sp>
      <p:sp>
        <p:nvSpPr>
          <p:cNvPr id="741" name="Google Shape;741;p35"/>
          <p:cNvSpPr/>
          <p:nvPr/>
        </p:nvSpPr>
        <p:spPr>
          <a:xfrm>
            <a:off x="425196" y="3943350"/>
            <a:ext cx="8293379" cy="754380"/>
          </a:xfrm>
          <a:prstGeom prst="roundRect">
            <a:avLst>
              <a:gd fmla="val 8182" name="adj"/>
            </a:avLst>
          </a:prstGeom>
          <a:solidFill>
            <a:srgbClr val="12263A"/>
          </a:solidFill>
          <a:ln>
            <a:noFill/>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42" name="Google Shape;742;p35"/>
          <p:cNvSpPr/>
          <p:nvPr/>
        </p:nvSpPr>
        <p:spPr>
          <a:xfrm>
            <a:off x="665226" y="4032504"/>
            <a:ext cx="78867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4B6"/>
              </a:buClr>
              <a:buSzPts val="1000"/>
              <a:buFont typeface="Calibri"/>
              <a:buNone/>
            </a:pPr>
            <a:r>
              <a:rPr b="1" lang="de" sz="1000">
                <a:solidFill>
                  <a:srgbClr val="2EC4B6"/>
                </a:solidFill>
                <a:latin typeface="Calibri"/>
                <a:ea typeface="Calibri"/>
                <a:cs typeface="Calibri"/>
                <a:sym typeface="Calibri"/>
              </a:rPr>
              <a:t>Infrastructure as Code</a:t>
            </a:r>
            <a:endParaRPr sz="1000">
              <a:solidFill>
                <a:schemeClr val="dk1"/>
              </a:solidFill>
              <a:latin typeface="Calibri"/>
              <a:ea typeface="Calibri"/>
              <a:cs typeface="Calibri"/>
              <a:sym typeface="Calibri"/>
            </a:endParaRPr>
          </a:p>
        </p:txBody>
      </p:sp>
      <p:sp>
        <p:nvSpPr>
          <p:cNvPr id="743" name="Google Shape;743;p35"/>
          <p:cNvSpPr/>
          <p:nvPr/>
        </p:nvSpPr>
        <p:spPr>
          <a:xfrm>
            <a:off x="665226" y="4224528"/>
            <a:ext cx="78867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4"/>
              </a:buClr>
              <a:buSzPts val="900"/>
              <a:buFont typeface="Calibri"/>
              <a:buNone/>
            </a:pPr>
            <a:r>
              <a:rPr lang="de" sz="900">
                <a:solidFill>
                  <a:srgbClr val="9FB3C4"/>
                </a:solidFill>
                <a:latin typeface="Calibri"/>
                <a:ea typeface="Calibri"/>
                <a:cs typeface="Calibri"/>
                <a:sym typeface="Calibri"/>
              </a:rPr>
              <a:t>Compose-Dateien, Gateway-Konfiguration, Migrationen und Init-Skripte definieren das Zusammenspiel der Services</a:t>
            </a:r>
            <a:endParaRPr sz="9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748" name="Shape 748"/>
        <p:cNvGrpSpPr/>
        <p:nvPr/>
      </p:nvGrpSpPr>
      <p:grpSpPr>
        <a:xfrm>
          <a:off x="0" y="0"/>
          <a:ext cx="0" cy="0"/>
          <a:chOff x="0" y="0"/>
          <a:chExt cx="0" cy="0"/>
        </a:xfrm>
      </p:grpSpPr>
      <p:sp>
        <p:nvSpPr>
          <p:cNvPr id="749" name="Google Shape;749;p36"/>
          <p:cNvSpPr/>
          <p:nvPr/>
        </p:nvSpPr>
        <p:spPr>
          <a:xfrm>
            <a:off x="425196" y="288036"/>
            <a:ext cx="7543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900"/>
              <a:buFont typeface="Calibri"/>
              <a:buNone/>
            </a:pPr>
            <a:r>
              <a:rPr b="1" lang="de" sz="900">
                <a:solidFill>
                  <a:srgbClr val="1C7293"/>
                </a:solidFill>
                <a:latin typeface="Calibri"/>
                <a:ea typeface="Calibri"/>
                <a:cs typeface="Calibri"/>
                <a:sym typeface="Calibri"/>
              </a:rPr>
              <a:t>DEPLOYMENT · EVALUATION</a:t>
            </a:r>
            <a:endParaRPr sz="900">
              <a:solidFill>
                <a:schemeClr val="dk1"/>
              </a:solidFill>
              <a:latin typeface="Calibri"/>
              <a:ea typeface="Calibri"/>
              <a:cs typeface="Calibri"/>
              <a:sym typeface="Calibri"/>
            </a:endParaRPr>
          </a:p>
        </p:txBody>
      </p:sp>
      <p:sp>
        <p:nvSpPr>
          <p:cNvPr id="750" name="Google Shape;750;p36"/>
          <p:cNvSpPr/>
          <p:nvPr/>
        </p:nvSpPr>
        <p:spPr>
          <a:xfrm>
            <a:off x="425196" y="493776"/>
            <a:ext cx="829818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2300"/>
              <a:buFont typeface="Calibri"/>
              <a:buNone/>
            </a:pPr>
            <a:r>
              <a:rPr b="1" lang="de" sz="2300">
                <a:solidFill>
                  <a:srgbClr val="17242F"/>
                </a:solidFill>
                <a:latin typeface="Calibri"/>
                <a:ea typeface="Calibri"/>
                <a:cs typeface="Calibri"/>
                <a:sym typeface="Calibri"/>
              </a:rPr>
              <a:t>Das laufende System</a:t>
            </a:r>
            <a:endParaRPr sz="2300">
              <a:solidFill>
                <a:schemeClr val="dk1"/>
              </a:solidFill>
              <a:latin typeface="Calibri"/>
              <a:ea typeface="Calibri"/>
              <a:cs typeface="Calibri"/>
              <a:sym typeface="Calibri"/>
            </a:endParaRPr>
          </a:p>
        </p:txBody>
      </p:sp>
      <p:sp>
        <p:nvSpPr>
          <p:cNvPr id="751" name="Google Shape;751;p36"/>
          <p:cNvSpPr/>
          <p:nvPr/>
        </p:nvSpPr>
        <p:spPr>
          <a:xfrm>
            <a:off x="425196" y="1097280"/>
            <a:ext cx="4009530" cy="788670"/>
          </a:xfrm>
          <a:prstGeom prst="roundRect">
            <a:avLst>
              <a:gd fmla="val 7826" name="adj"/>
            </a:avLst>
          </a:prstGeom>
          <a:solidFill>
            <a:srgbClr val="12263A"/>
          </a:solidFill>
          <a:ln>
            <a:noFill/>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52" name="Google Shape;752;p36"/>
          <p:cNvSpPr/>
          <p:nvPr/>
        </p:nvSpPr>
        <p:spPr>
          <a:xfrm>
            <a:off x="644652" y="1179576"/>
            <a:ext cx="35661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4B6"/>
              </a:buClr>
              <a:buSzPts val="900"/>
              <a:buFont typeface="Calibri"/>
              <a:buNone/>
            </a:pPr>
            <a:r>
              <a:rPr b="1" lang="de" sz="900">
                <a:solidFill>
                  <a:srgbClr val="2EC4B6"/>
                </a:solidFill>
                <a:latin typeface="Calibri"/>
                <a:ea typeface="Calibri"/>
                <a:cs typeface="Calibri"/>
                <a:sym typeface="Calibri"/>
              </a:rPr>
              <a:t>Anwendung</a:t>
            </a:r>
            <a:endParaRPr sz="900">
              <a:solidFill>
                <a:schemeClr val="dk1"/>
              </a:solidFill>
              <a:latin typeface="Calibri"/>
              <a:ea typeface="Calibri"/>
              <a:cs typeface="Calibri"/>
              <a:sym typeface="Calibri"/>
            </a:endParaRPr>
          </a:p>
        </p:txBody>
      </p:sp>
      <p:sp>
        <p:nvSpPr>
          <p:cNvPr id="753" name="Google Shape;753;p36"/>
          <p:cNvSpPr/>
          <p:nvPr/>
        </p:nvSpPr>
        <p:spPr>
          <a:xfrm>
            <a:off x="644652" y="1371600"/>
            <a:ext cx="37033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onsolas"/>
              <a:buNone/>
            </a:pPr>
            <a:r>
              <a:rPr b="1" lang="de" sz="1100">
                <a:solidFill>
                  <a:srgbClr val="FFFFFF"/>
                </a:solidFill>
                <a:latin typeface="Consolas"/>
                <a:ea typeface="Consolas"/>
                <a:cs typeface="Consolas"/>
                <a:sym typeface="Consolas"/>
              </a:rPr>
              <a:t>13.63.159.30.sslip.io/projects/</a:t>
            </a:r>
            <a:endParaRPr sz="1100">
              <a:solidFill>
                <a:schemeClr val="dk1"/>
              </a:solidFill>
              <a:latin typeface="Calibri"/>
              <a:ea typeface="Calibri"/>
              <a:cs typeface="Calibri"/>
              <a:sym typeface="Calibri"/>
            </a:endParaRPr>
          </a:p>
        </p:txBody>
      </p:sp>
      <p:sp>
        <p:nvSpPr>
          <p:cNvPr id="754" name="Google Shape;754;p36"/>
          <p:cNvSpPr/>
          <p:nvPr/>
        </p:nvSpPr>
        <p:spPr>
          <a:xfrm>
            <a:off x="644652" y="1632204"/>
            <a:ext cx="370332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4"/>
              </a:buClr>
              <a:buSzPts val="800"/>
              <a:buFont typeface="Calibri"/>
              <a:buNone/>
            </a:pPr>
            <a:r>
              <a:rPr lang="de" sz="800">
                <a:solidFill>
                  <a:srgbClr val="9FB3C4"/>
                </a:solidFill>
                <a:latin typeface="Calibri"/>
                <a:ea typeface="Calibri"/>
                <a:cs typeface="Calibri"/>
                <a:sym typeface="Calibri"/>
              </a:rPr>
              <a:t>Live auf AWS — erreichbar über HTTPS</a:t>
            </a:r>
            <a:endParaRPr sz="800">
              <a:solidFill>
                <a:schemeClr val="dk1"/>
              </a:solidFill>
              <a:latin typeface="Calibri"/>
              <a:ea typeface="Calibri"/>
              <a:cs typeface="Calibri"/>
              <a:sym typeface="Calibri"/>
            </a:endParaRPr>
          </a:p>
        </p:txBody>
      </p:sp>
      <p:sp>
        <p:nvSpPr>
          <p:cNvPr id="755" name="Google Shape;755;p36"/>
          <p:cNvSpPr/>
          <p:nvPr/>
        </p:nvSpPr>
        <p:spPr>
          <a:xfrm>
            <a:off x="4709046" y="1097280"/>
            <a:ext cx="4009530" cy="788670"/>
          </a:xfrm>
          <a:prstGeom prst="roundRect">
            <a:avLst>
              <a:gd fmla="val 7826" name="adj"/>
            </a:avLst>
          </a:prstGeom>
          <a:solidFill>
            <a:srgbClr val="134E63"/>
          </a:solidFill>
          <a:ln>
            <a:noFill/>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56" name="Google Shape;756;p36"/>
          <p:cNvSpPr/>
          <p:nvPr/>
        </p:nvSpPr>
        <p:spPr>
          <a:xfrm>
            <a:off x="4928502" y="1179576"/>
            <a:ext cx="35661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4B6"/>
              </a:buClr>
              <a:buSzPts val="900"/>
              <a:buFont typeface="Calibri"/>
              <a:buNone/>
            </a:pPr>
            <a:r>
              <a:rPr b="1" lang="de" sz="900">
                <a:solidFill>
                  <a:srgbClr val="2EC4B6"/>
                </a:solidFill>
                <a:latin typeface="Calibri"/>
                <a:ea typeface="Calibri"/>
                <a:cs typeface="Calibri"/>
                <a:sym typeface="Calibri"/>
              </a:rPr>
              <a:t>MCP-Connector für z.B. Claude</a:t>
            </a:r>
            <a:endParaRPr sz="900">
              <a:solidFill>
                <a:schemeClr val="dk1"/>
              </a:solidFill>
              <a:latin typeface="Calibri"/>
              <a:ea typeface="Calibri"/>
              <a:cs typeface="Calibri"/>
              <a:sym typeface="Calibri"/>
            </a:endParaRPr>
          </a:p>
        </p:txBody>
      </p:sp>
      <p:sp>
        <p:nvSpPr>
          <p:cNvPr id="757" name="Google Shape;757;p36"/>
          <p:cNvSpPr/>
          <p:nvPr/>
        </p:nvSpPr>
        <p:spPr>
          <a:xfrm>
            <a:off x="4928502" y="1371600"/>
            <a:ext cx="37033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onsolas"/>
              <a:buNone/>
            </a:pPr>
            <a:r>
              <a:rPr b="1" lang="de" sz="1100">
                <a:solidFill>
                  <a:srgbClr val="FFFFFF"/>
                </a:solidFill>
                <a:latin typeface="Consolas"/>
                <a:ea typeface="Consolas"/>
                <a:cs typeface="Consolas"/>
                <a:sym typeface="Consolas"/>
              </a:rPr>
              <a:t>13.63.159.30.sslip.io/mcp</a:t>
            </a:r>
            <a:endParaRPr sz="1100">
              <a:solidFill>
                <a:schemeClr val="dk1"/>
              </a:solidFill>
              <a:latin typeface="Calibri"/>
              <a:ea typeface="Calibri"/>
              <a:cs typeface="Calibri"/>
              <a:sym typeface="Calibri"/>
            </a:endParaRPr>
          </a:p>
        </p:txBody>
      </p:sp>
      <p:sp>
        <p:nvSpPr>
          <p:cNvPr id="758" name="Google Shape;758;p36"/>
          <p:cNvSpPr/>
          <p:nvPr/>
        </p:nvSpPr>
        <p:spPr>
          <a:xfrm>
            <a:off x="4928502" y="1632204"/>
            <a:ext cx="370332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4"/>
              </a:buClr>
              <a:buSzPts val="800"/>
              <a:buFont typeface="Calibri"/>
              <a:buNone/>
            </a:pPr>
            <a:r>
              <a:rPr lang="de" sz="800">
                <a:solidFill>
                  <a:srgbClr val="9FB3C4"/>
                </a:solidFill>
                <a:latin typeface="Calibri"/>
                <a:ea typeface="Calibri"/>
                <a:cs typeface="Calibri"/>
                <a:sym typeface="Calibri"/>
              </a:rPr>
              <a:t>Als Connector hinzufügen — TeamBoard direkt in Claude</a:t>
            </a:r>
            <a:endParaRPr sz="800">
              <a:solidFill>
                <a:schemeClr val="dk1"/>
              </a:solidFill>
              <a:latin typeface="Calibri"/>
              <a:ea typeface="Calibri"/>
              <a:cs typeface="Calibri"/>
              <a:sym typeface="Calibri"/>
            </a:endParaRPr>
          </a:p>
        </p:txBody>
      </p:sp>
      <p:sp>
        <p:nvSpPr>
          <p:cNvPr id="759" name="Google Shape;759;p36"/>
          <p:cNvSpPr/>
          <p:nvPr/>
        </p:nvSpPr>
        <p:spPr>
          <a:xfrm>
            <a:off x="438912" y="2043684"/>
            <a:ext cx="41148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800"/>
              <a:buFont typeface="Calibri"/>
              <a:buNone/>
            </a:pPr>
            <a:r>
              <a:rPr b="1" lang="de" sz="800">
                <a:solidFill>
                  <a:srgbClr val="1C7293"/>
                </a:solidFill>
                <a:latin typeface="Calibri"/>
                <a:ea typeface="Calibri"/>
                <a:cs typeface="Calibri"/>
                <a:sym typeface="Calibri"/>
              </a:rPr>
              <a:t>WAS WIR LIVE ZEIGEN</a:t>
            </a:r>
            <a:endParaRPr sz="800">
              <a:solidFill>
                <a:schemeClr val="dk1"/>
              </a:solidFill>
              <a:latin typeface="Calibri"/>
              <a:ea typeface="Calibri"/>
              <a:cs typeface="Calibri"/>
              <a:sym typeface="Calibri"/>
            </a:endParaRPr>
          </a:p>
        </p:txBody>
      </p:sp>
      <p:sp>
        <p:nvSpPr>
          <p:cNvPr id="760" name="Google Shape;760;p36"/>
          <p:cNvSpPr/>
          <p:nvPr/>
        </p:nvSpPr>
        <p:spPr>
          <a:xfrm>
            <a:off x="425196" y="2263140"/>
            <a:ext cx="4009530" cy="685800"/>
          </a:xfrm>
          <a:prstGeom prst="roundRect">
            <a:avLst>
              <a:gd fmla="val 800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61" name="Google Shape;761;p36"/>
          <p:cNvSpPr/>
          <p:nvPr/>
        </p:nvSpPr>
        <p:spPr>
          <a:xfrm>
            <a:off x="603504" y="2468880"/>
            <a:ext cx="274320" cy="274320"/>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62" name="Google Shape;762;p36"/>
          <p:cNvSpPr/>
          <p:nvPr/>
        </p:nvSpPr>
        <p:spPr>
          <a:xfrm>
            <a:off x="603504" y="246888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1</a:t>
            </a:r>
            <a:endParaRPr sz="900">
              <a:solidFill>
                <a:schemeClr val="dk1"/>
              </a:solidFill>
              <a:latin typeface="Calibri"/>
              <a:ea typeface="Calibri"/>
              <a:cs typeface="Calibri"/>
              <a:sym typeface="Calibri"/>
            </a:endParaRPr>
          </a:p>
        </p:txBody>
      </p:sp>
      <p:sp>
        <p:nvSpPr>
          <p:cNvPr id="763" name="Google Shape;763;p36"/>
          <p:cNvSpPr/>
          <p:nvPr/>
        </p:nvSpPr>
        <p:spPr>
          <a:xfrm>
            <a:off x="973836" y="2359152"/>
            <a:ext cx="32894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b="1" lang="de" sz="1000">
                <a:solidFill>
                  <a:srgbClr val="17242F"/>
                </a:solidFill>
                <a:latin typeface="Calibri"/>
                <a:ea typeface="Calibri"/>
                <a:cs typeface="Calibri"/>
                <a:sym typeface="Calibri"/>
              </a:rPr>
              <a:t>Projekt, Board und Mitglieder</a:t>
            </a:r>
            <a:endParaRPr sz="1000">
              <a:solidFill>
                <a:schemeClr val="dk1"/>
              </a:solidFill>
              <a:latin typeface="Calibri"/>
              <a:ea typeface="Calibri"/>
              <a:cs typeface="Calibri"/>
              <a:sym typeface="Calibri"/>
            </a:endParaRPr>
          </a:p>
        </p:txBody>
      </p:sp>
      <p:sp>
        <p:nvSpPr>
          <p:cNvPr id="764" name="Google Shape;764;p36"/>
          <p:cNvSpPr/>
          <p:nvPr/>
        </p:nvSpPr>
        <p:spPr>
          <a:xfrm>
            <a:off x="973836" y="2564892"/>
            <a:ext cx="32894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Projekt anlegen, Mitglied mit Rolle einladen — Rechte greifen sofort.</a:t>
            </a:r>
            <a:endParaRPr sz="800">
              <a:solidFill>
                <a:schemeClr val="dk1"/>
              </a:solidFill>
              <a:latin typeface="Calibri"/>
              <a:ea typeface="Calibri"/>
              <a:cs typeface="Calibri"/>
              <a:sym typeface="Calibri"/>
            </a:endParaRPr>
          </a:p>
        </p:txBody>
      </p:sp>
      <p:sp>
        <p:nvSpPr>
          <p:cNvPr id="765" name="Google Shape;765;p36"/>
          <p:cNvSpPr/>
          <p:nvPr/>
        </p:nvSpPr>
        <p:spPr>
          <a:xfrm>
            <a:off x="4709046" y="2263140"/>
            <a:ext cx="4009530" cy="685800"/>
          </a:xfrm>
          <a:prstGeom prst="roundRect">
            <a:avLst>
              <a:gd fmla="val 800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66" name="Google Shape;766;p36"/>
          <p:cNvSpPr/>
          <p:nvPr/>
        </p:nvSpPr>
        <p:spPr>
          <a:xfrm>
            <a:off x="4887354" y="2468880"/>
            <a:ext cx="274320" cy="274320"/>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67" name="Google Shape;767;p36"/>
          <p:cNvSpPr/>
          <p:nvPr/>
        </p:nvSpPr>
        <p:spPr>
          <a:xfrm>
            <a:off x="4887354" y="246888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2</a:t>
            </a:r>
            <a:endParaRPr sz="900">
              <a:solidFill>
                <a:schemeClr val="dk1"/>
              </a:solidFill>
              <a:latin typeface="Calibri"/>
              <a:ea typeface="Calibri"/>
              <a:cs typeface="Calibri"/>
              <a:sym typeface="Calibri"/>
            </a:endParaRPr>
          </a:p>
        </p:txBody>
      </p:sp>
      <p:sp>
        <p:nvSpPr>
          <p:cNvPr id="768" name="Google Shape;768;p36"/>
          <p:cNvSpPr/>
          <p:nvPr/>
        </p:nvSpPr>
        <p:spPr>
          <a:xfrm>
            <a:off x="5257686" y="2359152"/>
            <a:ext cx="32894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b="1" lang="de" sz="1000">
                <a:solidFill>
                  <a:srgbClr val="17242F"/>
                </a:solidFill>
                <a:latin typeface="Calibri"/>
                <a:ea typeface="Calibri"/>
                <a:cs typeface="Calibri"/>
                <a:sym typeface="Calibri"/>
              </a:rPr>
              <a:t>Task verschieben mit Live-Update</a:t>
            </a:r>
            <a:endParaRPr sz="1000">
              <a:solidFill>
                <a:schemeClr val="dk1"/>
              </a:solidFill>
              <a:latin typeface="Calibri"/>
              <a:ea typeface="Calibri"/>
              <a:cs typeface="Calibri"/>
              <a:sym typeface="Calibri"/>
            </a:endParaRPr>
          </a:p>
        </p:txBody>
      </p:sp>
      <p:sp>
        <p:nvSpPr>
          <p:cNvPr id="769" name="Google Shape;769;p36"/>
          <p:cNvSpPr/>
          <p:nvPr/>
        </p:nvSpPr>
        <p:spPr>
          <a:xfrm>
            <a:off x="5257686" y="2564892"/>
            <a:ext cx="32894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Karte ziehen — zweiter Browser aktualisiert sich ohne Reload über WebSocket.</a:t>
            </a:r>
            <a:endParaRPr sz="800">
              <a:solidFill>
                <a:schemeClr val="dk1"/>
              </a:solidFill>
              <a:latin typeface="Calibri"/>
              <a:ea typeface="Calibri"/>
              <a:cs typeface="Calibri"/>
              <a:sym typeface="Calibri"/>
            </a:endParaRPr>
          </a:p>
        </p:txBody>
      </p:sp>
      <p:sp>
        <p:nvSpPr>
          <p:cNvPr id="770" name="Google Shape;770;p36"/>
          <p:cNvSpPr/>
          <p:nvPr/>
        </p:nvSpPr>
        <p:spPr>
          <a:xfrm>
            <a:off x="425196" y="3058668"/>
            <a:ext cx="4009530" cy="685800"/>
          </a:xfrm>
          <a:prstGeom prst="roundRect">
            <a:avLst>
              <a:gd fmla="val 800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71" name="Google Shape;771;p36"/>
          <p:cNvSpPr/>
          <p:nvPr/>
        </p:nvSpPr>
        <p:spPr>
          <a:xfrm>
            <a:off x="603504" y="3264408"/>
            <a:ext cx="274320" cy="274320"/>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72" name="Google Shape;772;p36"/>
          <p:cNvSpPr/>
          <p:nvPr/>
        </p:nvSpPr>
        <p:spPr>
          <a:xfrm>
            <a:off x="603504" y="326440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3</a:t>
            </a:r>
            <a:endParaRPr sz="900">
              <a:solidFill>
                <a:schemeClr val="dk1"/>
              </a:solidFill>
              <a:latin typeface="Calibri"/>
              <a:ea typeface="Calibri"/>
              <a:cs typeface="Calibri"/>
              <a:sym typeface="Calibri"/>
            </a:endParaRPr>
          </a:p>
        </p:txBody>
      </p:sp>
      <p:sp>
        <p:nvSpPr>
          <p:cNvPr id="773" name="Google Shape;773;p36"/>
          <p:cNvSpPr/>
          <p:nvPr/>
        </p:nvSpPr>
        <p:spPr>
          <a:xfrm>
            <a:off x="973836" y="3154680"/>
            <a:ext cx="32894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b="1" lang="de" sz="1000">
                <a:solidFill>
                  <a:srgbClr val="17242F"/>
                </a:solidFill>
                <a:latin typeface="Calibri"/>
                <a:ea typeface="Calibri"/>
                <a:cs typeface="Calibri"/>
                <a:sym typeface="Calibri"/>
              </a:rPr>
              <a:t>Dokument mit Versionierung</a:t>
            </a:r>
            <a:endParaRPr sz="1000">
              <a:solidFill>
                <a:schemeClr val="dk1"/>
              </a:solidFill>
              <a:latin typeface="Calibri"/>
              <a:ea typeface="Calibri"/>
              <a:cs typeface="Calibri"/>
              <a:sym typeface="Calibri"/>
            </a:endParaRPr>
          </a:p>
        </p:txBody>
      </p:sp>
      <p:sp>
        <p:nvSpPr>
          <p:cNvPr id="774" name="Google Shape;774;p36"/>
          <p:cNvSpPr/>
          <p:nvPr/>
        </p:nvSpPr>
        <p:spPr>
          <a:xfrm>
            <a:off x="973836" y="3360420"/>
            <a:ext cx="32894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Upload, zweite Version, Rollback auf den früheren Stand.</a:t>
            </a:r>
            <a:endParaRPr sz="800">
              <a:solidFill>
                <a:schemeClr val="dk1"/>
              </a:solidFill>
              <a:latin typeface="Calibri"/>
              <a:ea typeface="Calibri"/>
              <a:cs typeface="Calibri"/>
              <a:sym typeface="Calibri"/>
            </a:endParaRPr>
          </a:p>
        </p:txBody>
      </p:sp>
      <p:sp>
        <p:nvSpPr>
          <p:cNvPr id="775" name="Google Shape;775;p36"/>
          <p:cNvSpPr/>
          <p:nvPr/>
        </p:nvSpPr>
        <p:spPr>
          <a:xfrm>
            <a:off x="4709046" y="3058668"/>
            <a:ext cx="4009530" cy="685800"/>
          </a:xfrm>
          <a:prstGeom prst="roundRect">
            <a:avLst>
              <a:gd fmla="val 800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76" name="Google Shape;776;p36"/>
          <p:cNvSpPr/>
          <p:nvPr/>
        </p:nvSpPr>
        <p:spPr>
          <a:xfrm>
            <a:off x="4887354" y="3264408"/>
            <a:ext cx="274320" cy="274320"/>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77" name="Google Shape;777;p36"/>
          <p:cNvSpPr/>
          <p:nvPr/>
        </p:nvSpPr>
        <p:spPr>
          <a:xfrm>
            <a:off x="4887354" y="326440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4</a:t>
            </a:r>
            <a:endParaRPr sz="900">
              <a:solidFill>
                <a:schemeClr val="dk1"/>
              </a:solidFill>
              <a:latin typeface="Calibri"/>
              <a:ea typeface="Calibri"/>
              <a:cs typeface="Calibri"/>
              <a:sym typeface="Calibri"/>
            </a:endParaRPr>
          </a:p>
        </p:txBody>
      </p:sp>
      <p:sp>
        <p:nvSpPr>
          <p:cNvPr id="778" name="Google Shape;778;p36"/>
          <p:cNvSpPr/>
          <p:nvPr/>
        </p:nvSpPr>
        <p:spPr>
          <a:xfrm>
            <a:off x="5257686" y="3154680"/>
            <a:ext cx="32894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b="1" lang="de" sz="1000">
                <a:solidFill>
                  <a:srgbClr val="17242F"/>
                </a:solidFill>
                <a:latin typeface="Calibri"/>
                <a:ea typeface="Calibri"/>
                <a:cs typeface="Calibri"/>
                <a:sym typeface="Calibri"/>
              </a:rPr>
              <a:t>Webhook nach außen</a:t>
            </a:r>
            <a:endParaRPr sz="1000">
              <a:solidFill>
                <a:schemeClr val="dk1"/>
              </a:solidFill>
              <a:latin typeface="Calibri"/>
              <a:ea typeface="Calibri"/>
              <a:cs typeface="Calibri"/>
              <a:sym typeface="Calibri"/>
            </a:endParaRPr>
          </a:p>
        </p:txBody>
      </p:sp>
      <p:sp>
        <p:nvSpPr>
          <p:cNvPr id="779" name="Google Shape;779;p36"/>
          <p:cNvSpPr/>
          <p:nvPr/>
        </p:nvSpPr>
        <p:spPr>
          <a:xfrm>
            <a:off x="5257686" y="3360420"/>
            <a:ext cx="32894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Domain-Event löst signierten Aufruf an ein externes System aus.</a:t>
            </a:r>
            <a:endParaRPr sz="800">
              <a:solidFill>
                <a:schemeClr val="dk1"/>
              </a:solidFill>
              <a:latin typeface="Calibri"/>
              <a:ea typeface="Calibri"/>
              <a:cs typeface="Calibri"/>
              <a:sym typeface="Calibri"/>
            </a:endParaRPr>
          </a:p>
        </p:txBody>
      </p:sp>
      <p:sp>
        <p:nvSpPr>
          <p:cNvPr id="780" name="Google Shape;780;p36"/>
          <p:cNvSpPr/>
          <p:nvPr/>
        </p:nvSpPr>
        <p:spPr>
          <a:xfrm>
            <a:off x="425196" y="3854196"/>
            <a:ext cx="4009530" cy="685800"/>
          </a:xfrm>
          <a:prstGeom prst="roundRect">
            <a:avLst>
              <a:gd fmla="val 800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81" name="Google Shape;781;p36"/>
          <p:cNvSpPr/>
          <p:nvPr/>
        </p:nvSpPr>
        <p:spPr>
          <a:xfrm>
            <a:off x="603504" y="4059936"/>
            <a:ext cx="274320" cy="274320"/>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82" name="Google Shape;782;p36"/>
          <p:cNvSpPr/>
          <p:nvPr/>
        </p:nvSpPr>
        <p:spPr>
          <a:xfrm>
            <a:off x="603504" y="405993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5</a:t>
            </a:r>
            <a:endParaRPr sz="900">
              <a:solidFill>
                <a:schemeClr val="dk1"/>
              </a:solidFill>
              <a:latin typeface="Calibri"/>
              <a:ea typeface="Calibri"/>
              <a:cs typeface="Calibri"/>
              <a:sym typeface="Calibri"/>
            </a:endParaRPr>
          </a:p>
        </p:txBody>
      </p:sp>
      <p:sp>
        <p:nvSpPr>
          <p:cNvPr id="783" name="Google Shape;783;p36"/>
          <p:cNvSpPr/>
          <p:nvPr/>
        </p:nvSpPr>
        <p:spPr>
          <a:xfrm>
            <a:off x="973836" y="3950208"/>
            <a:ext cx="32894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b="1" lang="de" sz="1000">
                <a:solidFill>
                  <a:srgbClr val="17242F"/>
                </a:solidFill>
                <a:latin typeface="Calibri"/>
                <a:ea typeface="Calibri"/>
                <a:cs typeface="Calibri"/>
                <a:sym typeface="Calibri"/>
              </a:rPr>
              <a:t>Board-Typ zur Laufzeit</a:t>
            </a:r>
            <a:endParaRPr sz="1000">
              <a:solidFill>
                <a:schemeClr val="dk1"/>
              </a:solidFill>
              <a:latin typeface="Calibri"/>
              <a:ea typeface="Calibri"/>
              <a:cs typeface="Calibri"/>
              <a:sym typeface="Calibri"/>
            </a:endParaRPr>
          </a:p>
        </p:txBody>
      </p:sp>
      <p:sp>
        <p:nvSpPr>
          <p:cNvPr id="784" name="Google Shape;784;p36"/>
          <p:cNvSpPr/>
          <p:nvPr/>
        </p:nvSpPr>
        <p:spPr>
          <a:xfrm>
            <a:off x="973836" y="4155948"/>
            <a:ext cx="32894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Neuen Board-Typ registrieren — ohne Deployment, ohne Neustart.</a:t>
            </a:r>
            <a:endParaRPr sz="800">
              <a:solidFill>
                <a:schemeClr val="dk1"/>
              </a:solidFill>
              <a:latin typeface="Calibri"/>
              <a:ea typeface="Calibri"/>
              <a:cs typeface="Calibri"/>
              <a:sym typeface="Calibri"/>
            </a:endParaRPr>
          </a:p>
        </p:txBody>
      </p:sp>
      <p:sp>
        <p:nvSpPr>
          <p:cNvPr id="785" name="Google Shape;785;p36"/>
          <p:cNvSpPr/>
          <p:nvPr/>
        </p:nvSpPr>
        <p:spPr>
          <a:xfrm>
            <a:off x="4709046" y="3854196"/>
            <a:ext cx="4009530" cy="685800"/>
          </a:xfrm>
          <a:prstGeom prst="roundRect">
            <a:avLst>
              <a:gd fmla="val 8000"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86" name="Google Shape;786;p36"/>
          <p:cNvSpPr/>
          <p:nvPr/>
        </p:nvSpPr>
        <p:spPr>
          <a:xfrm>
            <a:off x="4887354" y="4059936"/>
            <a:ext cx="274320" cy="274320"/>
          </a:xfrm>
          <a:prstGeom prst="ellipse">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87" name="Google Shape;787;p36"/>
          <p:cNvSpPr/>
          <p:nvPr/>
        </p:nvSpPr>
        <p:spPr>
          <a:xfrm>
            <a:off x="4887354" y="405993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6</a:t>
            </a:r>
            <a:endParaRPr sz="900">
              <a:solidFill>
                <a:schemeClr val="dk1"/>
              </a:solidFill>
              <a:latin typeface="Calibri"/>
              <a:ea typeface="Calibri"/>
              <a:cs typeface="Calibri"/>
              <a:sym typeface="Calibri"/>
            </a:endParaRPr>
          </a:p>
        </p:txBody>
      </p:sp>
      <p:sp>
        <p:nvSpPr>
          <p:cNvPr id="788" name="Google Shape;788;p36"/>
          <p:cNvSpPr/>
          <p:nvPr/>
        </p:nvSpPr>
        <p:spPr>
          <a:xfrm>
            <a:off x="5257686" y="3950208"/>
            <a:ext cx="32894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b="1" lang="de" sz="1000">
                <a:solidFill>
                  <a:srgbClr val="17242F"/>
                </a:solidFill>
                <a:latin typeface="Calibri"/>
                <a:ea typeface="Calibri"/>
                <a:cs typeface="Calibri"/>
                <a:sym typeface="Calibri"/>
              </a:rPr>
              <a:t>TeamBoard in Claude</a:t>
            </a:r>
            <a:endParaRPr sz="1000">
              <a:solidFill>
                <a:schemeClr val="dk1"/>
              </a:solidFill>
              <a:latin typeface="Calibri"/>
              <a:ea typeface="Calibri"/>
              <a:cs typeface="Calibri"/>
              <a:sym typeface="Calibri"/>
            </a:endParaRPr>
          </a:p>
        </p:txBody>
      </p:sp>
      <p:sp>
        <p:nvSpPr>
          <p:cNvPr id="789" name="Google Shape;789;p36"/>
          <p:cNvSpPr/>
          <p:nvPr/>
        </p:nvSpPr>
        <p:spPr>
          <a:xfrm>
            <a:off x="5257686" y="4155948"/>
            <a:ext cx="32894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Über den MCP-Connector Tasks abfragen, ohne die Oberfläche zu öffnen.</a:t>
            </a:r>
            <a:endParaRPr sz="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B2A"/>
        </a:solidFill>
      </p:bgPr>
    </p:bg>
    <p:spTree>
      <p:nvGrpSpPr>
        <p:cNvPr id="794" name="Shape 794"/>
        <p:cNvGrpSpPr/>
        <p:nvPr/>
      </p:nvGrpSpPr>
      <p:grpSpPr>
        <a:xfrm>
          <a:off x="0" y="0"/>
          <a:ext cx="0" cy="0"/>
          <a:chOff x="0" y="0"/>
          <a:chExt cx="0" cy="0"/>
        </a:xfrm>
      </p:grpSpPr>
      <p:sp>
        <p:nvSpPr>
          <p:cNvPr id="795" name="Google Shape;795;p37"/>
          <p:cNvSpPr/>
          <p:nvPr/>
        </p:nvSpPr>
        <p:spPr>
          <a:xfrm>
            <a:off x="7269480" y="3223260"/>
            <a:ext cx="617220" cy="617220"/>
          </a:xfrm>
          <a:prstGeom prst="roundRect">
            <a:avLst>
              <a:gd fmla="val 8889" name="adj"/>
            </a:avLst>
          </a:prstGeom>
          <a:solidFill>
            <a:srgbClr val="12263A">
              <a:alpha val="54902"/>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96" name="Google Shape;796;p37"/>
          <p:cNvSpPr/>
          <p:nvPr/>
        </p:nvSpPr>
        <p:spPr>
          <a:xfrm>
            <a:off x="7989570" y="3223260"/>
            <a:ext cx="617220" cy="617220"/>
          </a:xfrm>
          <a:prstGeom prst="roundRect">
            <a:avLst>
              <a:gd fmla="val 8889" name="adj"/>
            </a:avLst>
          </a:prstGeom>
          <a:solidFill>
            <a:srgbClr val="134E63">
              <a:alpha val="6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97" name="Google Shape;797;p37"/>
          <p:cNvSpPr/>
          <p:nvPr/>
        </p:nvSpPr>
        <p:spPr>
          <a:xfrm>
            <a:off x="7269480" y="3943350"/>
            <a:ext cx="617220" cy="617220"/>
          </a:xfrm>
          <a:prstGeom prst="roundRect">
            <a:avLst>
              <a:gd fmla="val 8889" name="adj"/>
            </a:avLst>
          </a:prstGeom>
          <a:solidFill>
            <a:srgbClr val="134E63">
              <a:alpha val="6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98" name="Google Shape;798;p37"/>
          <p:cNvSpPr/>
          <p:nvPr/>
        </p:nvSpPr>
        <p:spPr>
          <a:xfrm>
            <a:off x="7989570" y="3943350"/>
            <a:ext cx="617220" cy="617220"/>
          </a:xfrm>
          <a:prstGeom prst="roundRect">
            <a:avLst>
              <a:gd fmla="val 8889" name="adj"/>
            </a:avLst>
          </a:prstGeom>
          <a:solidFill>
            <a:srgbClr val="12263A">
              <a:alpha val="4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99" name="Google Shape;799;p37"/>
          <p:cNvSpPr/>
          <p:nvPr/>
        </p:nvSpPr>
        <p:spPr>
          <a:xfrm>
            <a:off x="425196" y="1405890"/>
            <a:ext cx="205740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4B6"/>
              </a:buClr>
              <a:buSzPts val="7200"/>
              <a:buFont typeface="Calibri"/>
              <a:buNone/>
            </a:pPr>
            <a:r>
              <a:rPr b="1" lang="de" sz="7200">
                <a:solidFill>
                  <a:srgbClr val="2EC4B6"/>
                </a:solidFill>
                <a:latin typeface="Calibri"/>
                <a:ea typeface="Calibri"/>
                <a:cs typeface="Calibri"/>
                <a:sym typeface="Calibri"/>
              </a:rPr>
              <a:t>06</a:t>
            </a:r>
            <a:endParaRPr sz="7200">
              <a:solidFill>
                <a:schemeClr val="dk1"/>
              </a:solidFill>
              <a:latin typeface="Calibri"/>
              <a:ea typeface="Calibri"/>
              <a:cs typeface="Calibri"/>
              <a:sym typeface="Calibri"/>
            </a:endParaRPr>
          </a:p>
        </p:txBody>
      </p:sp>
      <p:sp>
        <p:nvSpPr>
          <p:cNvPr id="800" name="Google Shape;800;p37"/>
          <p:cNvSpPr/>
          <p:nvPr/>
        </p:nvSpPr>
        <p:spPr>
          <a:xfrm>
            <a:off x="425196" y="2400300"/>
            <a:ext cx="720090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lang="de" sz="3000">
                <a:solidFill>
                  <a:srgbClr val="FFFFFF"/>
                </a:solidFill>
                <a:latin typeface="Calibri"/>
                <a:ea typeface="Calibri"/>
                <a:cs typeface="Calibri"/>
                <a:sym typeface="Calibri"/>
              </a:rPr>
              <a:t>Demo &amp; </a:t>
            </a:r>
            <a:r>
              <a:rPr b="1" lang="de" sz="3000">
                <a:solidFill>
                  <a:srgbClr val="FFFFFF"/>
                </a:solidFill>
                <a:latin typeface="Calibri"/>
                <a:ea typeface="Calibri"/>
                <a:cs typeface="Calibri"/>
                <a:sym typeface="Calibri"/>
              </a:rPr>
              <a:t>Fazit &amp; Ausblick</a:t>
            </a:r>
            <a:endParaRPr sz="3000">
              <a:solidFill>
                <a:schemeClr val="dk1"/>
              </a:solidFill>
              <a:latin typeface="Calibri"/>
              <a:ea typeface="Calibri"/>
              <a:cs typeface="Calibri"/>
              <a:sym typeface="Calibri"/>
            </a:endParaRPr>
          </a:p>
        </p:txBody>
      </p:sp>
      <p:cxnSp>
        <p:nvCxnSpPr>
          <p:cNvPr id="801" name="Google Shape;801;p37"/>
          <p:cNvCxnSpPr/>
          <p:nvPr/>
        </p:nvCxnSpPr>
        <p:spPr>
          <a:xfrm>
            <a:off x="425196" y="3086100"/>
            <a:ext cx="1783080" cy="0"/>
          </a:xfrm>
          <a:prstGeom prst="straightConnector1">
            <a:avLst/>
          </a:prstGeom>
          <a:noFill/>
          <a:ln cap="flat" cmpd="sng" w="25400">
            <a:solidFill>
              <a:srgbClr val="1C7293"/>
            </a:solidFill>
            <a:prstDash val="solid"/>
            <a:round/>
            <a:headEnd len="sm" w="sm" type="none"/>
            <a:tailEnd len="sm" w="sm"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pic>
        <p:nvPicPr>
          <p:cNvPr id="806" name="Google Shape;806;p38" title="Demo Video.mp4">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6"/>
                                        </p:tgtEl>
                                        <p:attrNameLst>
                                          <p:attrName>style.visibility</p:attrName>
                                        </p:attrNameLst>
                                      </p:cBhvr>
                                      <p:to>
                                        <p:strVal val="visible"/>
                                      </p:to>
                                    </p:set>
                                    <p:animEffect filter="fade" transition="in">
                                      <p:cBhvr>
                                        <p:cTn dur="1000"/>
                                        <p:tgtEl>
                                          <p:spTgt spid="8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811" name="Shape 811"/>
        <p:cNvGrpSpPr/>
        <p:nvPr/>
      </p:nvGrpSpPr>
      <p:grpSpPr>
        <a:xfrm>
          <a:off x="0" y="0"/>
          <a:ext cx="0" cy="0"/>
          <a:chOff x="0" y="0"/>
          <a:chExt cx="0" cy="0"/>
        </a:xfrm>
      </p:grpSpPr>
      <p:sp>
        <p:nvSpPr>
          <p:cNvPr id="812" name="Google Shape;812;p39"/>
          <p:cNvSpPr/>
          <p:nvPr/>
        </p:nvSpPr>
        <p:spPr>
          <a:xfrm>
            <a:off x="425196" y="288036"/>
            <a:ext cx="7543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900"/>
              <a:buFont typeface="Calibri"/>
              <a:buNone/>
            </a:pPr>
            <a:r>
              <a:rPr b="1" lang="de" sz="900">
                <a:solidFill>
                  <a:srgbClr val="1C7293"/>
                </a:solidFill>
                <a:latin typeface="Calibri"/>
                <a:ea typeface="Calibri"/>
                <a:cs typeface="Calibri"/>
                <a:sym typeface="Calibri"/>
              </a:rPr>
              <a:t>FAZIT · BEWERTUNG</a:t>
            </a:r>
            <a:endParaRPr sz="900">
              <a:solidFill>
                <a:schemeClr val="dk1"/>
              </a:solidFill>
              <a:latin typeface="Calibri"/>
              <a:ea typeface="Calibri"/>
              <a:cs typeface="Calibri"/>
              <a:sym typeface="Calibri"/>
            </a:endParaRPr>
          </a:p>
        </p:txBody>
      </p:sp>
      <p:sp>
        <p:nvSpPr>
          <p:cNvPr id="813" name="Google Shape;813;p39"/>
          <p:cNvSpPr/>
          <p:nvPr/>
        </p:nvSpPr>
        <p:spPr>
          <a:xfrm>
            <a:off x="425196" y="493776"/>
            <a:ext cx="829818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2300"/>
              <a:buFont typeface="Calibri"/>
              <a:buNone/>
            </a:pPr>
            <a:r>
              <a:rPr b="1" lang="de" sz="2300">
                <a:solidFill>
                  <a:srgbClr val="17242F"/>
                </a:solidFill>
                <a:latin typeface="Calibri"/>
                <a:ea typeface="Calibri"/>
                <a:cs typeface="Calibri"/>
                <a:sym typeface="Calibri"/>
              </a:rPr>
              <a:t>Zusammenfassende Bewertung</a:t>
            </a:r>
            <a:endParaRPr sz="2300">
              <a:solidFill>
                <a:schemeClr val="dk1"/>
              </a:solidFill>
              <a:latin typeface="Calibri"/>
              <a:ea typeface="Calibri"/>
              <a:cs typeface="Calibri"/>
              <a:sym typeface="Calibri"/>
            </a:endParaRPr>
          </a:p>
        </p:txBody>
      </p:sp>
      <p:sp>
        <p:nvSpPr>
          <p:cNvPr id="814" name="Google Shape;814;p39"/>
          <p:cNvSpPr/>
          <p:nvPr/>
        </p:nvSpPr>
        <p:spPr>
          <a:xfrm>
            <a:off x="425196" y="10012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1000"/>
              <a:buFont typeface="Calibri"/>
              <a:buNone/>
            </a:pPr>
            <a:r>
              <a:rPr lang="de" sz="1000">
                <a:solidFill>
                  <a:srgbClr val="5E6E7C"/>
                </a:solidFill>
                <a:latin typeface="Calibri"/>
                <a:ea typeface="Calibri"/>
                <a:cs typeface="Calibri"/>
                <a:sym typeface="Calibri"/>
              </a:rPr>
              <a:t>Gemessen an den drei Architektur-Leitfragen, mit denen wir gestartet sind.</a:t>
            </a:r>
            <a:endParaRPr sz="1000">
              <a:solidFill>
                <a:schemeClr val="dk1"/>
              </a:solidFill>
              <a:latin typeface="Calibri"/>
              <a:ea typeface="Calibri"/>
              <a:cs typeface="Calibri"/>
              <a:sym typeface="Calibri"/>
            </a:endParaRPr>
          </a:p>
        </p:txBody>
      </p:sp>
      <p:sp>
        <p:nvSpPr>
          <p:cNvPr id="815" name="Google Shape;815;p39"/>
          <p:cNvSpPr/>
          <p:nvPr/>
        </p:nvSpPr>
        <p:spPr>
          <a:xfrm>
            <a:off x="425196" y="1303020"/>
            <a:ext cx="2604439" cy="2331720"/>
          </a:xfrm>
          <a:prstGeom prst="roundRect">
            <a:avLst>
              <a:gd fmla="val 264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16" name="Google Shape;816;p39"/>
          <p:cNvSpPr/>
          <p:nvPr/>
        </p:nvSpPr>
        <p:spPr>
          <a:xfrm>
            <a:off x="425196" y="1303020"/>
            <a:ext cx="2604439" cy="54864"/>
          </a:xfrm>
          <a:prstGeom prst="rect">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17" name="Google Shape;817;p39"/>
          <p:cNvSpPr/>
          <p:nvPr/>
        </p:nvSpPr>
        <p:spPr>
          <a:xfrm>
            <a:off x="617220" y="1508760"/>
            <a:ext cx="301752" cy="301752"/>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18" name="Google Shape;818;p39"/>
          <p:cNvSpPr/>
          <p:nvPr/>
        </p:nvSpPr>
        <p:spPr>
          <a:xfrm>
            <a:off x="617220" y="1508760"/>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de" sz="1000">
                <a:solidFill>
                  <a:srgbClr val="FFFFFF"/>
                </a:solidFill>
                <a:latin typeface="Calibri"/>
                <a:ea typeface="Calibri"/>
                <a:cs typeface="Calibri"/>
                <a:sym typeface="Calibri"/>
              </a:rPr>
              <a:t>1</a:t>
            </a:r>
            <a:endParaRPr sz="1000">
              <a:solidFill>
                <a:schemeClr val="dk1"/>
              </a:solidFill>
              <a:latin typeface="Calibri"/>
              <a:ea typeface="Calibri"/>
              <a:cs typeface="Calibri"/>
              <a:sym typeface="Calibri"/>
            </a:endParaRPr>
          </a:p>
        </p:txBody>
      </p:sp>
      <p:sp>
        <p:nvSpPr>
          <p:cNvPr id="819" name="Google Shape;819;p39"/>
          <p:cNvSpPr/>
          <p:nvPr/>
        </p:nvSpPr>
        <p:spPr>
          <a:xfrm>
            <a:off x="1014984" y="1508760"/>
            <a:ext cx="1836344"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b="1" lang="de" sz="1000">
                <a:solidFill>
                  <a:srgbClr val="17242F"/>
                </a:solidFill>
                <a:latin typeface="Calibri"/>
                <a:ea typeface="Calibri"/>
                <a:cs typeface="Calibri"/>
                <a:sym typeface="Calibri"/>
              </a:rPr>
              <a:t>Echtzeit-Ereignisse verteilen</a:t>
            </a:r>
            <a:endParaRPr sz="1000">
              <a:solidFill>
                <a:schemeClr val="dk1"/>
              </a:solidFill>
              <a:latin typeface="Calibri"/>
              <a:ea typeface="Calibri"/>
              <a:cs typeface="Calibri"/>
              <a:sym typeface="Calibri"/>
            </a:endParaRPr>
          </a:p>
        </p:txBody>
      </p:sp>
      <p:sp>
        <p:nvSpPr>
          <p:cNvPr id="820" name="Google Shape;820;p39"/>
          <p:cNvSpPr/>
          <p:nvPr/>
        </p:nvSpPr>
        <p:spPr>
          <a:xfrm>
            <a:off x="617220" y="1920240"/>
            <a:ext cx="2220392"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5"/>
              </a:buClr>
              <a:buSzPts val="800"/>
              <a:buFont typeface="Calibri"/>
              <a:buNone/>
            </a:pPr>
            <a:r>
              <a:rPr i="1" lang="de" sz="800">
                <a:solidFill>
                  <a:srgbClr val="8A98A5"/>
                </a:solidFill>
                <a:latin typeface="Calibri"/>
                <a:ea typeface="Calibri"/>
                <a:cs typeface="Calibri"/>
                <a:sym typeface="Calibri"/>
              </a:rPr>
              <a:t>„Wie lassen sich Echtzeit-Ereignisse in einer verteilten Architektur effizient verteilen?“</a:t>
            </a:r>
            <a:endParaRPr sz="800">
              <a:solidFill>
                <a:schemeClr val="dk1"/>
              </a:solidFill>
              <a:latin typeface="Calibri"/>
              <a:ea typeface="Calibri"/>
              <a:cs typeface="Calibri"/>
              <a:sym typeface="Calibri"/>
            </a:endParaRPr>
          </a:p>
        </p:txBody>
      </p:sp>
      <p:sp>
        <p:nvSpPr>
          <p:cNvPr id="821" name="Google Shape;821;p39"/>
          <p:cNvSpPr/>
          <p:nvPr/>
        </p:nvSpPr>
        <p:spPr>
          <a:xfrm>
            <a:off x="617220" y="2372868"/>
            <a:ext cx="2220392"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4E63"/>
              </a:buClr>
              <a:buSzPts val="900"/>
              <a:buFont typeface="Calibri"/>
              <a:buNone/>
            </a:pPr>
            <a:r>
              <a:rPr b="1" lang="de" sz="900">
                <a:solidFill>
                  <a:srgbClr val="134E63"/>
                </a:solidFill>
                <a:latin typeface="Calibri"/>
                <a:ea typeface="Calibri"/>
                <a:cs typeface="Calibri"/>
                <a:sym typeface="Calibri"/>
              </a:rPr>
              <a:t>Über einen Topic Exchange mit idempotenten Consumern.</a:t>
            </a:r>
            <a:endParaRPr sz="900">
              <a:solidFill>
                <a:schemeClr val="dk1"/>
              </a:solidFill>
              <a:latin typeface="Calibri"/>
              <a:ea typeface="Calibri"/>
              <a:cs typeface="Calibri"/>
              <a:sym typeface="Calibri"/>
            </a:endParaRPr>
          </a:p>
        </p:txBody>
      </p:sp>
      <p:sp>
        <p:nvSpPr>
          <p:cNvPr id="822" name="Google Shape;822;p39"/>
          <p:cNvSpPr/>
          <p:nvPr/>
        </p:nvSpPr>
        <p:spPr>
          <a:xfrm>
            <a:off x="617220" y="2770632"/>
            <a:ext cx="2220392"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Ein task.moved erreicht Notification und Webhook gleichzeitig — keiner kennt den anderen oder den Absender. Ein neuer Empfänger kostet einen Consumer, keine Änderung am Sender.</a:t>
            </a:r>
            <a:endParaRPr sz="800">
              <a:solidFill>
                <a:schemeClr val="dk1"/>
              </a:solidFill>
              <a:latin typeface="Calibri"/>
              <a:ea typeface="Calibri"/>
              <a:cs typeface="Calibri"/>
              <a:sym typeface="Calibri"/>
            </a:endParaRPr>
          </a:p>
        </p:txBody>
      </p:sp>
      <p:sp>
        <p:nvSpPr>
          <p:cNvPr id="823" name="Google Shape;823;p39"/>
          <p:cNvSpPr/>
          <p:nvPr/>
        </p:nvSpPr>
        <p:spPr>
          <a:xfrm>
            <a:off x="3269665" y="1303020"/>
            <a:ext cx="2604439" cy="2331720"/>
          </a:xfrm>
          <a:prstGeom prst="roundRect">
            <a:avLst>
              <a:gd fmla="val 264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24" name="Google Shape;824;p39"/>
          <p:cNvSpPr/>
          <p:nvPr/>
        </p:nvSpPr>
        <p:spPr>
          <a:xfrm>
            <a:off x="3269665" y="1303020"/>
            <a:ext cx="2604439" cy="54864"/>
          </a:xfrm>
          <a:prstGeom prst="rect">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25" name="Google Shape;825;p39"/>
          <p:cNvSpPr/>
          <p:nvPr/>
        </p:nvSpPr>
        <p:spPr>
          <a:xfrm>
            <a:off x="3461690" y="1508760"/>
            <a:ext cx="301752" cy="301752"/>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26" name="Google Shape;826;p39"/>
          <p:cNvSpPr/>
          <p:nvPr/>
        </p:nvSpPr>
        <p:spPr>
          <a:xfrm>
            <a:off x="3461690" y="1508760"/>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de" sz="1000">
                <a:solidFill>
                  <a:srgbClr val="FFFFFF"/>
                </a:solidFill>
                <a:latin typeface="Calibri"/>
                <a:ea typeface="Calibri"/>
                <a:cs typeface="Calibri"/>
                <a:sym typeface="Calibri"/>
              </a:rPr>
              <a:t>2</a:t>
            </a:r>
            <a:endParaRPr sz="1000">
              <a:solidFill>
                <a:schemeClr val="dk1"/>
              </a:solidFill>
              <a:latin typeface="Calibri"/>
              <a:ea typeface="Calibri"/>
              <a:cs typeface="Calibri"/>
              <a:sym typeface="Calibri"/>
            </a:endParaRPr>
          </a:p>
        </p:txBody>
      </p:sp>
      <p:sp>
        <p:nvSpPr>
          <p:cNvPr id="827" name="Google Shape;827;p39"/>
          <p:cNvSpPr/>
          <p:nvPr/>
        </p:nvSpPr>
        <p:spPr>
          <a:xfrm>
            <a:off x="3859454" y="1508760"/>
            <a:ext cx="1836344"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b="1" lang="de" sz="1000">
                <a:solidFill>
                  <a:srgbClr val="17242F"/>
                </a:solidFill>
                <a:latin typeface="Calibri"/>
                <a:ea typeface="Calibri"/>
                <a:cs typeface="Calibri"/>
                <a:sym typeface="Calibri"/>
              </a:rPr>
              <a:t>Dienste unabhängig skalieren</a:t>
            </a:r>
            <a:endParaRPr sz="1000">
              <a:solidFill>
                <a:schemeClr val="dk1"/>
              </a:solidFill>
              <a:latin typeface="Calibri"/>
              <a:ea typeface="Calibri"/>
              <a:cs typeface="Calibri"/>
              <a:sym typeface="Calibri"/>
            </a:endParaRPr>
          </a:p>
        </p:txBody>
      </p:sp>
      <p:sp>
        <p:nvSpPr>
          <p:cNvPr id="828" name="Google Shape;828;p39"/>
          <p:cNvSpPr/>
          <p:nvPr/>
        </p:nvSpPr>
        <p:spPr>
          <a:xfrm>
            <a:off x="3461690" y="1920240"/>
            <a:ext cx="2220392"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5"/>
              </a:buClr>
              <a:buSzPts val="800"/>
              <a:buFont typeface="Calibri"/>
              <a:buNone/>
            </a:pPr>
            <a:r>
              <a:rPr i="1" lang="de" sz="800">
                <a:solidFill>
                  <a:srgbClr val="8A98A5"/>
                </a:solidFill>
                <a:latin typeface="Calibri"/>
                <a:ea typeface="Calibri"/>
                <a:cs typeface="Calibri"/>
                <a:sym typeface="Calibri"/>
              </a:rPr>
              <a:t>„Wie können Dienste unabhängig voneinander skaliert werden?“</a:t>
            </a:r>
            <a:endParaRPr sz="800">
              <a:solidFill>
                <a:schemeClr val="dk1"/>
              </a:solidFill>
              <a:latin typeface="Calibri"/>
              <a:ea typeface="Calibri"/>
              <a:cs typeface="Calibri"/>
              <a:sym typeface="Calibri"/>
            </a:endParaRPr>
          </a:p>
        </p:txBody>
      </p:sp>
      <p:sp>
        <p:nvSpPr>
          <p:cNvPr id="829" name="Google Shape;829;p39"/>
          <p:cNvSpPr/>
          <p:nvPr/>
        </p:nvSpPr>
        <p:spPr>
          <a:xfrm>
            <a:off x="3461690" y="2372868"/>
            <a:ext cx="2220392"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4E63"/>
              </a:buClr>
              <a:buSzPts val="900"/>
              <a:buFont typeface="Calibri"/>
              <a:buNone/>
            </a:pPr>
            <a:r>
              <a:rPr b="1" lang="de" sz="900">
                <a:solidFill>
                  <a:srgbClr val="134E63"/>
                </a:solidFill>
                <a:latin typeface="Calibri"/>
                <a:ea typeface="Calibri"/>
                <a:cs typeface="Calibri"/>
                <a:sym typeface="Calibri"/>
              </a:rPr>
              <a:t>Database-per-Service und Stateless als Default.</a:t>
            </a:r>
            <a:endParaRPr sz="900">
              <a:solidFill>
                <a:schemeClr val="dk1"/>
              </a:solidFill>
              <a:latin typeface="Calibri"/>
              <a:ea typeface="Calibri"/>
              <a:cs typeface="Calibri"/>
              <a:sym typeface="Calibri"/>
            </a:endParaRPr>
          </a:p>
        </p:txBody>
      </p:sp>
      <p:sp>
        <p:nvSpPr>
          <p:cNvPr id="830" name="Google Shape;830;p39"/>
          <p:cNvSpPr/>
          <p:nvPr/>
        </p:nvSpPr>
        <p:spPr>
          <a:xfrm>
            <a:off x="3461690" y="2770632"/>
            <a:ext cx="2220392"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Jede Instanz ist austauschbar. Nur Notification hält bewusst Zustand, abgefedert über den Redis-Backplane. Der Beleg: Der MCP-Adapter kam hinzu, ohne einen Domain-Service anzufassen.</a:t>
            </a:r>
            <a:endParaRPr sz="800">
              <a:solidFill>
                <a:schemeClr val="dk1"/>
              </a:solidFill>
              <a:latin typeface="Calibri"/>
              <a:ea typeface="Calibri"/>
              <a:cs typeface="Calibri"/>
              <a:sym typeface="Calibri"/>
            </a:endParaRPr>
          </a:p>
        </p:txBody>
      </p:sp>
      <p:sp>
        <p:nvSpPr>
          <p:cNvPr id="831" name="Google Shape;831;p39"/>
          <p:cNvSpPr/>
          <p:nvPr/>
        </p:nvSpPr>
        <p:spPr>
          <a:xfrm>
            <a:off x="6114136" y="1303020"/>
            <a:ext cx="2604440" cy="2331720"/>
          </a:xfrm>
          <a:prstGeom prst="roundRect">
            <a:avLst>
              <a:gd fmla="val 264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32" name="Google Shape;832;p39"/>
          <p:cNvSpPr/>
          <p:nvPr/>
        </p:nvSpPr>
        <p:spPr>
          <a:xfrm>
            <a:off x="6114136" y="1303020"/>
            <a:ext cx="2604440" cy="54864"/>
          </a:xfrm>
          <a:prstGeom prst="rect">
            <a:avLst/>
          </a:prstGeom>
          <a:solidFill>
            <a:srgbClr val="2EC4B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33" name="Google Shape;833;p39"/>
          <p:cNvSpPr/>
          <p:nvPr/>
        </p:nvSpPr>
        <p:spPr>
          <a:xfrm>
            <a:off x="6306160" y="1508760"/>
            <a:ext cx="301752" cy="301752"/>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34" name="Google Shape;834;p39"/>
          <p:cNvSpPr/>
          <p:nvPr/>
        </p:nvSpPr>
        <p:spPr>
          <a:xfrm>
            <a:off x="6306160" y="1508760"/>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de" sz="1000">
                <a:solidFill>
                  <a:srgbClr val="FFFFFF"/>
                </a:solidFill>
                <a:latin typeface="Calibri"/>
                <a:ea typeface="Calibri"/>
                <a:cs typeface="Calibri"/>
                <a:sym typeface="Calibri"/>
              </a:rPr>
              <a:t>3</a:t>
            </a:r>
            <a:endParaRPr sz="1000">
              <a:solidFill>
                <a:schemeClr val="dk1"/>
              </a:solidFill>
              <a:latin typeface="Calibri"/>
              <a:ea typeface="Calibri"/>
              <a:cs typeface="Calibri"/>
              <a:sym typeface="Calibri"/>
            </a:endParaRPr>
          </a:p>
        </p:txBody>
      </p:sp>
      <p:sp>
        <p:nvSpPr>
          <p:cNvPr id="835" name="Google Shape;835;p39"/>
          <p:cNvSpPr/>
          <p:nvPr/>
        </p:nvSpPr>
        <p:spPr>
          <a:xfrm>
            <a:off x="6703924" y="1508760"/>
            <a:ext cx="1836343"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1000"/>
              <a:buFont typeface="Calibri"/>
              <a:buNone/>
            </a:pPr>
            <a:r>
              <a:rPr b="1" lang="de" sz="1000">
                <a:solidFill>
                  <a:srgbClr val="17242F"/>
                </a:solidFill>
                <a:latin typeface="Calibri"/>
                <a:ea typeface="Calibri"/>
                <a:cs typeface="Calibri"/>
                <a:sym typeface="Calibri"/>
              </a:rPr>
              <a:t>Datenzugriff konsistent halten</a:t>
            </a:r>
            <a:endParaRPr sz="1000">
              <a:solidFill>
                <a:schemeClr val="dk1"/>
              </a:solidFill>
              <a:latin typeface="Calibri"/>
              <a:ea typeface="Calibri"/>
              <a:cs typeface="Calibri"/>
              <a:sym typeface="Calibri"/>
            </a:endParaRPr>
          </a:p>
        </p:txBody>
      </p:sp>
      <p:sp>
        <p:nvSpPr>
          <p:cNvPr id="836" name="Google Shape;836;p39"/>
          <p:cNvSpPr/>
          <p:nvPr/>
        </p:nvSpPr>
        <p:spPr>
          <a:xfrm>
            <a:off x="6306160" y="1920240"/>
            <a:ext cx="2220392"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5"/>
              </a:buClr>
              <a:buSzPts val="800"/>
              <a:buFont typeface="Calibri"/>
              <a:buNone/>
            </a:pPr>
            <a:r>
              <a:rPr i="1" lang="de" sz="800">
                <a:solidFill>
                  <a:srgbClr val="8A98A5"/>
                </a:solidFill>
                <a:latin typeface="Calibri"/>
                <a:ea typeface="Calibri"/>
                <a:cs typeface="Calibri"/>
                <a:sym typeface="Calibri"/>
              </a:rPr>
              <a:t>„Wie bleibt der Datenzugriff dabei konsistent?“</a:t>
            </a:r>
            <a:endParaRPr sz="800">
              <a:solidFill>
                <a:schemeClr val="dk1"/>
              </a:solidFill>
              <a:latin typeface="Calibri"/>
              <a:ea typeface="Calibri"/>
              <a:cs typeface="Calibri"/>
              <a:sym typeface="Calibri"/>
            </a:endParaRPr>
          </a:p>
        </p:txBody>
      </p:sp>
      <p:sp>
        <p:nvSpPr>
          <p:cNvPr id="837" name="Google Shape;837;p39"/>
          <p:cNvSpPr/>
          <p:nvPr/>
        </p:nvSpPr>
        <p:spPr>
          <a:xfrm>
            <a:off x="6306160" y="2372868"/>
            <a:ext cx="2220392"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4E63"/>
              </a:buClr>
              <a:buSzPts val="900"/>
              <a:buFont typeface="Calibri"/>
              <a:buNone/>
            </a:pPr>
            <a:r>
              <a:rPr b="1" lang="de" sz="900">
                <a:solidFill>
                  <a:srgbClr val="134E63"/>
                </a:solidFill>
                <a:latin typeface="Calibri"/>
                <a:ea typeface="Calibri"/>
                <a:cs typeface="Calibri"/>
                <a:sym typeface="Calibri"/>
              </a:rPr>
              <a:t>ACID im Service, Outbox an der Grenze.</a:t>
            </a:r>
            <a:endParaRPr sz="900">
              <a:solidFill>
                <a:schemeClr val="dk1"/>
              </a:solidFill>
              <a:latin typeface="Calibri"/>
              <a:ea typeface="Calibri"/>
              <a:cs typeface="Calibri"/>
              <a:sym typeface="Calibri"/>
            </a:endParaRPr>
          </a:p>
        </p:txBody>
      </p:sp>
      <p:sp>
        <p:nvSpPr>
          <p:cNvPr id="838" name="Google Shape;838;p39"/>
          <p:cNvSpPr/>
          <p:nvPr/>
        </p:nvSpPr>
        <p:spPr>
          <a:xfrm>
            <a:off x="6306160" y="2770632"/>
            <a:ext cx="2220392"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DB-Änderung und Event entstehen in einer Transaktion — kein verlorenes Event. Nach außen Eventual Consistency, abgesichert durch Idempotenz und Dead-Letter-Queue.</a:t>
            </a:r>
            <a:endParaRPr sz="800">
              <a:solidFill>
                <a:schemeClr val="dk1"/>
              </a:solidFill>
              <a:latin typeface="Calibri"/>
              <a:ea typeface="Calibri"/>
              <a:cs typeface="Calibri"/>
              <a:sym typeface="Calibri"/>
            </a:endParaRPr>
          </a:p>
        </p:txBody>
      </p:sp>
      <p:sp>
        <p:nvSpPr>
          <p:cNvPr id="839" name="Google Shape;839;p39"/>
          <p:cNvSpPr/>
          <p:nvPr/>
        </p:nvSpPr>
        <p:spPr>
          <a:xfrm>
            <a:off x="425196" y="3806190"/>
            <a:ext cx="8293379" cy="891540"/>
          </a:xfrm>
          <a:prstGeom prst="roundRect">
            <a:avLst>
              <a:gd fmla="val 6923" name="adj"/>
            </a:avLst>
          </a:prstGeom>
          <a:solidFill>
            <a:srgbClr val="12263A"/>
          </a:solidFill>
          <a:ln>
            <a:noFill/>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40" name="Google Shape;840;p39"/>
          <p:cNvSpPr/>
          <p:nvPr/>
        </p:nvSpPr>
        <p:spPr>
          <a:xfrm>
            <a:off x="665226" y="3909060"/>
            <a:ext cx="78867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4B6"/>
              </a:buClr>
              <a:buSzPts val="1100"/>
              <a:buFont typeface="Calibri"/>
              <a:buNone/>
            </a:pPr>
            <a:r>
              <a:rPr b="1" lang="de" sz="1100">
                <a:solidFill>
                  <a:srgbClr val="2EC4B6"/>
                </a:solidFill>
                <a:latin typeface="Calibri"/>
                <a:ea typeface="Calibri"/>
                <a:cs typeface="Calibri"/>
                <a:sym typeface="Calibri"/>
              </a:rPr>
              <a:t>Unser Fazit: Komponentenbasierte Architektur funktioniert</a:t>
            </a:r>
            <a:endParaRPr sz="1100">
              <a:solidFill>
                <a:schemeClr val="dk1"/>
              </a:solidFill>
              <a:latin typeface="Calibri"/>
              <a:ea typeface="Calibri"/>
              <a:cs typeface="Calibri"/>
              <a:sym typeface="Calibri"/>
            </a:endParaRPr>
          </a:p>
        </p:txBody>
      </p:sp>
      <p:sp>
        <p:nvSpPr>
          <p:cNvPr id="841" name="Google Shape;841;p39"/>
          <p:cNvSpPr/>
          <p:nvPr/>
        </p:nvSpPr>
        <p:spPr>
          <a:xfrm>
            <a:off x="665226" y="4155948"/>
            <a:ext cx="79552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4"/>
              </a:buClr>
              <a:buSzPts val="900"/>
              <a:buFont typeface="Calibri"/>
              <a:buNone/>
            </a:pPr>
            <a:r>
              <a:rPr lang="de" sz="900">
                <a:solidFill>
                  <a:srgbClr val="9FB3C4"/>
                </a:solidFill>
                <a:latin typeface="Calibri"/>
                <a:ea typeface="Calibri"/>
                <a:cs typeface="Calibri"/>
                <a:sym typeface="Calibri"/>
              </a:rPr>
              <a:t>Zwei Erweiterungen haben das praktisch belegt — ein neuer Board-Typ, zur Laufzeit registriert ohne Deployment, und ein komplett neuer Client-Typ über MCP, angebunden ohne Eingriff in den Kern. Genau daran misst sich eine komponentenbasierte Architektur.</a:t>
            </a:r>
            <a:endParaRPr sz="9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846" name="Shape 846"/>
        <p:cNvGrpSpPr/>
        <p:nvPr/>
      </p:nvGrpSpPr>
      <p:grpSpPr>
        <a:xfrm>
          <a:off x="0" y="0"/>
          <a:ext cx="0" cy="0"/>
          <a:chOff x="0" y="0"/>
          <a:chExt cx="0" cy="0"/>
        </a:xfrm>
      </p:grpSpPr>
      <p:sp>
        <p:nvSpPr>
          <p:cNvPr id="847" name="Google Shape;847;p40"/>
          <p:cNvSpPr/>
          <p:nvPr/>
        </p:nvSpPr>
        <p:spPr>
          <a:xfrm>
            <a:off x="425196" y="288036"/>
            <a:ext cx="7543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900"/>
              <a:buFont typeface="Calibri"/>
              <a:buNone/>
            </a:pPr>
            <a:r>
              <a:rPr b="1" lang="de" sz="900">
                <a:solidFill>
                  <a:srgbClr val="1C7293"/>
                </a:solidFill>
                <a:latin typeface="Calibri"/>
                <a:ea typeface="Calibri"/>
                <a:cs typeface="Calibri"/>
                <a:sym typeface="Calibri"/>
              </a:rPr>
              <a:t>FAZIT · AUSBLICK</a:t>
            </a:r>
            <a:endParaRPr sz="900">
              <a:solidFill>
                <a:schemeClr val="dk1"/>
              </a:solidFill>
              <a:latin typeface="Calibri"/>
              <a:ea typeface="Calibri"/>
              <a:cs typeface="Calibri"/>
              <a:sym typeface="Calibri"/>
            </a:endParaRPr>
          </a:p>
        </p:txBody>
      </p:sp>
      <p:sp>
        <p:nvSpPr>
          <p:cNvPr id="848" name="Google Shape;848;p40"/>
          <p:cNvSpPr/>
          <p:nvPr/>
        </p:nvSpPr>
        <p:spPr>
          <a:xfrm>
            <a:off x="425196" y="493776"/>
            <a:ext cx="829818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2300"/>
              <a:buFont typeface="Calibri"/>
              <a:buNone/>
            </a:pPr>
            <a:r>
              <a:rPr b="1" lang="de" sz="2300">
                <a:solidFill>
                  <a:srgbClr val="17242F"/>
                </a:solidFill>
                <a:latin typeface="Calibri"/>
                <a:ea typeface="Calibri"/>
                <a:cs typeface="Calibri"/>
                <a:sym typeface="Calibri"/>
              </a:rPr>
              <a:t>Zukünftige Entwicklungsmöglichkeiten</a:t>
            </a:r>
            <a:endParaRPr sz="2300">
              <a:solidFill>
                <a:schemeClr val="dk1"/>
              </a:solidFill>
              <a:latin typeface="Calibri"/>
              <a:ea typeface="Calibri"/>
              <a:cs typeface="Calibri"/>
              <a:sym typeface="Calibri"/>
            </a:endParaRPr>
          </a:p>
        </p:txBody>
      </p:sp>
      <p:sp>
        <p:nvSpPr>
          <p:cNvPr id="849" name="Google Shape;849;p40"/>
          <p:cNvSpPr/>
          <p:nvPr/>
        </p:nvSpPr>
        <p:spPr>
          <a:xfrm>
            <a:off x="425196" y="10012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1000"/>
              <a:buFont typeface="Calibri"/>
              <a:buNone/>
            </a:pPr>
            <a:r>
              <a:rPr lang="de" sz="1000">
                <a:solidFill>
                  <a:srgbClr val="5E6E7C"/>
                </a:solidFill>
                <a:latin typeface="Calibri"/>
                <a:ea typeface="Calibri"/>
                <a:cs typeface="Calibri"/>
                <a:sym typeface="Calibri"/>
              </a:rPr>
              <a:t>Wo ist das Sysem noch nicht fertig welche Erweiterungen sind möglich.</a:t>
            </a:r>
            <a:endParaRPr sz="1000">
              <a:solidFill>
                <a:schemeClr val="dk1"/>
              </a:solidFill>
              <a:latin typeface="Calibri"/>
              <a:ea typeface="Calibri"/>
              <a:cs typeface="Calibri"/>
              <a:sym typeface="Calibri"/>
            </a:endParaRPr>
          </a:p>
        </p:txBody>
      </p:sp>
      <p:sp>
        <p:nvSpPr>
          <p:cNvPr id="850" name="Google Shape;850;p40"/>
          <p:cNvSpPr/>
          <p:nvPr/>
        </p:nvSpPr>
        <p:spPr>
          <a:xfrm>
            <a:off x="438912" y="1516665"/>
            <a:ext cx="39924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7A10"/>
              </a:buClr>
              <a:buSzPts val="800"/>
              <a:buFont typeface="Calibri"/>
              <a:buNone/>
            </a:pPr>
            <a:r>
              <a:rPr b="1" lang="de" sz="800">
                <a:solidFill>
                  <a:srgbClr val="B07A10"/>
                </a:solidFill>
                <a:latin typeface="Calibri"/>
                <a:ea typeface="Calibri"/>
                <a:cs typeface="Calibri"/>
                <a:sym typeface="Calibri"/>
              </a:rPr>
              <a:t>HÄRTUNG</a:t>
            </a:r>
            <a:endParaRPr sz="800">
              <a:solidFill>
                <a:schemeClr val="dk1"/>
              </a:solidFill>
              <a:latin typeface="Calibri"/>
              <a:ea typeface="Calibri"/>
              <a:cs typeface="Calibri"/>
              <a:sym typeface="Calibri"/>
            </a:endParaRPr>
          </a:p>
        </p:txBody>
      </p:sp>
      <p:sp>
        <p:nvSpPr>
          <p:cNvPr id="851" name="Google Shape;851;p40"/>
          <p:cNvSpPr/>
          <p:nvPr/>
        </p:nvSpPr>
        <p:spPr>
          <a:xfrm>
            <a:off x="4739907" y="1516665"/>
            <a:ext cx="39924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800"/>
              <a:buFont typeface="Calibri"/>
              <a:buNone/>
            </a:pPr>
            <a:r>
              <a:rPr b="1" lang="de" sz="800">
                <a:solidFill>
                  <a:srgbClr val="1C7293"/>
                </a:solidFill>
                <a:latin typeface="Calibri"/>
                <a:ea typeface="Calibri"/>
                <a:cs typeface="Calibri"/>
                <a:sym typeface="Calibri"/>
              </a:rPr>
              <a:t>AUSBAU</a:t>
            </a:r>
            <a:endParaRPr sz="800">
              <a:solidFill>
                <a:schemeClr val="dk1"/>
              </a:solidFill>
              <a:latin typeface="Calibri"/>
              <a:ea typeface="Calibri"/>
              <a:cs typeface="Calibri"/>
              <a:sym typeface="Calibri"/>
            </a:endParaRPr>
          </a:p>
        </p:txBody>
      </p:sp>
      <p:sp>
        <p:nvSpPr>
          <p:cNvPr id="852" name="Google Shape;852;p40"/>
          <p:cNvSpPr/>
          <p:nvPr/>
        </p:nvSpPr>
        <p:spPr>
          <a:xfrm>
            <a:off x="425196" y="1790985"/>
            <a:ext cx="3992400" cy="562500"/>
          </a:xfrm>
          <a:prstGeom prst="roundRect">
            <a:avLst>
              <a:gd fmla="val 853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53" name="Google Shape;853;p40"/>
          <p:cNvSpPr/>
          <p:nvPr/>
        </p:nvSpPr>
        <p:spPr>
          <a:xfrm>
            <a:off x="603504" y="1941861"/>
            <a:ext cx="260700" cy="260700"/>
          </a:xfrm>
          <a:prstGeom prst="ellipse">
            <a:avLst/>
          </a:prstGeom>
          <a:solidFill>
            <a:srgbClr val="E0A0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54" name="Google Shape;854;p40"/>
          <p:cNvSpPr/>
          <p:nvPr/>
        </p:nvSpPr>
        <p:spPr>
          <a:xfrm>
            <a:off x="603504" y="1941861"/>
            <a:ext cx="2607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1</a:t>
            </a:r>
            <a:endParaRPr sz="900">
              <a:solidFill>
                <a:schemeClr val="dk1"/>
              </a:solidFill>
              <a:latin typeface="Calibri"/>
              <a:ea typeface="Calibri"/>
              <a:cs typeface="Calibri"/>
              <a:sym typeface="Calibri"/>
            </a:endParaRPr>
          </a:p>
        </p:txBody>
      </p:sp>
      <p:sp>
        <p:nvSpPr>
          <p:cNvPr id="855" name="Google Shape;855;p40"/>
          <p:cNvSpPr/>
          <p:nvPr/>
        </p:nvSpPr>
        <p:spPr>
          <a:xfrm>
            <a:off x="960120" y="1852707"/>
            <a:ext cx="33066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Innerhalb Organisationen Rollen zuweisen</a:t>
            </a:r>
            <a:endParaRPr sz="900">
              <a:solidFill>
                <a:schemeClr val="dk1"/>
              </a:solidFill>
              <a:latin typeface="Calibri"/>
              <a:ea typeface="Calibri"/>
              <a:cs typeface="Calibri"/>
              <a:sym typeface="Calibri"/>
            </a:endParaRPr>
          </a:p>
        </p:txBody>
      </p:sp>
      <p:sp>
        <p:nvSpPr>
          <p:cNvPr id="856" name="Google Shape;856;p40"/>
          <p:cNvSpPr/>
          <p:nvPr/>
        </p:nvSpPr>
        <p:spPr>
          <a:xfrm>
            <a:off x="960120" y="2037873"/>
            <a:ext cx="330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Bestimmte Rechte sollten nicht alle User einer Organisation haben. Beispiel Board Typen anlegen.</a:t>
            </a:r>
            <a:r>
              <a:rPr lang="de" sz="800">
                <a:solidFill>
                  <a:srgbClr val="5E6E7C"/>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857" name="Google Shape;857;p40"/>
          <p:cNvSpPr/>
          <p:nvPr/>
        </p:nvSpPr>
        <p:spPr>
          <a:xfrm>
            <a:off x="425196" y="2442495"/>
            <a:ext cx="3992400" cy="562500"/>
          </a:xfrm>
          <a:prstGeom prst="roundRect">
            <a:avLst>
              <a:gd fmla="val 853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58" name="Google Shape;858;p40"/>
          <p:cNvSpPr/>
          <p:nvPr/>
        </p:nvSpPr>
        <p:spPr>
          <a:xfrm>
            <a:off x="603504" y="2593371"/>
            <a:ext cx="260700" cy="260700"/>
          </a:xfrm>
          <a:prstGeom prst="ellipse">
            <a:avLst/>
          </a:prstGeom>
          <a:solidFill>
            <a:srgbClr val="E0A0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59" name="Google Shape;859;p40"/>
          <p:cNvSpPr/>
          <p:nvPr/>
        </p:nvSpPr>
        <p:spPr>
          <a:xfrm>
            <a:off x="603504" y="2593371"/>
            <a:ext cx="2607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2</a:t>
            </a:r>
            <a:endParaRPr sz="900">
              <a:solidFill>
                <a:schemeClr val="dk1"/>
              </a:solidFill>
              <a:latin typeface="Calibri"/>
              <a:ea typeface="Calibri"/>
              <a:cs typeface="Calibri"/>
              <a:sym typeface="Calibri"/>
            </a:endParaRPr>
          </a:p>
        </p:txBody>
      </p:sp>
      <p:sp>
        <p:nvSpPr>
          <p:cNvPr id="860" name="Google Shape;860;p40"/>
          <p:cNvSpPr/>
          <p:nvPr/>
        </p:nvSpPr>
        <p:spPr>
          <a:xfrm>
            <a:off x="960120" y="2504217"/>
            <a:ext cx="3306600" cy="17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Umfangreichere Projekt Rollen</a:t>
            </a:r>
            <a:endParaRPr b="1" sz="900">
              <a:solidFill>
                <a:srgbClr val="17242F"/>
              </a:solidFill>
              <a:latin typeface="Calibri"/>
              <a:ea typeface="Calibri"/>
              <a:cs typeface="Calibri"/>
              <a:sym typeface="Calibri"/>
            </a:endParaRPr>
          </a:p>
        </p:txBody>
      </p:sp>
      <p:sp>
        <p:nvSpPr>
          <p:cNvPr id="861" name="Google Shape;861;p40"/>
          <p:cNvSpPr/>
          <p:nvPr/>
        </p:nvSpPr>
        <p:spPr>
          <a:xfrm>
            <a:off x="960120" y="2689383"/>
            <a:ext cx="3306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Aktuell nur Ersteller, Bearbeiter und Beobachter als Rollen weitere könnten sinnvoll sein.</a:t>
            </a:r>
            <a:endParaRPr sz="800">
              <a:solidFill>
                <a:srgbClr val="5E6E7C"/>
              </a:solidFill>
              <a:latin typeface="Calibri"/>
              <a:ea typeface="Calibri"/>
              <a:cs typeface="Calibri"/>
              <a:sym typeface="Calibri"/>
            </a:endParaRPr>
          </a:p>
        </p:txBody>
      </p:sp>
      <p:sp>
        <p:nvSpPr>
          <p:cNvPr id="862" name="Google Shape;862;p40"/>
          <p:cNvSpPr/>
          <p:nvPr/>
        </p:nvSpPr>
        <p:spPr>
          <a:xfrm>
            <a:off x="425196" y="3094005"/>
            <a:ext cx="3992400" cy="562500"/>
          </a:xfrm>
          <a:prstGeom prst="roundRect">
            <a:avLst>
              <a:gd fmla="val 853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63" name="Google Shape;863;p40"/>
          <p:cNvSpPr/>
          <p:nvPr/>
        </p:nvSpPr>
        <p:spPr>
          <a:xfrm>
            <a:off x="603504" y="3244881"/>
            <a:ext cx="260700" cy="260700"/>
          </a:xfrm>
          <a:prstGeom prst="ellipse">
            <a:avLst/>
          </a:prstGeom>
          <a:solidFill>
            <a:srgbClr val="E0A0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64" name="Google Shape;864;p40"/>
          <p:cNvSpPr/>
          <p:nvPr/>
        </p:nvSpPr>
        <p:spPr>
          <a:xfrm>
            <a:off x="603504" y="3244881"/>
            <a:ext cx="2607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3</a:t>
            </a:r>
            <a:endParaRPr sz="900">
              <a:solidFill>
                <a:schemeClr val="dk1"/>
              </a:solidFill>
              <a:latin typeface="Calibri"/>
              <a:ea typeface="Calibri"/>
              <a:cs typeface="Calibri"/>
              <a:sym typeface="Calibri"/>
            </a:endParaRPr>
          </a:p>
        </p:txBody>
      </p:sp>
      <p:sp>
        <p:nvSpPr>
          <p:cNvPr id="865" name="Google Shape;865;p40"/>
          <p:cNvSpPr/>
          <p:nvPr/>
        </p:nvSpPr>
        <p:spPr>
          <a:xfrm>
            <a:off x="960120" y="3155727"/>
            <a:ext cx="33066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chemeClr val="dk1"/>
                </a:solidFill>
                <a:latin typeface="Calibri"/>
                <a:ea typeface="Calibri"/>
                <a:cs typeface="Calibri"/>
                <a:sym typeface="Calibri"/>
              </a:rPr>
              <a:t>Registrierung und User wiederherstellung</a:t>
            </a:r>
            <a:endParaRPr b="1" sz="900">
              <a:solidFill>
                <a:schemeClr val="dk1"/>
              </a:solidFill>
              <a:latin typeface="Calibri"/>
              <a:ea typeface="Calibri"/>
              <a:cs typeface="Calibri"/>
              <a:sym typeface="Calibri"/>
            </a:endParaRPr>
          </a:p>
        </p:txBody>
      </p:sp>
      <p:sp>
        <p:nvSpPr>
          <p:cNvPr id="866" name="Google Shape;866;p40"/>
          <p:cNvSpPr/>
          <p:nvPr/>
        </p:nvSpPr>
        <p:spPr>
          <a:xfrm>
            <a:off x="960120" y="3340893"/>
            <a:ext cx="330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chemeClr val="dk1"/>
                </a:solidFill>
                <a:latin typeface="Calibri"/>
                <a:ea typeface="Calibri"/>
                <a:cs typeface="Calibri"/>
                <a:sym typeface="Calibri"/>
              </a:rPr>
              <a:t>Aktuell Stub Registrierung mit Pseudo Emails, keine Account wiederherstellung oder dergleichen möglich.</a:t>
            </a:r>
            <a:endParaRPr sz="800">
              <a:solidFill>
                <a:schemeClr val="dk1"/>
              </a:solidFill>
              <a:latin typeface="Calibri"/>
              <a:ea typeface="Calibri"/>
              <a:cs typeface="Calibri"/>
              <a:sym typeface="Calibri"/>
            </a:endParaRPr>
          </a:p>
        </p:txBody>
      </p:sp>
      <p:sp>
        <p:nvSpPr>
          <p:cNvPr id="867" name="Google Shape;867;p40"/>
          <p:cNvSpPr/>
          <p:nvPr/>
        </p:nvSpPr>
        <p:spPr>
          <a:xfrm>
            <a:off x="425196" y="3745515"/>
            <a:ext cx="3992400" cy="562500"/>
          </a:xfrm>
          <a:prstGeom prst="roundRect">
            <a:avLst>
              <a:gd fmla="val 853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68" name="Google Shape;868;p40"/>
          <p:cNvSpPr/>
          <p:nvPr/>
        </p:nvSpPr>
        <p:spPr>
          <a:xfrm>
            <a:off x="603504" y="3896391"/>
            <a:ext cx="260700" cy="260700"/>
          </a:xfrm>
          <a:prstGeom prst="ellipse">
            <a:avLst/>
          </a:prstGeom>
          <a:solidFill>
            <a:srgbClr val="E0A0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69" name="Google Shape;869;p40"/>
          <p:cNvSpPr/>
          <p:nvPr/>
        </p:nvSpPr>
        <p:spPr>
          <a:xfrm>
            <a:off x="603504" y="3896391"/>
            <a:ext cx="2607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4</a:t>
            </a:r>
            <a:endParaRPr sz="900">
              <a:solidFill>
                <a:schemeClr val="dk1"/>
              </a:solidFill>
              <a:latin typeface="Calibri"/>
              <a:ea typeface="Calibri"/>
              <a:cs typeface="Calibri"/>
              <a:sym typeface="Calibri"/>
            </a:endParaRPr>
          </a:p>
        </p:txBody>
      </p:sp>
      <p:sp>
        <p:nvSpPr>
          <p:cNvPr id="870" name="Google Shape;870;p40"/>
          <p:cNvSpPr/>
          <p:nvPr/>
        </p:nvSpPr>
        <p:spPr>
          <a:xfrm>
            <a:off x="960120" y="3807237"/>
            <a:ext cx="33066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Edge-Observability vervollständigen</a:t>
            </a:r>
            <a:endParaRPr sz="900">
              <a:solidFill>
                <a:schemeClr val="dk1"/>
              </a:solidFill>
              <a:latin typeface="Calibri"/>
              <a:ea typeface="Calibri"/>
              <a:cs typeface="Calibri"/>
              <a:sym typeface="Calibri"/>
            </a:endParaRPr>
          </a:p>
        </p:txBody>
      </p:sp>
      <p:sp>
        <p:nvSpPr>
          <p:cNvPr id="871" name="Google Shape;871;p40"/>
          <p:cNvSpPr/>
          <p:nvPr/>
        </p:nvSpPr>
        <p:spPr>
          <a:xfrm>
            <a:off x="960120" y="3992403"/>
            <a:ext cx="330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Metriken und Tracing am Gateway fehlen noch.</a:t>
            </a:r>
            <a:endParaRPr sz="800">
              <a:solidFill>
                <a:schemeClr val="dk1"/>
              </a:solidFill>
              <a:latin typeface="Calibri"/>
              <a:ea typeface="Calibri"/>
              <a:cs typeface="Calibri"/>
              <a:sym typeface="Calibri"/>
            </a:endParaRPr>
          </a:p>
        </p:txBody>
      </p:sp>
      <p:sp>
        <p:nvSpPr>
          <p:cNvPr id="872" name="Google Shape;872;p40"/>
          <p:cNvSpPr/>
          <p:nvPr/>
        </p:nvSpPr>
        <p:spPr>
          <a:xfrm>
            <a:off x="4726191" y="1790985"/>
            <a:ext cx="3992400" cy="562500"/>
          </a:xfrm>
          <a:prstGeom prst="roundRect">
            <a:avLst>
              <a:gd fmla="val 853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73" name="Google Shape;873;p40"/>
          <p:cNvSpPr/>
          <p:nvPr/>
        </p:nvSpPr>
        <p:spPr>
          <a:xfrm>
            <a:off x="4904499" y="1941861"/>
            <a:ext cx="260700" cy="260700"/>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74" name="Google Shape;874;p40"/>
          <p:cNvSpPr/>
          <p:nvPr/>
        </p:nvSpPr>
        <p:spPr>
          <a:xfrm>
            <a:off x="4904499" y="1941861"/>
            <a:ext cx="2607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1</a:t>
            </a:r>
            <a:endParaRPr sz="900">
              <a:solidFill>
                <a:schemeClr val="dk1"/>
              </a:solidFill>
              <a:latin typeface="Calibri"/>
              <a:ea typeface="Calibri"/>
              <a:cs typeface="Calibri"/>
              <a:sym typeface="Calibri"/>
            </a:endParaRPr>
          </a:p>
        </p:txBody>
      </p:sp>
      <p:sp>
        <p:nvSpPr>
          <p:cNvPr id="875" name="Google Shape;875;p40"/>
          <p:cNvSpPr/>
          <p:nvPr/>
        </p:nvSpPr>
        <p:spPr>
          <a:xfrm>
            <a:off x="5261115" y="1852707"/>
            <a:ext cx="33066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Skalierung</a:t>
            </a:r>
            <a:endParaRPr sz="900">
              <a:solidFill>
                <a:schemeClr val="dk1"/>
              </a:solidFill>
              <a:latin typeface="Calibri"/>
              <a:ea typeface="Calibri"/>
              <a:cs typeface="Calibri"/>
              <a:sym typeface="Calibri"/>
            </a:endParaRPr>
          </a:p>
        </p:txBody>
      </p:sp>
      <p:sp>
        <p:nvSpPr>
          <p:cNvPr id="876" name="Google Shape;876;p40"/>
          <p:cNvSpPr/>
          <p:nvPr/>
        </p:nvSpPr>
        <p:spPr>
          <a:xfrm>
            <a:off x="5261115" y="2037873"/>
            <a:ext cx="330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Aktuell kein Load Balancing / higher Level Orchestration. Weg dahin via AWS Elastic </a:t>
            </a:r>
            <a:r>
              <a:rPr lang="de" sz="800">
                <a:solidFill>
                  <a:srgbClr val="5E6E7C"/>
                </a:solidFill>
                <a:latin typeface="Calibri"/>
                <a:ea typeface="Calibri"/>
                <a:cs typeface="Calibri"/>
                <a:sym typeface="Calibri"/>
              </a:rPr>
              <a:t>Container</a:t>
            </a:r>
            <a:r>
              <a:rPr lang="de" sz="800">
                <a:solidFill>
                  <a:srgbClr val="5E6E7C"/>
                </a:solidFill>
                <a:latin typeface="Calibri"/>
                <a:ea typeface="Calibri"/>
                <a:cs typeface="Calibri"/>
                <a:sym typeface="Calibri"/>
              </a:rPr>
              <a:t> Services bereits entworfen.</a:t>
            </a:r>
            <a:endParaRPr sz="800">
              <a:solidFill>
                <a:schemeClr val="dk1"/>
              </a:solidFill>
              <a:latin typeface="Calibri"/>
              <a:ea typeface="Calibri"/>
              <a:cs typeface="Calibri"/>
              <a:sym typeface="Calibri"/>
            </a:endParaRPr>
          </a:p>
        </p:txBody>
      </p:sp>
      <p:sp>
        <p:nvSpPr>
          <p:cNvPr id="877" name="Google Shape;877;p40"/>
          <p:cNvSpPr/>
          <p:nvPr/>
        </p:nvSpPr>
        <p:spPr>
          <a:xfrm>
            <a:off x="4726191" y="2442495"/>
            <a:ext cx="3992400" cy="562500"/>
          </a:xfrm>
          <a:prstGeom prst="roundRect">
            <a:avLst>
              <a:gd fmla="val 853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78" name="Google Shape;878;p40"/>
          <p:cNvSpPr/>
          <p:nvPr/>
        </p:nvSpPr>
        <p:spPr>
          <a:xfrm>
            <a:off x="4904499" y="2593371"/>
            <a:ext cx="260700" cy="260700"/>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79" name="Google Shape;879;p40"/>
          <p:cNvSpPr/>
          <p:nvPr/>
        </p:nvSpPr>
        <p:spPr>
          <a:xfrm>
            <a:off x="4904499" y="2593371"/>
            <a:ext cx="2607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2</a:t>
            </a:r>
            <a:endParaRPr sz="900">
              <a:solidFill>
                <a:schemeClr val="dk1"/>
              </a:solidFill>
              <a:latin typeface="Calibri"/>
              <a:ea typeface="Calibri"/>
              <a:cs typeface="Calibri"/>
              <a:sym typeface="Calibri"/>
            </a:endParaRPr>
          </a:p>
        </p:txBody>
      </p:sp>
      <p:sp>
        <p:nvSpPr>
          <p:cNvPr id="880" name="Google Shape;880;p40"/>
          <p:cNvSpPr/>
          <p:nvPr/>
        </p:nvSpPr>
        <p:spPr>
          <a:xfrm>
            <a:off x="5261115" y="2504217"/>
            <a:ext cx="33066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Externe Board Views</a:t>
            </a:r>
            <a:endParaRPr sz="900">
              <a:solidFill>
                <a:schemeClr val="dk1"/>
              </a:solidFill>
              <a:latin typeface="Calibri"/>
              <a:ea typeface="Calibri"/>
              <a:cs typeface="Calibri"/>
              <a:sym typeface="Calibri"/>
            </a:endParaRPr>
          </a:p>
        </p:txBody>
      </p:sp>
      <p:sp>
        <p:nvSpPr>
          <p:cNvPr id="881" name="Google Shape;881;p40"/>
          <p:cNvSpPr/>
          <p:nvPr/>
        </p:nvSpPr>
        <p:spPr>
          <a:xfrm>
            <a:off x="5261115" y="2689383"/>
            <a:ext cx="330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In Zukunft sollen Nutzer / Organisationen über Schnittstelle eigene Board Views definieren können.</a:t>
            </a:r>
            <a:endParaRPr sz="800">
              <a:solidFill>
                <a:schemeClr val="dk1"/>
              </a:solidFill>
              <a:latin typeface="Calibri"/>
              <a:ea typeface="Calibri"/>
              <a:cs typeface="Calibri"/>
              <a:sym typeface="Calibri"/>
            </a:endParaRPr>
          </a:p>
        </p:txBody>
      </p:sp>
      <p:sp>
        <p:nvSpPr>
          <p:cNvPr id="882" name="Google Shape;882;p40"/>
          <p:cNvSpPr/>
          <p:nvPr/>
        </p:nvSpPr>
        <p:spPr>
          <a:xfrm>
            <a:off x="4726191" y="3094005"/>
            <a:ext cx="3992400" cy="562500"/>
          </a:xfrm>
          <a:prstGeom prst="roundRect">
            <a:avLst>
              <a:gd fmla="val 853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83" name="Google Shape;883;p40"/>
          <p:cNvSpPr/>
          <p:nvPr/>
        </p:nvSpPr>
        <p:spPr>
          <a:xfrm>
            <a:off x="4904499" y="3244881"/>
            <a:ext cx="260700" cy="260700"/>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84" name="Google Shape;884;p40"/>
          <p:cNvSpPr/>
          <p:nvPr/>
        </p:nvSpPr>
        <p:spPr>
          <a:xfrm>
            <a:off x="4904499" y="3244881"/>
            <a:ext cx="2607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3</a:t>
            </a:r>
            <a:endParaRPr sz="900">
              <a:solidFill>
                <a:schemeClr val="dk1"/>
              </a:solidFill>
              <a:latin typeface="Calibri"/>
              <a:ea typeface="Calibri"/>
              <a:cs typeface="Calibri"/>
              <a:sym typeface="Calibri"/>
            </a:endParaRPr>
          </a:p>
        </p:txBody>
      </p:sp>
      <p:sp>
        <p:nvSpPr>
          <p:cNvPr id="885" name="Google Shape;885;p40"/>
          <p:cNvSpPr/>
          <p:nvPr/>
        </p:nvSpPr>
        <p:spPr>
          <a:xfrm>
            <a:off x="5261115" y="3155727"/>
            <a:ext cx="33066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42F"/>
              </a:buClr>
              <a:buSzPts val="900"/>
              <a:buFont typeface="Calibri"/>
              <a:buNone/>
            </a:pPr>
            <a:r>
              <a:rPr b="1" lang="de" sz="900">
                <a:solidFill>
                  <a:srgbClr val="17242F"/>
                </a:solidFill>
                <a:latin typeface="Calibri"/>
                <a:ea typeface="Calibri"/>
                <a:cs typeface="Calibri"/>
                <a:sym typeface="Calibri"/>
              </a:rPr>
              <a:t>Weitere Services</a:t>
            </a:r>
            <a:endParaRPr sz="900">
              <a:solidFill>
                <a:schemeClr val="dk1"/>
              </a:solidFill>
              <a:latin typeface="Calibri"/>
              <a:ea typeface="Calibri"/>
              <a:cs typeface="Calibri"/>
              <a:sym typeface="Calibri"/>
            </a:endParaRPr>
          </a:p>
        </p:txBody>
      </p:sp>
      <p:sp>
        <p:nvSpPr>
          <p:cNvPr id="886" name="Google Shape;886;p40"/>
          <p:cNvSpPr/>
          <p:nvPr/>
        </p:nvSpPr>
        <p:spPr>
          <a:xfrm>
            <a:off x="5261115" y="3340893"/>
            <a:ext cx="330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E7C"/>
              </a:buClr>
              <a:buSzPts val="800"/>
              <a:buFont typeface="Calibri"/>
              <a:buNone/>
            </a:pPr>
            <a:r>
              <a:rPr lang="de" sz="800">
                <a:solidFill>
                  <a:srgbClr val="5E6E7C"/>
                </a:solidFill>
                <a:latin typeface="Calibri"/>
                <a:ea typeface="Calibri"/>
                <a:cs typeface="Calibri"/>
                <a:sym typeface="Calibri"/>
              </a:rPr>
              <a:t>Möglich wären z.B. Services für Kommunikation zwischen Usern.</a:t>
            </a:r>
            <a:endParaRPr sz="800">
              <a:solidFill>
                <a:schemeClr val="dk1"/>
              </a:solidFill>
              <a:latin typeface="Calibri"/>
              <a:ea typeface="Calibri"/>
              <a:cs typeface="Calibri"/>
              <a:sym typeface="Calibri"/>
            </a:endParaRPr>
          </a:p>
        </p:txBody>
      </p:sp>
      <p:sp>
        <p:nvSpPr>
          <p:cNvPr id="887" name="Google Shape;887;p40"/>
          <p:cNvSpPr/>
          <p:nvPr/>
        </p:nvSpPr>
        <p:spPr>
          <a:xfrm>
            <a:off x="4726191" y="3745515"/>
            <a:ext cx="3992400" cy="562500"/>
          </a:xfrm>
          <a:prstGeom prst="roundRect">
            <a:avLst>
              <a:gd fmla="val 8537" name="adj"/>
            </a:avLst>
          </a:prstGeom>
          <a:solidFill>
            <a:srgbClr val="FFFFFF"/>
          </a:solidFill>
          <a:ln cap="flat" cmpd="sng" w="12700">
            <a:solidFill>
              <a:srgbClr val="D7E0E8"/>
            </a:solidFill>
            <a:prstDash val="solid"/>
            <a:round/>
            <a:headEnd len="sm" w="sm" type="none"/>
            <a:tailEnd len="sm" w="sm" type="none"/>
          </a:ln>
          <a:effectLst>
            <a:outerShdw blurRad="101600" rotWithShape="0" algn="bl" dir="5400000" dist="38100">
              <a:srgbClr val="0E1B2A">
                <a:alpha val="1803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88" name="Google Shape;888;p40"/>
          <p:cNvSpPr/>
          <p:nvPr/>
        </p:nvSpPr>
        <p:spPr>
          <a:xfrm>
            <a:off x="4904499" y="3896391"/>
            <a:ext cx="260700" cy="260700"/>
          </a:xfrm>
          <a:prstGeom prst="ellipse">
            <a:avLst/>
          </a:prstGeom>
          <a:solidFill>
            <a:srgbClr val="1C729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89" name="Google Shape;889;p40"/>
          <p:cNvSpPr/>
          <p:nvPr/>
        </p:nvSpPr>
        <p:spPr>
          <a:xfrm>
            <a:off x="4904499" y="3896391"/>
            <a:ext cx="2607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de" sz="900">
                <a:solidFill>
                  <a:srgbClr val="FFFFFF"/>
                </a:solidFill>
                <a:latin typeface="Calibri"/>
                <a:ea typeface="Calibri"/>
                <a:cs typeface="Calibri"/>
                <a:sym typeface="Calibri"/>
              </a:rPr>
              <a:t>4</a:t>
            </a:r>
            <a:endParaRPr sz="900">
              <a:solidFill>
                <a:schemeClr val="dk1"/>
              </a:solidFill>
              <a:latin typeface="Calibri"/>
              <a:ea typeface="Calibri"/>
              <a:cs typeface="Calibri"/>
              <a:sym typeface="Calibri"/>
            </a:endParaRPr>
          </a:p>
        </p:txBody>
      </p:sp>
      <p:sp>
        <p:nvSpPr>
          <p:cNvPr id="890" name="Google Shape;890;p40"/>
          <p:cNvSpPr/>
          <p:nvPr/>
        </p:nvSpPr>
        <p:spPr>
          <a:xfrm>
            <a:off x="5261115" y="3807237"/>
            <a:ext cx="3306600" cy="17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7242F"/>
              </a:buClr>
              <a:buSzPts val="900"/>
              <a:buFont typeface="Calibri"/>
              <a:buNone/>
            </a:pPr>
            <a:r>
              <a:rPr b="1" lang="de" sz="900">
                <a:solidFill>
                  <a:schemeClr val="dk1"/>
                </a:solidFill>
                <a:latin typeface="Calibri"/>
                <a:ea typeface="Calibri"/>
                <a:cs typeface="Calibri"/>
                <a:sym typeface="Calibri"/>
              </a:rPr>
              <a:t>Board in eigenen Service auslagern </a:t>
            </a:r>
            <a:endParaRPr b="1" sz="900">
              <a:solidFill>
                <a:srgbClr val="17242F"/>
              </a:solidFill>
              <a:latin typeface="Calibri"/>
              <a:ea typeface="Calibri"/>
              <a:cs typeface="Calibri"/>
              <a:sym typeface="Calibri"/>
            </a:endParaRPr>
          </a:p>
        </p:txBody>
      </p:sp>
      <p:sp>
        <p:nvSpPr>
          <p:cNvPr id="891" name="Google Shape;891;p40"/>
          <p:cNvSpPr/>
          <p:nvPr/>
        </p:nvSpPr>
        <p:spPr>
          <a:xfrm>
            <a:off x="5261115" y="3992403"/>
            <a:ext cx="3306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E6E7C"/>
              </a:buClr>
              <a:buSzPts val="800"/>
              <a:buFont typeface="Calibri"/>
              <a:buNone/>
            </a:pPr>
            <a:r>
              <a:rPr lang="de" sz="800">
                <a:solidFill>
                  <a:schemeClr val="dk1"/>
                </a:solidFill>
                <a:latin typeface="Calibri"/>
                <a:ea typeface="Calibri"/>
                <a:cs typeface="Calibri"/>
                <a:sym typeface="Calibri"/>
              </a:rPr>
              <a:t>Aktuell werden Board vom Projekt / Board Registry Services gemeinsam gemanagt.</a:t>
            </a:r>
            <a:endParaRPr sz="800">
              <a:solidFill>
                <a:srgbClr val="5E6E7C"/>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B2A"/>
        </a:solidFill>
      </p:bgPr>
    </p:bg>
    <p:spTree>
      <p:nvGrpSpPr>
        <p:cNvPr id="896" name="Shape 896"/>
        <p:cNvGrpSpPr/>
        <p:nvPr/>
      </p:nvGrpSpPr>
      <p:grpSpPr>
        <a:xfrm>
          <a:off x="0" y="0"/>
          <a:ext cx="0" cy="0"/>
          <a:chOff x="0" y="0"/>
          <a:chExt cx="0" cy="0"/>
        </a:xfrm>
      </p:grpSpPr>
      <p:sp>
        <p:nvSpPr>
          <p:cNvPr id="897" name="Google Shape;897;p41"/>
          <p:cNvSpPr/>
          <p:nvPr/>
        </p:nvSpPr>
        <p:spPr>
          <a:xfrm>
            <a:off x="6892290" y="548640"/>
            <a:ext cx="685800" cy="685800"/>
          </a:xfrm>
          <a:prstGeom prst="roundRect">
            <a:avLst>
              <a:gd fmla="val 8000" name="adj"/>
            </a:avLst>
          </a:prstGeom>
          <a:solidFill>
            <a:srgbClr val="12263A">
              <a:alpha val="60000"/>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98" name="Google Shape;898;p41"/>
          <p:cNvSpPr/>
          <p:nvPr/>
        </p:nvSpPr>
        <p:spPr>
          <a:xfrm>
            <a:off x="7680960" y="548640"/>
            <a:ext cx="685800" cy="685800"/>
          </a:xfrm>
          <a:prstGeom prst="roundRect">
            <a:avLst>
              <a:gd fmla="val 8000" name="adj"/>
            </a:avLst>
          </a:prstGeom>
          <a:solidFill>
            <a:srgbClr val="12263A">
              <a:alpha val="4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99" name="Google Shape;899;p41"/>
          <p:cNvSpPr/>
          <p:nvPr/>
        </p:nvSpPr>
        <p:spPr>
          <a:xfrm>
            <a:off x="6892290" y="1337310"/>
            <a:ext cx="685800" cy="685800"/>
          </a:xfrm>
          <a:prstGeom prst="roundRect">
            <a:avLst>
              <a:gd fmla="val 8000" name="adj"/>
            </a:avLst>
          </a:prstGeom>
          <a:solidFill>
            <a:srgbClr val="12263A">
              <a:alpha val="45098"/>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0" name="Google Shape;900;p41"/>
          <p:cNvSpPr/>
          <p:nvPr/>
        </p:nvSpPr>
        <p:spPr>
          <a:xfrm>
            <a:off x="7680960" y="1337310"/>
            <a:ext cx="685800" cy="685800"/>
          </a:xfrm>
          <a:prstGeom prst="roundRect">
            <a:avLst>
              <a:gd fmla="val 8000" name="adj"/>
            </a:avLst>
          </a:prstGeom>
          <a:solidFill>
            <a:srgbClr val="134E63">
              <a:alpha val="70196"/>
            </a:srgbClr>
          </a:solidFill>
          <a:ln cap="flat" cmpd="sng" w="12700">
            <a:solidFill>
              <a:srgbClr val="1C7293">
                <a:alpha val="4000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1" name="Google Shape;901;p41"/>
          <p:cNvSpPr/>
          <p:nvPr/>
        </p:nvSpPr>
        <p:spPr>
          <a:xfrm>
            <a:off x="425196" y="1776577"/>
            <a:ext cx="61722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4B6"/>
              </a:buClr>
              <a:buSzPts val="1000"/>
              <a:buFont typeface="Calibri"/>
              <a:buNone/>
            </a:pPr>
            <a:r>
              <a:rPr b="1" lang="de" sz="1000">
                <a:solidFill>
                  <a:srgbClr val="2EC4B6"/>
                </a:solidFill>
                <a:latin typeface="Calibri"/>
                <a:ea typeface="Calibri"/>
                <a:cs typeface="Calibri"/>
                <a:sym typeface="Calibri"/>
              </a:rPr>
              <a:t>TEAMBOARD  ·  GRUPPE D</a:t>
            </a:r>
            <a:endParaRPr sz="1000">
              <a:solidFill>
                <a:schemeClr val="dk1"/>
              </a:solidFill>
              <a:latin typeface="Calibri"/>
              <a:ea typeface="Calibri"/>
              <a:cs typeface="Calibri"/>
              <a:sym typeface="Calibri"/>
            </a:endParaRPr>
          </a:p>
        </p:txBody>
      </p:sp>
      <p:sp>
        <p:nvSpPr>
          <p:cNvPr id="902" name="Google Shape;902;p41"/>
          <p:cNvSpPr/>
          <p:nvPr/>
        </p:nvSpPr>
        <p:spPr>
          <a:xfrm>
            <a:off x="425196" y="2050897"/>
            <a:ext cx="6309300" cy="75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100"/>
              <a:buFont typeface="Calibri"/>
              <a:buNone/>
            </a:pPr>
            <a:r>
              <a:rPr b="1" lang="de" sz="4100">
                <a:solidFill>
                  <a:srgbClr val="FFFFFF"/>
                </a:solidFill>
                <a:latin typeface="Calibri"/>
                <a:ea typeface="Calibri"/>
                <a:cs typeface="Calibri"/>
                <a:sym typeface="Calibri"/>
              </a:rPr>
              <a:t>Vielen Dank.</a:t>
            </a:r>
            <a:endParaRPr sz="4100">
              <a:solidFill>
                <a:schemeClr val="dk1"/>
              </a:solidFill>
              <a:latin typeface="Calibri"/>
              <a:ea typeface="Calibri"/>
              <a:cs typeface="Calibri"/>
              <a:sym typeface="Calibri"/>
            </a:endParaRPr>
          </a:p>
        </p:txBody>
      </p:sp>
      <p:sp>
        <p:nvSpPr>
          <p:cNvPr id="903" name="Google Shape;903;p41"/>
          <p:cNvSpPr/>
          <p:nvPr/>
        </p:nvSpPr>
        <p:spPr>
          <a:xfrm>
            <a:off x="425196" y="2839567"/>
            <a:ext cx="644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4"/>
              </a:buClr>
              <a:buSzPts val="1300"/>
              <a:buFont typeface="Calibri"/>
              <a:buNone/>
            </a:pPr>
            <a:r>
              <a:rPr lang="de" sz="1300">
                <a:solidFill>
                  <a:srgbClr val="9FB3C4"/>
                </a:solidFill>
                <a:latin typeface="Calibri"/>
                <a:ea typeface="Calibri"/>
                <a:cs typeface="Calibri"/>
                <a:sym typeface="Calibri"/>
              </a:rPr>
              <a:t>Fragen?</a:t>
            </a:r>
            <a:endParaRPr sz="1300">
              <a:solidFill>
                <a:schemeClr val="dk1"/>
              </a:solidFill>
              <a:latin typeface="Calibri"/>
              <a:ea typeface="Calibri"/>
              <a:cs typeface="Calibri"/>
              <a:sym typeface="Calibri"/>
            </a:endParaRPr>
          </a:p>
        </p:txBody>
      </p:sp>
      <p:cxnSp>
        <p:nvCxnSpPr>
          <p:cNvPr id="904" name="Google Shape;904;p41"/>
          <p:cNvCxnSpPr/>
          <p:nvPr/>
        </p:nvCxnSpPr>
        <p:spPr>
          <a:xfrm>
            <a:off x="425196" y="3422497"/>
            <a:ext cx="1783200" cy="0"/>
          </a:xfrm>
          <a:prstGeom prst="straightConnector1">
            <a:avLst/>
          </a:prstGeom>
          <a:noFill/>
          <a:ln cap="flat" cmpd="sng" w="25400">
            <a:solidFill>
              <a:srgbClr val="1C7293"/>
            </a:solidFill>
            <a:prstDash val="solid"/>
            <a:round/>
            <a:headEnd len="sm" w="sm" type="none"/>
            <a:tailEnd len="sm" w="sm" type="none"/>
          </a:ln>
        </p:spPr>
      </p:cxnSp>
      <p:sp>
        <p:nvSpPr>
          <p:cNvPr id="905" name="Google Shape;905;p41"/>
          <p:cNvSpPr/>
          <p:nvPr/>
        </p:nvSpPr>
        <p:spPr>
          <a:xfrm>
            <a:off x="425196" y="4526280"/>
            <a:ext cx="54864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8296"/>
              </a:buClr>
              <a:buSzPts val="900"/>
              <a:buFont typeface="Calibri"/>
              <a:buNone/>
            </a:pPr>
            <a:r>
              <a:rPr lang="de" sz="900">
                <a:solidFill>
                  <a:srgbClr val="6E8296"/>
                </a:solidFill>
                <a:latin typeface="Calibri"/>
                <a:ea typeface="Calibri"/>
                <a:cs typeface="Calibri"/>
                <a:sym typeface="Calibri"/>
              </a:rPr>
              <a:t>Jan Soetebeer  ·  Maximilian Cwik  ·  Henry Müller</a:t>
            </a:r>
            <a:endParaRPr sz="900">
              <a:solidFill>
                <a:schemeClr val="dk1"/>
              </a:solidFill>
              <a:latin typeface="Calibri"/>
              <a:ea typeface="Calibri"/>
              <a:cs typeface="Calibri"/>
              <a:sym typeface="Calibri"/>
            </a:endParaRPr>
          </a:p>
        </p:txBody>
      </p:sp>
      <p:sp>
        <p:nvSpPr>
          <p:cNvPr id="906" name="Google Shape;906;p41"/>
          <p:cNvSpPr/>
          <p:nvPr/>
        </p:nvSpPr>
        <p:spPr>
          <a:xfrm>
            <a:off x="4251960" y="4526280"/>
            <a:ext cx="445770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8296"/>
              </a:buClr>
              <a:buSzPts val="900"/>
              <a:buFont typeface="Calibri"/>
              <a:buNone/>
            </a:pPr>
            <a:r>
              <a:rPr lang="de" sz="900">
                <a:solidFill>
                  <a:srgbClr val="6E8296"/>
                </a:solidFill>
                <a:latin typeface="Calibri"/>
                <a:ea typeface="Calibri"/>
                <a:cs typeface="Calibri"/>
                <a:sym typeface="Calibri"/>
              </a:rPr>
              <a:t>Moderne Softwarearchitekturen · SS 2026</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