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Begrüßung, Projekt in einem Satz, Team vorstellen, Ablauf ankündigen (Vortrag + Live-Demo am Ende).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30-Sekunden-Durchlauf; ankündigen, dass KI-Reflexion und die Erweiterbarkeits-Architektur die zwei inhaltlichen Schwerpunkte sind.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Vorbild Trello/Notion/Jira-Light, aber Fokus laut Aufgabe = skalierbare, komponentenbasierte Architektur, nicht Feature-Fülle. Leitfragen der Veranstaltung: Echtzeit-Events verteilen, Dienste unabhängig skalieren, Datenkonsistenz. MVP als roter Faden.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Schnitt entlang der Bounded Contexts. Querschnitt (shared libs, Event-Schema, Deployment) im Team gemeinsam. Callout: KI wurde deklariert eingesetzt — Details später (Prof. verlangt Reflexion explizit). PLATZHALTER: echte Namen eintragen.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Was wir bewusst hineingelesen haben: Schwerpunkt Architektur, nicht UI-Umfang. Bewusste Scope-Grenzen (keine Echtzeit-Kollaboration im Dokument, keine Inbound-Webhooks im MVP). „Denkbare Funktionen“ = Auswahl, kein Pflichtkatalog.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NFRs sind hier der eigentliche Kern (Architektur-Modul). Kurz je NFR erklären, wie sie im Entwurf verankert ist — schafft den Bogen zu Kap. Entwurf.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Stories zeigen Cross-Service-Zusammenspiel (Story 2 = Task→Project-Permission→Event→Notification). Genau diese Story später in der Demo wiederverwenden.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Big Picture, nicht jede Linie. Fünf Kernentscheidungen benennen. Hinweis: JWT-Prüfung bewusst nicht am Gateway → Überleitung zur nächsten Folie.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ist die „Diskussion der gewählten Architektur“. An zwei Prinzipien Trade-offs zeigen: (a) Zero-Trust; (b) Async-First. Abweichungen nur per ADR — Brücke zu ADR 0001/0002.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Bewusst kompakt — die „geradlinigen“ Services. Ein Detail je Service betonen: Auth = Vertrauensanker (JWKS), Task = Status-Semantik (Board-Registry-relevant), Document = Storage läuft an den Services vorbei (Bytes gehen nicht durch den Service).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Architektonisch wichtigster Domänen-Service: einzige autoritative Quelle für Berechtigungen. Synchron nur, wenn der Nutzer die Antwort sofort braucht, sonst async. Redis-Cache 30 s gegen Last, Event-Invalidierung statt Polling. Project ist Owner der Board-Instanzen — Abgrenzung zur Board Registry (Typen ≠ Instanzen).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einzige bewusst zustandsbehaftete Komponente. Kernproblem: Event trifft Instanz A, User hängt an Instanz B → Redis-Backplane verteilt. Vor Push gegen Project-Permissions gefiltert. Persistente Notifications zusätzlich in 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Zweck: Domain-Events → externe HTTP-Calls. Abgrenzung: Output-Adapter, nicht Board-Typen (Registry). Warum DB-Queue: eine Persistenz, kein „Job in Queue, aber nicht in DB“-Split, Multi-Worker-safe via SKIP LOCKED. Volles Event-Envelope gespeichert → Retry ist autonom.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Hier steckt die Engineering-Tiefe. SSRF ist der kritische Punkt: Validierung beim Anlegen reicht nicht, Custom-Dialer prüft die aufgelöste IP erneut beim Call. Erweiterbarkeit vorgesehen, aber im MVP nicht gebaut (YAGNI).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architektonische Alleinstellungsmerkmal und direkte Antwort auf die geforderte Plugin-Architektur. Kern: presentation.view ist der einzige Erweiterungspunkt — heute eingebaute Renderer, morgen remote, ohne Modell-Umbau. Nebenbei: Spalte→Status trägt jetzt expliziten status (statt DeriveStatus über Namen). Ehrlich: Schreib-Authz der Registry noch offen (jeder Auth-User) → Backlog.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zwei Kommunikationsmuster gegenübergestellt: synchron nur, wenn der Nutzer sofort eine Antwort braucht; sonst Event. Outbox garantiert kein Event-Verlust, keine Geister-Events (Confirm vor Commit). Idempotenz, weil Events mehrfach ankommen dürfen.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Monorepo-Begründung in einem Satz (atomare Cross-Service-Änderungen, geteilter Code, ein git clone/make up). Betonen: die gesamte Doku ist versioniert und war Grundlage, nicht Nachdokumentation → Brücke zur KI-Reflexion.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Nicht vorlesen — zwei Begründungen: Go für schlanke, gut nebenläufige Services; sqlc = typsichere Queries ohne ORM-Magie. Query-Layer generiert, Handler handgeschrieben gegen OpenAPI-Stubs (Spec-first). Ein shared/go gegen Duplikation.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Kernprinzip Doku-first: vor dem ersten Code standen Architektur, alle Specs, Code-Style, Doc-Style, Test-Strategie, Zusammenspiel. Jedes Feature erst planen, dann bauen. Tests Pflicht. Voraussetzung für die nächste Folie.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Bewusste Entscheidung, das LLM schon in der Planungsphase einzusetzen, nicht erst beim Coden. Umfangreiche Vorab-Doku als verbindlicher Kontext. Learning-by-doing: der Prozess selbst wurde geschärft. Erklärt den tragfähigen Start (nächste Folie).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Ehrliche Bilanz (genau das verlangt die Aufgabe). Kausalität betonen: guter Start wegen Doku, spätere Reibung wegen nicht-nachgezogener Doku. Auth-Beispiel als konkreter Beleg (Bogen zu Folie 10). Konsequenz: Reviews verschärft, Doku-Update als fester Schritt im Feature-Loop.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Projektmanagement-Sicht. Ein konkretes Beispiel je Karte (z. B. Trace-ID durch Gateway → alle Services → RabbitMQ-Header machte verteiltes Debugging handhabbar). Ehrlich: Priorisierung war der härteste Teil, TODO-Backlog dokumentiert Ausgelassenes.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Aufgaben-Anforderung „ein Kommando“ erfüllt: make up bringt alles hoch. Lokal HTTP, TLS erst in AWS. Ehrlich einordnen: einzelne EC2-Box, Compose-Stack — bewusst simpel; Auslagern in RDS/ElastiCache/ECS ist niedrig priorisierte Folgearbeit, kein Blocker.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User-Story von Folie 7 live nachspielen. Zweites Browserfenster für den Realtime-Push (WebSocket). Wenn Zeit: Runtime-Registrierung eines neuen Board-Typs via make demo-board-types zeigen — macht die Erweiterbarkeit greifbar. Screenshots nur, falls die Demo klemmt.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Klare, ehrliche Grenze MVP vs. Backlog (aus TODO.md). Betonen: „offen“ heißt bewusst priorisiert, nicht vergessen — Struktur trägt diese Erweiterungen bereits.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Zusammenfassende Bewertung: Architektur-Ziele des Moduls erreicht (Skalierung, Event-Verteilung, Konsistenz beantwortet). Wichtigstes Learning wiederholen. Was wir beim nächsten Mal anders machen (Doku-Sync erzwingen, kleinere Agent-Schritte reviewen).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Kurz stehen lassen. Explizit die KI-Werkzeuge nennen (Prof. verlangt die Angabe „welche Werkzeuge, wie eingesetzt“).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3C5572"/>
                </a:solidFill>
                <a:latin typeface="Segoe UI"/>
              </a:rPr>
              <a:t>[Hintergrund-Platzhalter: Architekturbild oder stilisierte Kanban-Spalten, ~10 % Deckkraft]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400" b="1" i="0">
                <a:solidFill>
                  <a:srgbClr val="FFFFFF"/>
                </a:solidFill>
                <a:latin typeface="Segoe UI"/>
              </a:rPr>
              <a:t>TeamBoard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7D6E2"/>
                </a:solidFill>
                <a:latin typeface="Segoe UI"/>
              </a:rPr>
              <a:t>Web-basierte Kollaborationsplattform · komponentenbasiertes Microservice-System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51560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AEC1D2"/>
                </a:solidFill>
                <a:latin typeface="Segoe UI"/>
              </a:rPr>
              <a:t>FH Wedel · M.Sc. · Modul „Moderne Softwarearchitekturen“ · SS 2026 · Prof. Dr. Hoffmann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E7B416"/>
                </a:solidFill>
                <a:latin typeface="Segoe UI"/>
              </a:rPr>
              <a:t>Team: [Name 1] · [Name 2] · [Name 3] · [Name 4]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19456"/>
            <a:ext cx="566928" cy="50292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8016"/>
            <a:ext cx="95097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28016"/>
            <a:ext cx="15544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7D6E2"/>
                </a:solidFill>
                <a:latin typeface="Segoe UI"/>
              </a:rPr>
              <a:t>0:30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TeamBoard · FH Wedel · Moderne Softwarearchitekturen · SS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1828800" cy="2194560"/>
          </a:xfrm>
          <a:prstGeom prst="rect">
            <a:avLst/>
          </a:prstGeom>
          <a:solidFill>
            <a:srgbClr val="F4F6F8"/>
          </a:solidFill>
          <a:ln w="12700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2286000"/>
            <a:ext cx="548640" cy="54864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63240"/>
            <a:ext cx="155448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42B33"/>
                </a:solidFill>
                <a:latin typeface="Segoe UI"/>
              </a:rPr>
              <a:t>Kontext &amp; Team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68296" y="2011680"/>
            <a:ext cx="1828800" cy="2194560"/>
          </a:xfrm>
          <a:prstGeom prst="rect">
            <a:avLst/>
          </a:prstGeom>
          <a:solidFill>
            <a:srgbClr val="F4F6F8"/>
          </a:solidFill>
          <a:ln w="12700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08376" y="2286000"/>
            <a:ext cx="548640" cy="54864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5456" y="3063240"/>
            <a:ext cx="155448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42B33"/>
                </a:solidFill>
                <a:latin typeface="Segoe UI"/>
              </a:rPr>
              <a:t>Anforderungen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9392" y="2011680"/>
            <a:ext cx="1828800" cy="2194560"/>
          </a:xfrm>
          <a:prstGeom prst="rect">
            <a:avLst/>
          </a:prstGeom>
          <a:solidFill>
            <a:srgbClr val="F4F6F8"/>
          </a:solidFill>
          <a:ln w="12700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9472" y="2286000"/>
            <a:ext cx="548640" cy="54864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3063240"/>
            <a:ext cx="155448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42B33"/>
                </a:solidFill>
                <a:latin typeface="Segoe UI"/>
              </a:rPr>
              <a:t>Architektur &amp; Komponenten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0488" y="2011680"/>
            <a:ext cx="1828800" cy="2194560"/>
          </a:xfrm>
          <a:prstGeom prst="rect">
            <a:avLst/>
          </a:prstGeom>
          <a:solidFill>
            <a:srgbClr val="F4F6F8"/>
          </a:solidFill>
          <a:ln w="12700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30568" y="2286000"/>
            <a:ext cx="548640" cy="54864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3063240"/>
            <a:ext cx="155448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42B33"/>
                </a:solidFill>
                <a:latin typeface="Segoe UI"/>
              </a:rPr>
              <a:t>Realisierung &amp; KI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01584" y="2011680"/>
            <a:ext cx="1828800" cy="2194560"/>
          </a:xfrm>
          <a:prstGeom prst="rect">
            <a:avLst/>
          </a:prstGeom>
          <a:solidFill>
            <a:srgbClr val="F4F6F8"/>
          </a:solidFill>
          <a:ln w="12700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41664" y="2286000"/>
            <a:ext cx="548640" cy="54864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8744" y="3063240"/>
            <a:ext cx="155448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42B33"/>
                </a:solidFill>
                <a:latin typeface="Segoe UI"/>
              </a:rPr>
              <a:t>Deployment &amp; Demo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12680" y="2011680"/>
            <a:ext cx="1828800" cy="2194560"/>
          </a:xfrm>
          <a:prstGeom prst="rect">
            <a:avLst/>
          </a:prstGeom>
          <a:solidFill>
            <a:srgbClr val="F4F6F8"/>
          </a:solidFill>
          <a:ln w="12700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52760" y="2286000"/>
            <a:ext cx="548640" cy="54864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3063240"/>
            <a:ext cx="155448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42B33"/>
                </a:solidFill>
                <a:latin typeface="Segoe UI"/>
              </a:rPr>
              <a:t>Fazit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8A87"/>
                </a:solidFill>
                <a:latin typeface="Segoe UI"/>
              </a:rPr>
              <a:t>Zwei inhaltliche Schwerpunkte: KI-Reflexion (Kap. 4) und die Erweiterbarkeits-Architektur (Kap. 3).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212080"/>
            <a:ext cx="11247120" cy="1051560"/>
          </a:xfrm>
          <a:prstGeom prst="rect">
            <a:avLst/>
          </a:prstGeom>
          <a:solidFill>
            <a:srgbClr val="EEF3F6"/>
          </a:solidFill>
          <a:ln w="15875">
            <a:solidFill>
              <a:srgbClr val="9FB6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321808"/>
            <a:ext cx="10917936" cy="8321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8A87"/>
                </a:solidFill>
                <a:latin typeface="Segoe UI"/>
              </a:rPr>
              <a:t>▨  GRAFIK-PLATZHALTER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Horizontaler nummerierter Fortschrittsbalken mit 6 Segmenten und Icons; aktives Segment je Sektion hervorgehoben (als Mini-Leiste oben auf Sektions-Startfolien wiederkehrend).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19456"/>
            <a:ext cx="566928" cy="50292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8016"/>
            <a:ext cx="95097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Kontext &amp;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28016"/>
            <a:ext cx="15544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7D6E2"/>
                </a:solidFill>
                <a:latin typeface="Segoe UI"/>
              </a:rPr>
              <a:t>1:30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TeamBoard · FH Wedel · Moderne Softwarearchitekturen · SS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34440"/>
            <a:ext cx="594360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Ausgangslage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Fragmentierte Tools: Aufgaben, Dateien, Chat, Kalender — lose, unverbunden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TeamBoard: konsolidieren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Ein zentraler Knoten: Projekte · Boards · Tasks · Dokumente · Benachrichtigungen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Fokus laut Aufgabe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Skalierbare, komponentenbasierte Architektur — nicht Feature-Fülle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Leitfragen: Echtzeit-Events verteilen · Dienste unabhängig skalieren · Datenkonsistenz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MVP-Gedanke als roter Faden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234440"/>
            <a:ext cx="5212080" cy="4937760"/>
          </a:xfrm>
          <a:prstGeom prst="rect">
            <a:avLst/>
          </a:prstGeom>
          <a:solidFill>
            <a:srgbClr val="EEF3F6"/>
          </a:solidFill>
          <a:ln w="15875">
            <a:solidFill>
              <a:srgbClr val="9FB6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2552" y="1344168"/>
            <a:ext cx="4882896" cy="47183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8A87"/>
                </a:solidFill>
                <a:latin typeface="Segoe UI"/>
              </a:rPr>
              <a:t>▨  GRAFIK-PLATZHALTER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Zweigeteilte Folie.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Links „Ausgangslage“: vier lose Tool-Icons (Aufgaben, Dateien, Chat, Kalender) mit gestrichelten, gekreuzten Linien = Fragmentierung.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Rechts „TeamBoard“: zentraler Knoten, sternförmig Projekte/Boards/Tasks/Dokumente/Benachrichtigungen.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Pfeil dazwischen: „konsolidieren“.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19456"/>
            <a:ext cx="566928" cy="50292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8016"/>
            <a:ext cx="95097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Team &amp; Aufgabenverteilung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28016"/>
            <a:ext cx="15544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7D6E2"/>
                </a:solidFill>
                <a:latin typeface="Segoe UI"/>
              </a:rPr>
              <a:t>1:00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TeamBoard · FH Wedel · Moderne Softwarearchitekturen · SS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371600"/>
          <a:ext cx="78638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926080"/>
                <a:gridCol w="3383280"/>
              </a:tblGrid>
              <a:tr h="65836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Person</a:t>
                      </a:r>
                    </a:p>
                  </a:txBody>
                  <a:tcPr anchor="ctr" marL="91440" marT="36576" marB="36576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Schwerpunkt</a:t>
                      </a:r>
                    </a:p>
                  </a:txBody>
                  <a:tcPr anchor="ctr" marL="91440" marT="36576" marB="36576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Services / Bereich</a:t>
                      </a:r>
                    </a:p>
                  </a:txBody>
                  <a:tcPr anchor="ctr" marL="91440" marT="36576" marB="36576">
                    <a:solidFill>
                      <a:srgbClr val="142A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42B33"/>
                          </a:solidFill>
                          <a:latin typeface="Segoe UI"/>
                        </a:rPr>
                        <a:t>[Name]</a:t>
                      </a:r>
                    </a:p>
                  </a:txBody>
                  <a:tcPr anchor="ctr" marL="91440" marT="36576" marB="36576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B33"/>
                          </a:solidFill>
                          <a:latin typeface="Segoe UI"/>
                        </a:rPr>
                        <a:t>Auth &amp; Gateway, Zero-Trust</a:t>
                      </a:r>
                    </a:p>
                  </a:txBody>
                  <a:tcPr anchor="ctr" marL="91440" marT="36576" marB="36576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B33"/>
                          </a:solidFill>
                          <a:latin typeface="Segoe UI"/>
                        </a:rPr>
                        <a:t>Auth · Traefik · shared/go/authmiddleware</a:t>
                      </a:r>
                    </a:p>
                  </a:txBody>
                  <a:tcPr anchor="ctr" marL="91440" marT="36576" marB="36576"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42B33"/>
                          </a:solidFill>
                          <a:latin typeface="Segoe UI"/>
                        </a:rPr>
                        <a:t>[Name]</a:t>
                      </a:r>
                    </a:p>
                  </a:txBody>
                  <a:tcPr anchor="ctr" marL="91440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B33"/>
                          </a:solidFill>
                          <a:latin typeface="Segoe UI"/>
                        </a:rPr>
                        <a:t>Domänen-Kern</a:t>
                      </a:r>
                    </a:p>
                  </a:txBody>
                  <a:tcPr anchor="ctr" marL="91440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B33"/>
                          </a:solidFill>
                          <a:latin typeface="Segoe UI"/>
                        </a:rPr>
                        <a:t>Project (Permissions) · Task</a:t>
                      </a:r>
                    </a:p>
                  </a:txBody>
                  <a:tcPr anchor="ctr" marL="91440" marT="36576" marB="36576">
                    <a:solidFill>
                      <a:srgbClr val="F4F6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42B33"/>
                          </a:solidFill>
                          <a:latin typeface="Segoe UI"/>
                        </a:rPr>
                        <a:t>[Name]</a:t>
                      </a:r>
                    </a:p>
                  </a:txBody>
                  <a:tcPr anchor="ctr" marL="91440" marT="36576" marB="36576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B33"/>
                          </a:solidFill>
                          <a:latin typeface="Segoe UI"/>
                        </a:rPr>
                        <a:t>Storage &amp; Realtime</a:t>
                      </a:r>
                    </a:p>
                  </a:txBody>
                  <a:tcPr anchor="ctr" marL="91440" marT="36576" marB="36576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B33"/>
                          </a:solidFill>
                          <a:latin typeface="Segoe UI"/>
                        </a:rPr>
                        <a:t>Document · Notification</a:t>
                      </a:r>
                    </a:p>
                  </a:txBody>
                  <a:tcPr anchor="ctr" marL="91440" marT="36576" marB="36576"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42B33"/>
                          </a:solidFill>
                          <a:latin typeface="Segoe UI"/>
                        </a:rPr>
                        <a:t>[Name]</a:t>
                      </a:r>
                    </a:p>
                  </a:txBody>
                  <a:tcPr anchor="ctr" marL="91440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B33"/>
                          </a:solidFill>
                          <a:latin typeface="Segoe UI"/>
                        </a:rPr>
                        <a:t>Erweiterbarkeit &amp; Frontend</a:t>
                      </a:r>
                    </a:p>
                  </a:txBody>
                  <a:tcPr anchor="ctr" marL="91440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B33"/>
                          </a:solidFill>
                          <a:latin typeface="Segoe UI"/>
                        </a:rPr>
                        <a:t>Board Registry · Plugin/Webhook · React-SPA</a:t>
                      </a:r>
                    </a:p>
                  </a:txBody>
                  <a:tcPr anchor="ctr" marL="91440" marT="36576" marB="36576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458200" y="1371600"/>
            <a:ext cx="3291840" cy="3291840"/>
          </a:xfrm>
          <a:prstGeom prst="rect">
            <a:avLst/>
          </a:prstGeom>
          <a:solidFill>
            <a:srgbClr val="FBF3D6"/>
          </a:solidFill>
          <a:ln w="15875">
            <a:solidFill>
              <a:srgbClr val="E7B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554480"/>
            <a:ext cx="2926080" cy="2926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2A4A"/>
                </a:solidFill>
                <a:latin typeface="Segoe UI"/>
              </a:rPr>
              <a:t>KI im Projekt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42B33"/>
                </a:solidFill>
                <a:latin typeface="Segoe UI"/>
              </a:rPr>
              <a:t>Opus 4.7 durchgängig als Pair-Partner: Entwurf → Code → Doku.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242B33"/>
                </a:solidFill>
                <a:latin typeface="Segoe UI"/>
              </a:rPr>
              <a:t>Deklariert eingesetzt — Reflexion in Kap. 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937760"/>
            <a:ext cx="1133856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6707A"/>
                </a:solidFill>
                <a:latin typeface="Segoe UI"/>
              </a:rPr>
              <a:t>Schnitt entlang der Bounded Contexts; Querschnitt (shared libs, Event-Schema, Deployment) gemeinsam im Team.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19456"/>
            <a:ext cx="566928" cy="50292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8016"/>
            <a:ext cx="95097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Interpretation der Aufgabenstellung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28016"/>
            <a:ext cx="15544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7D6E2"/>
                </a:solidFill>
                <a:latin typeface="Segoe UI"/>
              </a:rPr>
              <a:t>1:30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TeamBoard · FH Wedel · Moderne Softwarearchitekturen · SS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34440"/>
            <a:ext cx="594360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Lastenheft (Original-Stichzeilen)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Projekte/Boards · Tasks (Status, Zuweisung, Fälligkeit) · Kommentare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Dokumente mit Versionierung · Echtzeit-Benachrichtigungen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Plugin-Architektur · API für Fremdsysteme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Unsere Lesart → vier Ziele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MVP zuerst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Architektur vor Features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Erweiterbarkeit als First-Class-Konzept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API-first &amp; 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234440"/>
            <a:ext cx="5212080" cy="4937760"/>
          </a:xfrm>
          <a:prstGeom prst="rect">
            <a:avLst/>
          </a:prstGeom>
          <a:solidFill>
            <a:srgbClr val="EEF3F6"/>
          </a:solidFill>
          <a:ln w="15875">
            <a:solidFill>
              <a:srgbClr val="9FB6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2552" y="1344168"/>
            <a:ext cx="4882896" cy="47183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8A87"/>
                </a:solidFill>
                <a:latin typeface="Segoe UI"/>
              </a:rPr>
              <a:t>▨  GRAFIK-PLATZHALTER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Links „Lastenheft“-Dokument-Icon mit 4–5 Original-Stichzeilen.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Pfeil „unsere Lesart“ → rechts vier Ziel-Karten: „MVP zuerst“, „Architektur vor Features“, „Erweiterbarkeit als First-Class-Konzept“, „API-first &amp; JSON“.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19456"/>
            <a:ext cx="566928" cy="50292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8016"/>
            <a:ext cx="95097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Anforderungen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28016"/>
            <a:ext cx="15544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7D6E2"/>
                </a:solidFill>
                <a:latin typeface="Segoe UI"/>
              </a:rPr>
              <a:t>1:30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TeamBoard · FH Wedel · Moderne Softwarearchitekturen · SS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34440"/>
            <a:ext cx="594360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Funktional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Projekt-/Board-Verwaltung mit Rollen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Kanban-Tasks: Status, Zuweisung, Fälligkeit, Kommentare, Anhänge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Dokumentenablage + Versionierung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Echtzeit-Benachrichtigungen (WebSocket)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Webhook-Integrationen · erweiterbare Board-Typen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Nichtfunktional (der eigentliche Kern)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Zero-Trust-Sicherheit → JWT je Service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Horizontale Skalierbarkeit / Statelessness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Eventual Consistency · Erweiterbarkeit ohne Redeploy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Observability · Resilienz (Timeouts/Retry/Circuit-Breaker)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234440"/>
            <a:ext cx="5212080" cy="4937760"/>
          </a:xfrm>
          <a:prstGeom prst="rect">
            <a:avLst/>
          </a:prstGeom>
          <a:solidFill>
            <a:srgbClr val="EEF3F6"/>
          </a:solidFill>
          <a:ln w="15875">
            <a:solidFill>
              <a:srgbClr val="9FB6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2552" y="1344168"/>
            <a:ext cx="4882896" cy="47183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8A87"/>
                </a:solidFill>
                <a:latin typeface="Segoe UI"/>
              </a:rPr>
              <a:t>▨  GRAFIK-PLATZHALTER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Zwei Spalten. Funktional als Icon-Liste; Nichtfunktional als farblich abgesetzte Badge-Liste.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Jede NFR mit kleinem Pfeil auf die spätere Architektur-Umsetzung (z. B. „Zero-Trust → JWT je Service“).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19456"/>
            <a:ext cx="566928" cy="50292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8016"/>
            <a:ext cx="95097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User Stories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28016"/>
            <a:ext cx="15544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7D6E2"/>
                </a:solidFill>
                <a:latin typeface="Segoe UI"/>
              </a:rPr>
              <a:t>1:00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TeamBoard · FH Wedel · Moderne Softwarearchitekturen · SS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34440"/>
            <a:ext cx="594360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Format: Als … möchte ich … damit …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Projektleiter legt Board an und lädt Mitglieder mit Rollen ein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Teammitglied verschiebt Task von „In Arbeit“ nach „Erledigt“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Autor hängt eine Datei-Version an einen Task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Nutzer erhält live eine Benachrichtigung bei @Mention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Integrator: CI-Pipeline registriert Webhook auf task.status.changed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234440"/>
            <a:ext cx="5212080" cy="4937760"/>
          </a:xfrm>
          <a:prstGeom prst="rect">
            <a:avLst/>
          </a:prstGeom>
          <a:solidFill>
            <a:srgbClr val="EEF3F6"/>
          </a:solidFill>
          <a:ln w="15875">
            <a:solidFill>
              <a:srgbClr val="9FB6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2552" y="1344168"/>
            <a:ext cx="4882896" cy="47183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8A87"/>
                </a:solidFill>
                <a:latin typeface="Segoe UI"/>
              </a:rPr>
              <a:t>▨  GRAFIK-PLATZHALTER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4 als Kanban-Karten stilisierte Story-Karten (Avatar, Prioritäts-Punkt).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Fünfte, kleinere Karte für den Integrator (Webhook).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Story 2 als roter Faden für die spätere Live-Demo markieren.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19456"/>
            <a:ext cx="566928" cy="50292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8016"/>
            <a:ext cx="95097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★ Architektur-Überblick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28016"/>
            <a:ext cx="15544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7D6E2"/>
                </a:solidFill>
                <a:latin typeface="Segoe UI"/>
              </a:rPr>
              <a:t>2:30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TeamBoard · FH Wedel · Moderne Softwarearchitekturen · SS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188720"/>
            <a:ext cx="4023360" cy="5029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Fünf Kernentscheidungen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Microservices entlang Bounded Contexts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Database-per-Service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Event-Driven Backbone (RabbitMQ, topic teamboard.events)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Gateway als Single Entry Point (Traefik)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Stateless als Default — nur Notification hält Zustand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8A87"/>
                </a:solidFill>
                <a:latin typeface="Segoe UI"/>
              </a:rPr>
              <a:t>JWT-Prüfung bewusst NICHT am Gateway → nächste Folie.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188720"/>
            <a:ext cx="7086600" cy="5029200"/>
          </a:xfrm>
          <a:prstGeom prst="rect">
            <a:avLst/>
          </a:prstGeom>
          <a:solidFill>
            <a:srgbClr val="EEF3F6"/>
          </a:solidFill>
          <a:ln w="15875">
            <a:solidFill>
              <a:srgbClr val="9FB6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032" y="1298448"/>
            <a:ext cx="6757416" cy="4809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8A87"/>
                </a:solidFill>
                <a:latin typeface="Segoe UI"/>
              </a:rPr>
              <a:t>▨  GRAFIK-PLATZHALTER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Große Schichtgrafik (dein Architekturbild):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• Oben: Browser (React-SPA) + „Externe Systeme“.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• Traefik-Gateway-Band: Rate-Limit · CORS · Security-Header · Routing.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• 7 Service-Kacheln mit Ports: Auth · Project (★ Permission-Authority) · Task · Document · Notification · Plugin/Webhook · Board Registry.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• Infrastruktur-Band: PostgreSQL (DB-per-Service) · Redis · RabbitMQ (topic) · MinIO/S3.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• Legende, 3 Pfeiltypen: durchgezogen = synchron/HTTP, gestrichelt = async/Event, gepunktet = WebSocket.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19456"/>
            <a:ext cx="566928" cy="50292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8016"/>
            <a:ext cx="95097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Leitprinzipien der Architektur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28016"/>
            <a:ext cx="15544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7D6E2"/>
                </a:solidFill>
                <a:latin typeface="Segoe UI"/>
              </a:rPr>
              <a:t>1:30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TeamBoard · FH Wedel · Moderne Softwarearchitekturen · SS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80160"/>
            <a:ext cx="2212848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389888"/>
            <a:ext cx="1993392" cy="11521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2A4A"/>
                </a:solidFill>
                <a:latin typeface="Segoe UI"/>
              </a:rPr>
              <a:t>Domain-Driven 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0048" y="1280160"/>
            <a:ext cx="2212848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9776" y="1389888"/>
            <a:ext cx="1993392" cy="11521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2A4A"/>
                </a:solidFill>
                <a:latin typeface="Segoe UI"/>
              </a:rPr>
              <a:t>Database-per-Service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28616" y="1280160"/>
            <a:ext cx="2212848" cy="1371600"/>
          </a:xfrm>
          <a:prstGeom prst="rect">
            <a:avLst/>
          </a:prstGeom>
          <a:solidFill>
            <a:srgbClr val="FBF3D6"/>
          </a:solidFill>
          <a:ln w="12700">
            <a:solidFill>
              <a:srgbClr val="E7B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38344" y="1389888"/>
            <a:ext cx="1993392" cy="11521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2A4A"/>
                </a:solidFill>
                <a:latin typeface="Segoe UI"/>
              </a:rPr>
              <a:t>Async-First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E7B416"/>
                </a:solidFill>
                <a:latin typeface="Segoe UI"/>
              </a:rPr>
              <a:t>diskussionswürdig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87184" y="1280160"/>
            <a:ext cx="2212848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389888"/>
            <a:ext cx="1993392" cy="11521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2A4A"/>
                </a:solidFill>
                <a:latin typeface="Segoe UI"/>
              </a:rPr>
              <a:t>Stateless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45752" y="1280160"/>
            <a:ext cx="2212848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1389888"/>
            <a:ext cx="1993392" cy="11521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2A4A"/>
                </a:solidFill>
                <a:latin typeface="Segoe UI"/>
              </a:rPr>
              <a:t>Smart Endpoints / Dumb Pipes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816352"/>
            <a:ext cx="2212848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2926080"/>
            <a:ext cx="1993392" cy="11521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2A4A"/>
                </a:solidFill>
                <a:latin typeface="Segoe UI"/>
              </a:rPr>
              <a:t>API-first (OpenAPI/AsyncAPI)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70048" y="2816352"/>
            <a:ext cx="2212848" cy="1371600"/>
          </a:xfrm>
          <a:prstGeom prst="rect">
            <a:avLst/>
          </a:prstGeom>
          <a:solidFill>
            <a:srgbClr val="FBF3D6"/>
          </a:solidFill>
          <a:ln w="12700">
            <a:solidFill>
              <a:srgbClr val="E7B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79776" y="2926080"/>
            <a:ext cx="1993392" cy="11521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2A4A"/>
                </a:solidFill>
                <a:latin typeface="Segoe UI"/>
              </a:rPr>
              <a:t>Eventual Consistency (Outbox)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E7B416"/>
                </a:solidFill>
                <a:latin typeface="Segoe UI"/>
              </a:rPr>
              <a:t>diskussionswürdig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28616" y="2816352"/>
            <a:ext cx="2212848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38344" y="2926080"/>
            <a:ext cx="1993392" cy="11521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2A4A"/>
                </a:solidFill>
                <a:latin typeface="Segoe UI"/>
              </a:rPr>
              <a:t>Idempotente Event-Handler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87184" y="2816352"/>
            <a:ext cx="2212848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96912" y="2926080"/>
            <a:ext cx="1993392" cy="11521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2A4A"/>
                </a:solidFill>
                <a:latin typeface="Segoe UI"/>
              </a:rPr>
              <a:t>Resilience by Design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45752" y="2816352"/>
            <a:ext cx="2212848" cy="1371600"/>
          </a:xfrm>
          <a:prstGeom prst="rect">
            <a:avLst/>
          </a:prstGeom>
          <a:solidFill>
            <a:srgbClr val="FBF3D6"/>
          </a:solidFill>
          <a:ln w="12700">
            <a:solidFill>
              <a:srgbClr val="E7B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5480" y="2926080"/>
            <a:ext cx="1993392" cy="11521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2A4A"/>
                </a:solidFill>
                <a:latin typeface="Segoe UI"/>
              </a:rPr>
              <a:t>Security in Depth (Zero-Trust)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E7B416"/>
                </a:solidFill>
                <a:latin typeface="Segoe UI"/>
              </a:rPr>
              <a:t>diskussionswürdig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937760"/>
            <a:ext cx="1133856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6707A"/>
                </a:solidFill>
                <a:latin typeface="Segoe UI"/>
              </a:rPr>
              <a:t>Trade-offs an zwei Prinzipien: Zero-Trust = jeder Service validiert JWT selbst (mehr Redundanz, kein implizites Netz-Vertrauen). Async-First = lose Kopplung, aber Eventual Consistency aushalten. Abweichungen nur per ADR (0001/0002).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19456"/>
            <a:ext cx="566928" cy="50292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8016"/>
            <a:ext cx="95097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Komponenten: Auth · Task · Document (Foundation)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28016"/>
            <a:ext cx="15544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7D6E2"/>
                </a:solidFill>
                <a:latin typeface="Segoe UI"/>
              </a:rPr>
              <a:t>2:00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TeamBoard · FH Wedel · Moderne Softwarearchitekturen · SS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34440"/>
            <a:ext cx="3657600" cy="4572000"/>
          </a:xfrm>
          <a:prstGeom prst="rect">
            <a:avLst/>
          </a:prstGeom>
          <a:solidFill>
            <a:srgbClr val="F4F6F8"/>
          </a:solidFill>
          <a:ln w="15875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3657600" cy="64008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98448"/>
            <a:ext cx="338328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Auth  ·  8001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057400"/>
            <a:ext cx="3328416" cy="3657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242B33"/>
                </a:solidFill>
                <a:latin typeface="Segoe UI"/>
              </a:rPr>
              <a:t>•  Registrierung / Login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242B33"/>
                </a:solidFill>
                <a:latin typeface="Segoe UI"/>
              </a:rPr>
              <a:t>•  RS256-JWT (Access + Refresh)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242B33"/>
                </a:solidFill>
                <a:latin typeface="Segoe UI"/>
              </a:rPr>
              <a:t>•  JWKS-Endpoint (Vertrauensanker)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242B33"/>
                </a:solidFill>
                <a:latin typeface="Segoe UI"/>
              </a:rPr>
              <a:t>•  Events: user.registered / deleted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1">
                <a:solidFill>
                  <a:srgbClr val="1F8A87"/>
                </a:solidFill>
                <a:latin typeface="Segoe UI"/>
              </a:rPr>
              <a:t>hängt ab von: nur eigene 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234440"/>
            <a:ext cx="3657600" cy="4572000"/>
          </a:xfrm>
          <a:prstGeom prst="rect">
            <a:avLst/>
          </a:prstGeom>
          <a:solidFill>
            <a:srgbClr val="F4F6F8"/>
          </a:solidFill>
          <a:ln w="15875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234440"/>
            <a:ext cx="3657600" cy="64008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298448"/>
            <a:ext cx="338328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Task  ·  8003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057400"/>
            <a:ext cx="3328416" cy="3657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242B33"/>
                </a:solidFill>
                <a:latin typeface="Segoe UI"/>
              </a:rPr>
              <a:t>•  Task-CRUD im Board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242B33"/>
                </a:solidFill>
                <a:latin typeface="Segoe UI"/>
              </a:rPr>
              <a:t>•  Statusübergänge, Kommentare, Anhang-Refs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242B33"/>
                </a:solidFill>
                <a:latin typeface="Segoe UI"/>
              </a:rPr>
              <a:t>•  Permission-Check vor jedem Schreiben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242B33"/>
                </a:solidFill>
                <a:latin typeface="Segoe UI"/>
              </a:rPr>
              <a:t>•  Events: task.created/updated/assigned/…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1">
                <a:solidFill>
                  <a:srgbClr val="1F8A87"/>
                </a:solidFill>
                <a:latin typeface="Segoe UI"/>
              </a:rPr>
              <a:t>hängt ab von: + Project (Authz)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1234440"/>
            <a:ext cx="3657600" cy="4572000"/>
          </a:xfrm>
          <a:prstGeom prst="rect">
            <a:avLst/>
          </a:prstGeom>
          <a:solidFill>
            <a:srgbClr val="F4F6F8"/>
          </a:solidFill>
          <a:ln w="15875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234440"/>
            <a:ext cx="3657600" cy="64008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298448"/>
            <a:ext cx="338328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Document  ·  8004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2" y="2057400"/>
            <a:ext cx="3328416" cy="3657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242B33"/>
                </a:solidFill>
                <a:latin typeface="Segoe UI"/>
              </a:rPr>
              <a:t>•  Metadaten + Versionierung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242B33"/>
                </a:solidFill>
                <a:latin typeface="Segoe UI"/>
              </a:rPr>
              <a:t>•  Bytes per Pre-signed URL direkt Client↔MinIO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242B33"/>
                </a:solidFill>
                <a:latin typeface="Segoe UI"/>
              </a:rPr>
              <a:t>•  Storage läuft an den Services vorbei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242B33"/>
                </a:solidFill>
                <a:latin typeface="Segoe UI"/>
              </a:rPr>
              <a:t>•  Events: document.uploaded/version.created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1">
                <a:solidFill>
                  <a:srgbClr val="1F8A87"/>
                </a:solidFill>
                <a:latin typeface="Segoe UI"/>
              </a:rPr>
              <a:t>hängt ab von: + Project (Authz)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19456"/>
            <a:ext cx="566928" cy="50292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8016"/>
            <a:ext cx="95097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★ Komponente: Project — Permission Authority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28016"/>
            <a:ext cx="15544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7D6E2"/>
                </a:solidFill>
                <a:latin typeface="Segoe UI"/>
              </a:rPr>
              <a:t>2:00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TeamBoard · FH Wedel · Moderne Softwarearchitekturen · SS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34440"/>
            <a:ext cx="594360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Einzige autoritative Quelle für Berechtigungen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Task · Document · Notification · Plugin fragen synchron an: GET /internal/…/permissions/{userId}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Absicherung per Service-Token (HS256, aud:internal)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Datenkern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projects · boards · project_members · roles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Rollen: Owner (full) · Editor (Tasks+Docs full, Rest read) · Viewer (read)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Performance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Redis-Permission-Cache, TTL 30 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Invalidierung per project.member.* — kein Polling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Project = Owner der Board-Instanzen (≠ Board-Typen der Registry)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234440"/>
            <a:ext cx="5212080" cy="4937760"/>
          </a:xfrm>
          <a:prstGeom prst="rect">
            <a:avLst/>
          </a:prstGeom>
          <a:solidFill>
            <a:srgbClr val="EEF3F6"/>
          </a:solidFill>
          <a:ln w="15875">
            <a:solidFill>
              <a:srgbClr val="9FB6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2552" y="1344168"/>
            <a:ext cx="4882896" cy="47183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8A87"/>
                </a:solidFill>
                <a:latin typeface="Segoe UI"/>
              </a:rPr>
              <a:t>▨  GRAFIK-PLATZHALTER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Zentrale Project-Kachel (8002) in der Mitte.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Links vier eingehende Pfeile „GET /internal/…/permissions“ (je Schloss-Symbol „Service-Token“).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Rechts Datenkern (projects/boards/members/roles) + Rollen-Matrix als Mini-Tabelle.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Unten Redis-Zylinder „Permission-Cache TTL 30 s“, gestrichelter Pfeil „project.member.* → invalidieren“.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19456"/>
            <a:ext cx="566928" cy="50292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8016"/>
            <a:ext cx="95097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★ Komponente: Notification — Realtime &amp; bewusst Stateful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28016"/>
            <a:ext cx="15544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7D6E2"/>
                </a:solidFill>
                <a:latin typeface="Segoe UI"/>
              </a:rPr>
              <a:t>2:00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TeamBoard · FH Wedel · Moderne Softwarearchitekturen · SS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34440"/>
            <a:ext cx="594360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Einzige bewusst zustandsbehaftete Komponente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Offene WebSocket-Verbindungen zu mehreren Instanzen (8005)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Kernproblem &amp; Lösung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Event trifft Instanz A, betroffener User hängt an Instanz B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Redis-Pub/Sub-Backplane verteilt an alle Instanzen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Jede Instanz prüft: „meine lokalen Connections?“ → Push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Sicherheit &amp; Persistenz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Vor dem Push Filter gegen Project-Permissions (kein Leak)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Persistente Notifications in DB (Lesen/Markieren via REST)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Skalierung: Sticky Sessions oder reconnect-tolerantes Frontend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234440"/>
            <a:ext cx="5212080" cy="4937760"/>
          </a:xfrm>
          <a:prstGeom prst="rect">
            <a:avLst/>
          </a:prstGeom>
          <a:solidFill>
            <a:srgbClr val="EEF3F6"/>
          </a:solidFill>
          <a:ln w="15875">
            <a:solidFill>
              <a:srgbClr val="9FB6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2552" y="1344168"/>
            <a:ext cx="4882896" cy="47183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8A87"/>
                </a:solidFill>
                <a:latin typeface="Segoe UI"/>
              </a:rPr>
              <a:t>▨  GRAFIK-PLATZHALTER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Oben mehrere Browser-Clients mit gepunkteten WebSocket-Linien zu zwei Notification-Instanzen.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Zwischen den Instanzen ein Redis-Pub/Sub-Band („Backplane“).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Links unten RabbitMQ (task.* · project.* · document.*) → Instanz → Backplane → alle Instanzen.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Rechts DB-Zylinder notifications (persistent, z. B. @Mentions).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19456"/>
            <a:ext cx="566928" cy="50292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8016"/>
            <a:ext cx="95097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★ Komponente: Plugin/Webhook — Delivery-Pipeline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28016"/>
            <a:ext cx="15544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7D6E2"/>
                </a:solidFill>
                <a:latin typeface="Segoe UI"/>
              </a:rPr>
              <a:t>2:00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TeamBoard · FH Wedel · Moderne Softwarearchitekturen · SS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34440"/>
            <a:ext cx="594360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Pipeline (oben → unten)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RabbitMQ-Event → Idempotenz-Check (processed_events)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Webhook-Matching (project_id + event_filter, Wildcard task.*)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INSERT webhook_deliveries (pending, eine Zeile je Treffer)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Delivery-Worker (Poll 1 s, FOR UPDATE SKIP LOCKED)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HTTP POST an Empfänger → Update (delivered / failed)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Design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DB als Queue UND Audit-Log — kein separater Job-Broker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Volle SQL-Abfragbarkeit, Multi-Worker-safe (SKIP LOCKED)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Delivery-Header: X-TeamBoard-Event / -Delivery-Id / -Signature / -Timestamp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234440"/>
            <a:ext cx="5212080" cy="4937760"/>
          </a:xfrm>
          <a:prstGeom prst="rect">
            <a:avLst/>
          </a:prstGeom>
          <a:solidFill>
            <a:srgbClr val="EEF3F6"/>
          </a:solidFill>
          <a:ln w="15875">
            <a:solidFill>
              <a:srgbClr val="9FB6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2552" y="1344168"/>
            <a:ext cx="4882896" cy="47183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8A87"/>
                </a:solidFill>
                <a:latin typeface="Segoe UI"/>
              </a:rPr>
              <a:t>▨  GRAFIK-PLATZHALTER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Vertikale Pipeline, jede Stufe ein Kasten mit kurzem Label (siehe Bullets).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Rechts Kasten „Design: DB als Queue und Audit-Log — kein separater Job-Broker, volle SQL-Abfragbarkeit“.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Unten der Delivery-Request mit Headern skizziert.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19456"/>
            <a:ext cx="566928" cy="50292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8016"/>
            <a:ext cx="95097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★ Plugin/Webhook — Resilienz, Sicherheit &amp; Erweiterung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28016"/>
            <a:ext cx="15544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7D6E2"/>
                </a:solidFill>
                <a:latin typeface="Segoe UI"/>
              </a:rPr>
              <a:t>2:00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TeamBoard · FH Wedel · Moderne Softwarearchitekturen · SS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34440"/>
            <a:ext cx="5532120" cy="1965960"/>
          </a:xfrm>
          <a:prstGeom prst="rect">
            <a:avLst/>
          </a:prstGeom>
          <a:solidFill>
            <a:srgbClr val="F4F6F8"/>
          </a:solidFill>
          <a:ln w="12700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325880"/>
            <a:ext cx="520293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42A4A"/>
                </a:solidFill>
                <a:latin typeface="Segoe UI"/>
              </a:rPr>
              <a:t>1 · Retry / Backoff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737360"/>
            <a:ext cx="5202936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42B33"/>
                </a:solidFill>
                <a:latin typeface="Segoe UI"/>
              </a:rPr>
              <a:t>•  30 s → 2 min → 10 min → 30 min → 2 h → 6 h → 24 h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42B33"/>
                </a:solidFill>
                <a:latin typeface="Segoe UI"/>
              </a:rPr>
              <a:t>•  ±20 % Jitter, max. ~33 h → DLQ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42B33"/>
                </a:solidFill>
                <a:latin typeface="Segoe UI"/>
              </a:rPr>
              <a:t>•  Sofort-DLQ: 410 Gone, harte 4xx (außer 408/425/429)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234440"/>
            <a:ext cx="5532120" cy="1965960"/>
          </a:xfrm>
          <a:prstGeom prst="rect">
            <a:avLst/>
          </a:prstGeom>
          <a:solidFill>
            <a:srgbClr val="F4F6F8"/>
          </a:solidFill>
          <a:ln w="12700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325880"/>
            <a:ext cx="520293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42A4A"/>
                </a:solidFill>
                <a:latin typeface="Segoe UI"/>
              </a:rPr>
              <a:t>2 · Circuit Breaker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1737360"/>
            <a:ext cx="5202936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42B33"/>
                </a:solidFill>
                <a:latin typeface="Segoe UI"/>
              </a:rPr>
              <a:t>•  Closed —[5 Fehler]→ Open —(30 s)→ Half-Open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42B33"/>
                </a:solidFill>
                <a:latin typeface="Segoe UI"/>
              </a:rPr>
              <a:t>•  [1 Erfolg]→ Closed · [1 Fehler]→ Open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42B33"/>
                </a:solidFill>
                <a:latin typeface="Segoe UI"/>
              </a:rPr>
              <a:t>•  pro Ziel-URL (gobreaker)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383280"/>
            <a:ext cx="5532120" cy="1965960"/>
          </a:xfrm>
          <a:prstGeom prst="rect">
            <a:avLst/>
          </a:prstGeom>
          <a:solidFill>
            <a:srgbClr val="F4F6F8"/>
          </a:solidFill>
          <a:ln w="12700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3474720"/>
            <a:ext cx="520293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42A4A"/>
                </a:solidFill>
                <a:latin typeface="Segoe UI"/>
              </a:rPr>
              <a:t>3 · HMAC-Signatur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3886200"/>
            <a:ext cx="5202936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42B33"/>
                </a:solidFill>
                <a:latin typeface="Segoe UI"/>
              </a:rPr>
              <a:t>•  sha256(secret, "&lt;ts&gt;.&lt;body&gt;")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42B33"/>
                </a:solidFill>
                <a:latin typeface="Segoe UI"/>
              </a:rPr>
              <a:t>•  Header X-TeamBoard-Signature / -Timestamp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42B33"/>
                </a:solidFill>
                <a:latin typeface="Segoe UI"/>
              </a:rPr>
              <a:t>•  5-min-Skew, Secret nur einmal sichtbar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383280"/>
            <a:ext cx="5532120" cy="1965960"/>
          </a:xfrm>
          <a:prstGeom prst="rect">
            <a:avLst/>
          </a:prstGeom>
          <a:solidFill>
            <a:srgbClr val="F4F6F8"/>
          </a:solidFill>
          <a:ln w="12700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474720"/>
            <a:ext cx="520293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42A4A"/>
                </a:solidFill>
                <a:latin typeface="Segoe UI"/>
              </a:rPr>
              <a:t>4 · SSRF-Schutz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3886200"/>
            <a:ext cx="5202936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42B33"/>
                </a:solidFill>
                <a:latin typeface="Segoe UI"/>
              </a:rPr>
              <a:t>•  Private/Loopback/Link-Local + 169.254.169.254 blockiert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42B33"/>
                </a:solidFill>
                <a:latin typeface="Segoe UI"/>
              </a:rPr>
              <a:t>•  Port-Whitelist 80/443/8080/8443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42B33"/>
                </a:solidFill>
                <a:latin typeface="Segoe UI"/>
              </a:rPr>
              <a:t>•  Re-Check beim Delivery gegen DNS-Rebinding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623560"/>
            <a:ext cx="11338560" cy="658368"/>
          </a:xfrm>
          <a:prstGeom prst="rect">
            <a:avLst/>
          </a:prstGeom>
          <a:solidFill>
            <a:srgbClr val="FBF3D6"/>
          </a:solidFill>
          <a:ln w="12700">
            <a:solidFill>
              <a:srgbClr val="E7B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669280"/>
            <a:ext cx="1106424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42A4A"/>
                </a:solidFill>
                <a:latin typeface="Segoe UI"/>
              </a:rPr>
              <a:t>Plugin-Erweiterungspunkt: Interface Plugin{ Type() · Match() · Deliver() } + Registry — heute nur webhook; vorgesehen: slack · teams · email · discord · transformer · inbound (YAGNI).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19456"/>
            <a:ext cx="566928" cy="50292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8016"/>
            <a:ext cx="95097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★ Komponente: Board Registry &amp; Erweiterbarkeit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28016"/>
            <a:ext cx="15544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7D6E2"/>
                </a:solidFill>
                <a:latin typeface="Segoe UI"/>
              </a:rPr>
              <a:t>2:30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TeamBoard · FH Wedel · Moderne Softwarearchitekturen · SS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34440"/>
            <a:ext cx="594360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Runtime-Registrierung (ADR 0001)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Vorher: compile-time boardplugins/ → neuer Typ = Recompile + Redeploy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Nachher: Board Registry (8007), POST /board-types zur Laufzeit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Registry hält: default_columns (inkl. status), default_config, config_schema, presentation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boardtype.*-Event → Project invalidiert TTL-Cache (Service-Token)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Präsentation &amp; Remote-Roadmap (ADR 0002)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presentation-Spec (view · view_config · card) → Frontend-View-Registry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Renderer: BoardView / CalendarView / GanttView · Unbekannt → Fallback BoardView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Zukunft: view:"remote" → Micro-Frontend / Module-Federation ohne SPA-Redeploy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234440"/>
            <a:ext cx="5212080" cy="4937760"/>
          </a:xfrm>
          <a:prstGeom prst="rect">
            <a:avLst/>
          </a:prstGeom>
          <a:solidFill>
            <a:srgbClr val="EEF3F6"/>
          </a:solidFill>
          <a:ln w="15875">
            <a:solidFill>
              <a:srgbClr val="9FB6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2552" y="1344168"/>
            <a:ext cx="4882896" cy="47183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8A87"/>
                </a:solidFill>
                <a:latin typeface="Segoe UI"/>
              </a:rPr>
              <a:t>▨  GRAFIK-PLATZHALTER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Zweiteilig. Oben Vorher/Nachher der Runtime-Registrierung; Entwickler-Icon schickt per REST neuen Typ (scrum, gantt).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Unten presentation-Spec → View-Registry wählt Renderer; Unbekanntes → Fallback.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Rechts gestrichelter Zukunftskasten view:"remote" → Micro-Frontend.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19456"/>
            <a:ext cx="566928" cy="50292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8016"/>
            <a:ext cx="95097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Zusammenspiel: Permission &amp; Event-Flow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28016"/>
            <a:ext cx="15544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7D6E2"/>
                </a:solidFill>
                <a:latin typeface="Segoe UI"/>
              </a:rPr>
              <a:t>2:00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TeamBoard · FH Wedel · Moderne Softwarearchitekturen · SS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34440"/>
            <a:ext cx="5486400" cy="4937760"/>
          </a:xfrm>
          <a:prstGeom prst="rect">
            <a:avLst/>
          </a:prstGeom>
          <a:solidFill>
            <a:srgbClr val="F4F6F8"/>
          </a:solidFill>
          <a:ln w="12700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71600"/>
            <a:ext cx="5120640" cy="4663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Synchron: Permission-Check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242B33"/>
                </a:solidFill>
                <a:latin typeface="Segoe UI"/>
              </a:rPr>
              <a:t>•  Task → GET /internal/…/permissions/{userId} → Project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242B33"/>
                </a:solidFill>
                <a:latin typeface="Segoe UI"/>
              </a:rPr>
              <a:t>•  Project prüft Redis (Hit/Miss) → antwortet {role, permissions}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242B33"/>
                </a:solidFill>
                <a:latin typeface="Segoe UI"/>
              </a:rPr>
              <a:t>•  Service-Token (HS256, aud:internal, 60 s) an der Pfeilspitze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242B33"/>
                </a:solidFill>
                <a:latin typeface="Segoe UI"/>
              </a:rPr>
              <a:t>•  Cache TTL 30 s, invalidiert per Event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F8A87"/>
                </a:solidFill>
                <a:latin typeface="Segoe UI"/>
              </a:rPr>
              <a:t>Nur wenn der Nutzer die Antwort sofort braucht.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234440"/>
            <a:ext cx="5486400" cy="4937760"/>
          </a:xfrm>
          <a:prstGeom prst="rect">
            <a:avLst/>
          </a:prstGeom>
          <a:solidFill>
            <a:srgbClr val="F4F6F8"/>
          </a:solidFill>
          <a:ln w="12700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71600"/>
            <a:ext cx="5120640" cy="4663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Asynchron: Outbox → Event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242B33"/>
                </a:solidFill>
                <a:latin typeface="Segoe UI"/>
              </a:rPr>
              <a:t>•  Service schreibt Daten + Outbox in EINER Transaktion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242B33"/>
                </a:solidFill>
                <a:latin typeface="Segoe UI"/>
              </a:rPr>
              <a:t>•  shared/go/outbox-Worker pollt (SKIP LOCKED)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242B33"/>
                </a:solidFill>
                <a:latin typeface="Segoe UI"/>
              </a:rPr>
              <a:t>•  Publiziert Envelope an teamboard.events (topic)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242B33"/>
                </a:solidFill>
                <a:latin typeface="Segoe UI"/>
              </a:rPr>
              <a:t>•  Wartet auf Publisher-Confirm → markiert published_at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242B33"/>
                </a:solidFill>
                <a:latin typeface="Segoe UI"/>
              </a:rPr>
              <a:t>•  Consumer (durable Queue + DLX) idempotent via processed_events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F8A87"/>
                </a:solidFill>
                <a:latin typeface="Segoe UI"/>
              </a:rPr>
              <a:t>Envelope: event_id · type · version · trace_id · actor · payload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19456"/>
            <a:ext cx="566928" cy="50292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8016"/>
            <a:ext cx="95097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Repository &amp; Artefakte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28016"/>
            <a:ext cx="15544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7D6E2"/>
                </a:solidFill>
                <a:latin typeface="Segoe UI"/>
              </a:rPr>
              <a:t>0:45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TeamBoard · FH Wedel · Moderne Softwarearchitekturen · SS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34440"/>
            <a:ext cx="594360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Monorepo-Struktur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services/{auth,project,…,boardregistry}/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shared/go/{authmiddleware,eventbus,outbox,servicetoken,observability,httputil}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docs/{ARCHITECTURE.md, decisions/ADR-000x, services/*.md}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frontend/ · infra/traefik/ · Makefile · docker-compose*.yml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Auffindbare Artefakte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Service-Detaildocs · ADRs · OpenAPI/AsyncAPI · Demo-Notebooks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234440"/>
            <a:ext cx="5212080" cy="4937760"/>
          </a:xfrm>
          <a:prstGeom prst="rect">
            <a:avLst/>
          </a:prstGeom>
          <a:solidFill>
            <a:srgbClr val="EEF3F6"/>
          </a:solidFill>
          <a:ln w="15875">
            <a:solidFill>
              <a:srgbClr val="9FB6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2552" y="1344168"/>
            <a:ext cx="4882896" cy="47183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8A87"/>
                </a:solidFill>
                <a:latin typeface="Segoe UI"/>
              </a:rPr>
              <a:t>▨  GRAFIK-PLATZHALTER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Links Verzeichnisbaum-Ausschnitt des Monorepos.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Rechts großer QR-Code zum GitHub-Repo fh-wedel/MSA-26-TeamBoard.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PLATZHALTER: echten Repo-Link / QR-Code einsetzen.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19456"/>
            <a:ext cx="566928" cy="50292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8016"/>
            <a:ext cx="95097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Software-Stack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28016"/>
            <a:ext cx="15544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7D6E2"/>
                </a:solidFill>
                <a:latin typeface="Segoe UI"/>
              </a:rPr>
              <a:t>1:00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TeamBoard · FH Wedel · Moderne Softwarearchitekturen · SS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2011680" cy="8229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8288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Backend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1371600"/>
            <a:ext cx="9235440" cy="822960"/>
          </a:xfrm>
          <a:prstGeom prst="rect">
            <a:avLst/>
          </a:prstGeom>
          <a:solidFill>
            <a:srgbClr val="F4F6F8"/>
          </a:solidFill>
          <a:ln w="12700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1371600"/>
            <a:ext cx="88696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42B33"/>
                </a:solidFill>
                <a:latin typeface="Segoe UI"/>
              </a:rPr>
              <a:t>Go 1.22 · Chi-Router · sqlc + pgx/v5 · golang-migrate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331720"/>
            <a:ext cx="2011680" cy="8229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331720"/>
            <a:ext cx="18288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Daten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2331720"/>
            <a:ext cx="9235440" cy="822960"/>
          </a:xfrm>
          <a:prstGeom prst="rect">
            <a:avLst/>
          </a:prstGeom>
          <a:solidFill>
            <a:srgbClr val="F4F6F8"/>
          </a:solidFill>
          <a:ln w="12700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2331720"/>
            <a:ext cx="88696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42B33"/>
                </a:solidFill>
                <a:latin typeface="Segoe UI"/>
              </a:rPr>
              <a:t>PostgreSQL 16 · Redis 7 · RabbitMQ 3.12 · MinIO/S3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291840"/>
            <a:ext cx="2011680" cy="8229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91840"/>
            <a:ext cx="18288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Edge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3291840"/>
            <a:ext cx="9235440" cy="822960"/>
          </a:xfrm>
          <a:prstGeom prst="rect">
            <a:avLst/>
          </a:prstGeom>
          <a:solidFill>
            <a:srgbClr val="F4F6F8"/>
          </a:solidFill>
          <a:ln w="12700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3291840"/>
            <a:ext cx="88696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42B33"/>
                </a:solidFill>
                <a:latin typeface="Segoe UI"/>
              </a:rPr>
              <a:t>Traefik (lokal + Prod auf EC2)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251960"/>
            <a:ext cx="2011680" cy="8229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251960"/>
            <a:ext cx="18288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Frontend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4251960"/>
            <a:ext cx="9235440" cy="822960"/>
          </a:xfrm>
          <a:prstGeom prst="rect">
            <a:avLst/>
          </a:prstGeom>
          <a:solidFill>
            <a:srgbClr val="F4F6F8"/>
          </a:solidFill>
          <a:ln w="12700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97480" y="4251960"/>
            <a:ext cx="88696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42B33"/>
                </a:solidFill>
                <a:latin typeface="Segoe UI"/>
              </a:rPr>
              <a:t>React + TypeScript · Vite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212080"/>
            <a:ext cx="2011680" cy="8229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212080"/>
            <a:ext cx="18288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Ops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14600" y="5212080"/>
            <a:ext cx="9235440" cy="822960"/>
          </a:xfrm>
          <a:prstGeom prst="rect">
            <a:avLst/>
          </a:prstGeom>
          <a:solidFill>
            <a:srgbClr val="F4F6F8"/>
          </a:solidFill>
          <a:ln w="12700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97480" y="5212080"/>
            <a:ext cx="88696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42B33"/>
                </a:solidFill>
                <a:latin typeface="Segoe UI"/>
              </a:rPr>
              <a:t>Docker Compose · GitHub Actions · GHCR · AWS EC2 · OpenTelemetry/Jaeger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19456"/>
            <a:ext cx="566928" cy="50292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8016"/>
            <a:ext cx="95097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Vorgehen bei der Programmerstellung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28016"/>
            <a:ext cx="15544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7D6E2"/>
                </a:solidFill>
                <a:latin typeface="Segoe UI"/>
              </a:rPr>
              <a:t>1:30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TeamBoard · FH Wedel · Moderne Softwarearchitekturen · SS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34440"/>
            <a:ext cx="594360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Kreislauf (Doku-first)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Planen — Feature-Design im Team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Dokumentieren — Spec / ADR / OpenAPI aktualisieren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Implementieren — Agent + Review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Doku synchronisieren — Learnings zurückschreiben → zurück zu Planen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Grundlagen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Source of Truth: ARCHITECTURE.md + Service-Docs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Spec-first: OpenAPI → sqlc → Handler → Tests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Tests Pflicht: Domain-Unit + Repository-Integration (Testcontainers)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234440"/>
            <a:ext cx="5212080" cy="4937760"/>
          </a:xfrm>
          <a:prstGeom prst="rect">
            <a:avLst/>
          </a:prstGeom>
          <a:solidFill>
            <a:srgbClr val="EEF3F6"/>
          </a:solidFill>
          <a:ln w="15875">
            <a:solidFill>
              <a:srgbClr val="9FB6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2552" y="1344168"/>
            <a:ext cx="4882896" cy="47183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8A87"/>
                </a:solidFill>
                <a:latin typeface="Segoe UI"/>
              </a:rPr>
              <a:t>▨  GRAFIK-PLATZHALTER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Kreislauf-Diagramm, vier Stationen im Kreis: Planen → Dokumentieren → Implementieren → Doku synchronisieren → Planen.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Mitte: „Source of Truth: ARCHITECTURE.md + Service-Docs“.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Randmarker: „Spec-first: OpenAPI → sqlc → Handler → Tests“.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19456"/>
            <a:ext cx="566928" cy="50292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8016"/>
            <a:ext cx="95097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★ Agentic Engineering: Herangehensweise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28016"/>
            <a:ext cx="15544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7D6E2"/>
                </a:solidFill>
                <a:latin typeface="Segoe UI"/>
              </a:rPr>
              <a:t>2:00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TeamBoard · FH Wedel · Moderne Softwarearchitekturen · SS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34440"/>
            <a:ext cx="594360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1 · Gemeinsame Planung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Team + Opus 4.7 zusammen — Komponenten-Zuschnitt schon im Dialog mit dem Modell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2 · Architektur vor Implementierung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Dokument-Stapel (alle Microservices · Code-Style · Doc-Style · Testing · Zusammenspiel) bevor Code entsteht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3 · Feature-Loop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Wiederholtes plan → build → doc (vgl. Folie 19)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Leitsatz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„Doku als Vertrag für den Agent — nicht Nachdokumentation.“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234440"/>
            <a:ext cx="5212080" cy="4937760"/>
          </a:xfrm>
          <a:prstGeom prst="rect">
            <a:avLst/>
          </a:prstGeom>
          <a:solidFill>
            <a:srgbClr val="EEF3F6"/>
          </a:solidFill>
          <a:ln w="15875">
            <a:solidFill>
              <a:srgbClr val="9FB6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2552" y="1344168"/>
            <a:ext cx="4882896" cy="47183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8A87"/>
                </a:solidFill>
                <a:latin typeface="Segoe UI"/>
              </a:rPr>
              <a:t>▨  GRAFIK-PLATZHALTER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Horizontale Timeline mit drei Phasen-Blöcken (siehe Bullets), Icons Mensch+LLM.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Unter der Timeline ein Leitsatz-Band.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19456"/>
            <a:ext cx="566928" cy="50292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8016"/>
            <a:ext cx="95097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★ Agentic Engineering: Reflexion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28016"/>
            <a:ext cx="15544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7D6E2"/>
                </a:solidFill>
                <a:latin typeface="Segoe UI"/>
              </a:rPr>
              <a:t>2:30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TeamBoard · FH Wedel · Moderne Softwarearchitekturen · SS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34440"/>
            <a:ext cx="5486400" cy="3703320"/>
          </a:xfrm>
          <a:prstGeom prst="rect">
            <a:avLst/>
          </a:prstGeom>
          <a:solidFill>
            <a:srgbClr val="ECF6EC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71600"/>
            <a:ext cx="5120640" cy="3474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7D32"/>
                </a:solidFill>
                <a:latin typeface="Segoe UI"/>
              </a:rPr>
              <a:t>✓  Lief gut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42B33"/>
                </a:solidFill>
                <a:latin typeface="Segoe UI"/>
              </a:rPr>
              <a:t>•  Durch ausführliche Vorab-Doku direkt ein gut strukturiertes, funktional relativ vollständiges Grundgerüst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42B33"/>
                </a:solidFill>
                <a:latin typeface="Segoe UI"/>
              </a:rPr>
              <a:t>•  Struktur erlaubte schnelles Anfügen neuer Features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42B33"/>
                </a:solidFill>
                <a:latin typeface="Segoe UI"/>
              </a:rPr>
              <a:t>•  Bei regelmäßigem Doku-Update wenige Probleme durch Blind Spots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234440"/>
            <a:ext cx="5486400" cy="3703320"/>
          </a:xfrm>
          <a:prstGeom prst="rect">
            <a:avLst/>
          </a:prstGeom>
          <a:solidFill>
            <a:srgbClr val="FBECEC"/>
          </a:solidFill>
          <a:ln w="12700">
            <a:solidFill>
              <a:srgbClr val="B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71600"/>
            <a:ext cx="5120640" cy="3474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03030"/>
                </a:solidFill>
                <a:latin typeface="Segoe UI"/>
              </a:rPr>
              <a:t>⚠  Lief nicht so gut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42B33"/>
                </a:solidFill>
                <a:latin typeface="Segoe UI"/>
              </a:rPr>
              <a:t>•  Nach den ersten Änderungen viele Blind Spots — Doku oft nicht automatisch mitgezogen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42B33"/>
                </a:solidFill>
                <a:latin typeface="Segoe UI"/>
              </a:rPr>
              <a:t>•  Agent setzte anfangs nicht alles wie geplant um, teils nur „Quick Solutions“, unvermerkt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42B33"/>
                </a:solidFill>
                <a:latin typeface="Segoe UI"/>
              </a:rPr>
              <a:t>•  Bei größeren Umstellungen (v. a. Frontend) kommentarlos entfernte Funktionalität trotz Vorgabe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5074920"/>
            <a:ext cx="11338560" cy="685800"/>
          </a:xfrm>
          <a:prstGeom prst="rect">
            <a:avLst/>
          </a:prstGeom>
          <a:solidFill>
            <a:srgbClr val="FBF3D6"/>
          </a:solidFill>
          <a:ln w="12700">
            <a:solidFill>
              <a:srgbClr val="E7B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120640"/>
            <a:ext cx="110642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2A4A"/>
                </a:solidFill>
                <a:latin typeface="Segoe UI"/>
              </a:rPr>
              <a:t>Fallstudie Auth: zu Beginn nur Pseudo-Validierung der Tokens — später aufwendig auf echtes RS256/JWKS nachgezogen.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852160"/>
            <a:ext cx="113385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F8A87"/>
                </a:solidFill>
                <a:latin typeface="Segoe UI"/>
              </a:rPr>
              <a:t>Learning: Agent braucht enge Reviews + Doku-Sync als Disziplin, nicht als Automatismus.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19456"/>
            <a:ext cx="566928" cy="50292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8016"/>
            <a:ext cx="95097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Herausforderungen (jenseits KI)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28016"/>
            <a:ext cx="15544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7D6E2"/>
                </a:solidFill>
                <a:latin typeface="Segoe UI"/>
              </a:rPr>
              <a:t>1:00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TeamBoard · FH Wedel · Moderne Softwarearchitekturen · SS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5532120" cy="1965960"/>
          </a:xfrm>
          <a:prstGeom prst="rect">
            <a:avLst/>
          </a:prstGeom>
          <a:solidFill>
            <a:srgbClr val="F4F6F8"/>
          </a:solidFill>
          <a:ln w="12700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36192"/>
            <a:ext cx="5166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Koordination im Monorepo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03120"/>
            <a:ext cx="51663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42B33"/>
                </a:solidFill>
                <a:latin typeface="Segoe UI"/>
              </a:rPr>
              <a:t>Mehrere Leute, ein Repo — Event-Schema als geteilter Vertrag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371600"/>
            <a:ext cx="5532120" cy="1965960"/>
          </a:xfrm>
          <a:prstGeom prst="rect">
            <a:avLst/>
          </a:prstGeom>
          <a:solidFill>
            <a:srgbClr val="F4F6F8"/>
          </a:solidFill>
          <a:ln w="12700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536192"/>
            <a:ext cx="5166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Verteiltes Debugging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03120"/>
            <a:ext cx="51663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42B33"/>
                </a:solidFill>
                <a:latin typeface="Segoe UI"/>
              </a:rPr>
              <a:t>Fehler über Service-Grenzen — Trace-ID durch Gateway → Services → RabbitMQ-Header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566160"/>
            <a:ext cx="5532120" cy="1965960"/>
          </a:xfrm>
          <a:prstGeom prst="rect">
            <a:avLst/>
          </a:prstGeom>
          <a:solidFill>
            <a:srgbClr val="F4F6F8"/>
          </a:solidFill>
          <a:ln w="12700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730752"/>
            <a:ext cx="5166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Scope / Zeit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51663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42B33"/>
                </a:solidFill>
                <a:latin typeface="Segoe UI"/>
              </a:rPr>
              <a:t>MVP vs. Nice-to-have priorisieren — härtester Teil, Backlog dokumentiert Ausgelassenes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566160"/>
            <a:ext cx="5532120" cy="1965960"/>
          </a:xfrm>
          <a:prstGeom prst="rect">
            <a:avLst/>
          </a:prstGeom>
          <a:solidFill>
            <a:srgbClr val="F4F6F8"/>
          </a:solidFill>
          <a:ln w="12700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730752"/>
            <a:ext cx="5166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Konsistenz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297680"/>
            <a:ext cx="51663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42B33"/>
                </a:solidFill>
                <a:latin typeface="Segoe UI"/>
              </a:rPr>
              <a:t>Eventual Consistency mental modellieren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19456"/>
            <a:ext cx="566928" cy="50292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8016"/>
            <a:ext cx="95097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Deployment: ein Kommando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28016"/>
            <a:ext cx="15544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7D6E2"/>
                </a:solidFill>
                <a:latin typeface="Segoe UI"/>
              </a:rPr>
              <a:t>1:00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TeamBoard · FH Wedel · Moderne Softwarearchitekturen · SS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80160"/>
            <a:ext cx="4937760" cy="2377440"/>
          </a:xfrm>
          <a:prstGeom prst="rect">
            <a:avLst/>
          </a:prstGeom>
          <a:solidFill>
            <a:srgbClr val="10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17320"/>
            <a:ext cx="4572000" cy="2103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BE9A8"/>
                </a:solidFill>
                <a:latin typeface="Consolas"/>
              </a:rPr>
              <a:t>$ git clone …/MSA-26-TeamBoard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8BE9A8"/>
                </a:solidFill>
                <a:latin typeface="Consolas"/>
              </a:rPr>
              <a:t>$ make up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F9CB5"/>
                </a:solidFill>
                <a:latin typeface="Consolas"/>
              </a:rPr>
              <a:t>$ make seed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F9CB5"/>
                </a:solidFill>
                <a:latin typeface="Consolas"/>
              </a:rPr>
              <a:t>$ make logs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F9CB5"/>
                </a:solidFill>
                <a:latin typeface="Consolas"/>
              </a:rPr>
              <a:t>$ make down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280160"/>
            <a:ext cx="6172200" cy="1097280"/>
          </a:xfrm>
          <a:prstGeom prst="rect">
            <a:avLst/>
          </a:prstGeom>
          <a:solidFill>
            <a:srgbClr val="F4F6F8"/>
          </a:solidFill>
          <a:ln w="12700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1353312"/>
            <a:ext cx="585216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42A4A"/>
                </a:solidFill>
                <a:latin typeface="Segoe UI"/>
              </a:rPr>
              <a:t>Lokal — eine Docker-Compose-Box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42B33"/>
                </a:solidFill>
                <a:latin typeface="Segoe UI"/>
              </a:rPr>
              <a:t>7 Services + Frontend + Traefik + Postgres/Redis/RabbitMQ/MinIO/Jaeger · Hot-Reload via air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2514600"/>
            <a:ext cx="6172200" cy="1143000"/>
          </a:xfrm>
          <a:prstGeom prst="rect">
            <a:avLst/>
          </a:prstGeom>
          <a:solidFill>
            <a:srgbClr val="F4F6F8"/>
          </a:solidFill>
          <a:ln w="12700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2578608"/>
            <a:ext cx="585216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42A4A"/>
                </a:solidFill>
                <a:latin typeface="Segoe UI"/>
              </a:rPr>
              <a:t>AWS — GitHub Actions → GHCR → EC2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42B33"/>
                </a:solidFill>
                <a:latin typeface="Segoe UI"/>
              </a:rPr>
              <a:t>Build-Matrix ×8 (SHA+latest) → SSH-Deploy → deploy.sh (flock, .env-Secrets, git reset --hard, docker compose pull &amp;&amp; up -d)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931920"/>
            <a:ext cx="11338560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Anforderung „ein Kommando“ erfüllt: make up bringt alles hoch. Lokal HTTP, TLS erst in AWS.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Ehrlich eingeordnet: einzelne EC2-Box, Compose-Stack — bewusst simpel. Postgres/Redis/RabbitMQ/MinIO laufen als Container, nicht managed.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6707A"/>
                </a:solidFill>
                <a:latin typeface="Segoe UI"/>
              </a:rPr>
              <a:t>•  Auslagern in RDS/ElastiCache/ECS = niedrig priorisierte Folgearbeit, kein Blocker (siehe Backlog / deployment.md §12).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19456"/>
            <a:ext cx="566928" cy="50292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8016"/>
            <a:ext cx="95097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★ Laufendes System — Live-Demo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28016"/>
            <a:ext cx="15544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7D6E2"/>
                </a:solidFill>
                <a:latin typeface="Segoe UI"/>
              </a:rPr>
              <a:t>3:00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TeamBoard · FH Wedel · Moderne Softwarearchitekturen · SS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solidFill>
            <a:srgbClr val="EEF3F6"/>
          </a:solidFill>
          <a:ln w="19050">
            <a:solidFill>
              <a:srgbClr val="9FB6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828800"/>
            <a:ext cx="10058400" cy="34747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2800" b="1" i="0">
                <a:solidFill>
                  <a:srgbClr val="1F8A87"/>
                </a:solidFill>
                <a:latin typeface="Segoe UI"/>
              </a:rPr>
              <a:t>▶  LIVE-DEMO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42B33"/>
                </a:solidFill>
                <a:latin typeface="Segoe UI"/>
              </a:rPr>
              <a:t>•  User-Story von Folie 7 live nachspielen (Task „In Arbeit“ → „Erledigt“)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42B33"/>
                </a:solidFill>
                <a:latin typeface="Segoe UI"/>
              </a:rPr>
              <a:t>•  Zweites Browserfenster für den Realtime-Push (WebSocket)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42B33"/>
                </a:solidFill>
                <a:latin typeface="Segoe UI"/>
              </a:rPr>
              <a:t>•  Wenn Zeit: Runtime-Registrierung eines neuen Board-Typs via make demo-board-types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42B33"/>
                </a:solidFill>
                <a:latin typeface="Segoe UI"/>
              </a:rPr>
              <a:t>•  Screenshots als Fallback bereithalten, falls die Demo klemmt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19456"/>
            <a:ext cx="566928" cy="50292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8016"/>
            <a:ext cx="95097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Realisierter Funktionsumfang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28016"/>
            <a:ext cx="15544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7D6E2"/>
                </a:solidFill>
                <a:latin typeface="Segoe UI"/>
              </a:rPr>
              <a:t>1:00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TeamBoard · FH Wedel · Moderne Softwarearchitekturen · SS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34440"/>
            <a:ext cx="594360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Umgesetzt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E7D32"/>
                </a:solidFill>
                <a:latin typeface="Segoe UI"/>
              </a:rPr>
              <a:t>•  Alle 7 Services + Gateway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E7D32"/>
                </a:solidFill>
                <a:latin typeface="Segoe UI"/>
              </a:rPr>
              <a:t>•  Zero-Trust-Auth (RS256/JWKS, Service-Token)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E7D32"/>
                </a:solidFill>
                <a:latin typeface="Segoe UI"/>
              </a:rPr>
              <a:t>•  Kanban-Boards: Tasks/Kommentare/Anhänge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E7D32"/>
                </a:solidFill>
                <a:latin typeface="Segoe UI"/>
              </a:rPr>
              <a:t>•  Dokument-Versionierung · Realtime-Notifications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E7D32"/>
                </a:solidFill>
                <a:latin typeface="Segoe UI"/>
              </a:rPr>
              <a:t>•  Webhooks: Retry/Circuit-Breaker/HMAC/SSRF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E7D32"/>
                </a:solidFill>
                <a:latin typeface="Segoe UI"/>
              </a:rPr>
              <a:t>•  Runtime-Board-Typen + Presentation-Spec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E7D32"/>
                </a:solidFill>
                <a:latin typeface="Segoe UI"/>
              </a:rPr>
              <a:t>•  Ein-Kommando-Deployment + CI/CD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234440"/>
            <a:ext cx="5212080" cy="4937760"/>
          </a:xfrm>
          <a:prstGeom prst="rect">
            <a:avLst/>
          </a:prstGeom>
          <a:solidFill>
            <a:srgbClr val="EEF3F6"/>
          </a:solidFill>
          <a:ln w="15875">
            <a:solidFill>
              <a:srgbClr val="9FB6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2552" y="1344168"/>
            <a:ext cx="4882896" cy="47183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8A87"/>
                </a:solidFill>
                <a:latin typeface="Segoe UI"/>
              </a:rPr>
              <a:t>▨  BACKLOG (grau)-PLATZHALTER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Zweispaltige Checkliste. Links umgesetzt (grün), rechts bewusst offen / Backlog (grau):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• Schreib-Authz der Registry (Admin-Rolle)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• view:"remote" Micro-Frontends · Per-Board-View-Switch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• Inbound-Webhooks + weitere Plugin-Typen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• Edge-Observability am Gateway · Managed-AWS-Split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19456"/>
            <a:ext cx="566928" cy="50292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8016"/>
            <a:ext cx="95097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Fazit &amp; Ausblick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28016"/>
            <a:ext cx="15544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7D6E2"/>
                </a:solidFill>
                <a:latin typeface="Segoe UI"/>
              </a:rPr>
              <a:t>1:30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TeamBoard · FH Wedel · Moderne Softwarearchitekturen · SS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80160"/>
            <a:ext cx="5486400" cy="3566160"/>
          </a:xfrm>
          <a:prstGeom prst="rect">
            <a:avLst/>
          </a:prstGeom>
          <a:solidFill>
            <a:srgbClr val="ECF6EC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17320"/>
            <a:ext cx="5120640" cy="3291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7D32"/>
                </a:solidFill>
                <a:latin typeface="Segoe UI"/>
              </a:rPr>
              <a:t>Erreicht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242B33"/>
                </a:solidFill>
                <a:latin typeface="Segoe UI"/>
              </a:rPr>
              <a:t>•  Tragfähige Microservice-Architektur entlang Bounded Contexts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242B33"/>
                </a:solidFill>
                <a:latin typeface="Segoe UI"/>
              </a:rPr>
              <a:t>•  Erweiterbarkeit als First-Class-Konzept (Board Registry, Plugin-Backbone)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242B33"/>
                </a:solidFill>
                <a:latin typeface="Segoe UI"/>
              </a:rPr>
              <a:t>•  Doku-getriebenes agentisches Vorgehen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280160"/>
            <a:ext cx="548640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1F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417320"/>
            <a:ext cx="5120640" cy="3291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Nächste Schritte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242B33"/>
                </a:solidFill>
                <a:latin typeface="Segoe UI"/>
              </a:rPr>
              <a:t>•  Remote-Board-Views (view:"remote")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242B33"/>
                </a:solidFill>
                <a:latin typeface="Segoe UI"/>
              </a:rPr>
              <a:t>•  Rollen-Authz-Härtung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242B33"/>
                </a:solidFill>
                <a:latin typeface="Segoe UI"/>
              </a:rPr>
              <a:t>•  Managed-Services / ECS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242B33"/>
                </a:solidFill>
                <a:latin typeface="Segoe UI"/>
              </a:rPr>
              <a:t>•  Inbound-Integrationen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242B33"/>
                </a:solidFill>
                <a:latin typeface="Segoe UI"/>
              </a:rPr>
              <a:t>•  Edge-Observability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5029200"/>
            <a:ext cx="11338560" cy="8229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„Doku-getriebenes Agentic Engineering skaliert — aber nur mit menschlicher Kontrolle.“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19456"/>
            <a:ext cx="566928" cy="502920"/>
          </a:xfrm>
          <a:prstGeom prst="rect">
            <a:avLst/>
          </a:prstGeom>
          <a:solidFill>
            <a:srgbClr val="1F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8016"/>
            <a:ext cx="95097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Quellenverzeichnis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128016"/>
            <a:ext cx="155448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7D6E2"/>
                </a:solidFill>
                <a:latin typeface="Segoe UI"/>
              </a:rPr>
              <a:t>0:15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TeamBoard · FH Wedel · Moderne Softwarearchitekturen · SS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7A"/>
                </a:solidFill>
                <a:latin typeface="Segoe UI"/>
              </a:rPr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34440"/>
            <a:ext cx="594360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Standards / Tools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JSON · OpenAPI/Swagger · AsyncAPI · RabbitMQ · Traefik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sqlc · Google Go Style Guide · RFC 7807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Projekt-intern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ARCHITECTURE.md · ADR 0001/0002 · Service-Detaildocs · GitHub-Repo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4A"/>
                </a:solidFill>
                <a:latin typeface="Segoe UI"/>
              </a:rPr>
              <a:t>KI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42B33"/>
                </a:solidFill>
                <a:latin typeface="Segoe UI"/>
              </a:rPr>
              <a:t>•  Eingesetztes Modell: Opus 4.7 + Werkzeugkontext (Claude Code)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234440"/>
            <a:ext cx="5212080" cy="4937760"/>
          </a:xfrm>
          <a:prstGeom prst="rect">
            <a:avLst/>
          </a:prstGeom>
          <a:solidFill>
            <a:srgbClr val="EEF3F6"/>
          </a:solidFill>
          <a:ln w="15875">
            <a:solidFill>
              <a:srgbClr val="9FB6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2552" y="1344168"/>
            <a:ext cx="4882896" cy="47183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8A87"/>
                </a:solidFill>
                <a:latin typeface="Segoe UI"/>
              </a:rPr>
              <a:t>▨  GRAFIK-PLATZHALTER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Schlichte, zweispaltige Liste (Standards/Tools · Projekt-intern · KI).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6707A"/>
                </a:solidFill>
                <a:latin typeface="Segoe UI"/>
              </a:rPr>
              <a:t>Explizit die KI-Werkzeuge nennen: welche, wie eingesetzt.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