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Begrüßung, Projekt in einem Satz, Team vorstellen, Ablauf ankündigen (Vortrag + Live-Demo am Ende).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30-Sekunden-Durchlauf; die zwei Schwerpunkte ankündigen: KI-Reflexion und Erweiterbarkeits-Architektur.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Vorbild Trello/Notion/Jira-Light, aber Fokus = skalierbare, komponentenbasierte Architektur, nicht Feature-Fülle. Leitfragen: Echtzeit-Events, unabhängig skalieren, Datenkonsistenz. MVP als roter Faden.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Schnitt entlang der Bounded Contexts; Querschnitt gemeinsam. KI deklariert eingesetzt (Prof. verlangt Reflexion). PLATZHALTER: echte Namen eintragen.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Was wir bewusst hineingelesen haben: Schwerpunkt Architektur, nicht UI-Umfang. Bewusste Scope-Grenzen. „Denkbare Funktionen“ = Auswahl, kein Pflichtkatalog.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NFRs sind der eigentliche Kern (Architektur-Modul). Kurz je NFR zeigen, wie sie im Entwurf verankert ist — Bogen zu Kap. Entwurf.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Stories zeigen Cross-Service-Zusammenspiel (Story 2 = Task→Project-Permission→Event→Notification). Genau diese Story in der Demo wiederverwenden.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 Picture, nicht jede Linie. Fünf Kernentscheidungen. JWT-Prüfung bewusst NICHT am Gateway → Überleitung zur nächsten 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„Diskussion der gewählten Architektur“. An zwei Prinzipien Trade-offs zeigen: Zero-Trust und Async-First. Abweichungen nur per ADR — Brücke zu ADR 0001/0002.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Bewusst kompakt — die geradlinigen Services. Auth = Vertrauensanker (JWKS), Task = Status-Semantik, Document = Storage läuft an den Services vorbei.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Architektonisch wichtigster Domänen-Service: einzige autoritative Quelle für Berechtigungen. Synchron nur wenn nötig. Redis-Cache 30s, Event-Invalidierung. Owner der Board-Instanzen (Typen ≠ Instanzen).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Einzige bewusst zustandsbehaftete Komponente. Kernproblem: Event trifft A, User an B → Redis-Backplane. Vor Push gegen Project-Permissions gefiltert. Persistente Notifs in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Domain-Events → externe HTTP-Calls. Output-Adapter, nicht Board-Typen. DB-Queue statt Job-Broker: eine Persistenz, Multi-Worker-safe via SKIP LOCKED. Volles Envelope → Retry autonom.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Engineering-Tiefe. SSRF kritisch: Custom-Dialer prüft die aufgelöste IP erneut beim Call. Erweiterbarkeit vorgesehen, im MVP nicht gebaut (YAGNI).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Architektonisches Alleinstellungsmerkmal. presentation.view = einziger Erweiterungspunkt: heute eingebaute Renderer, morgen remote, ohne Modell-Umbau. Spalte→Status jetzt explizit. Ehrlich: Schreib-Authz noch offen.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Zwei Kommunikationsmuster: synchron nur wenn der Nutzer sofort Antwort braucht, sonst Event. Outbox garantiert kein Event-Verlust (Confirm vor Commit). Idempotenz, weil Events mehrfach ankommen dürfen.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Monorepo: atomare Cross-Service-Änderungen, geteilter Code, ein git clone/make up. Doku war Grundlage. PLATZHALTER: echten Repo-Link/QR einsetzen.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vorlesen — Go für schlanke nebenläufige Services; sqlc = typsichere Queries ohne ORM. Handler handgeschrieben gegen OpenAPI-Stubs. Ein shared/go gegen Duplikation.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Doku-first: vor dem ersten Code standen Architektur, alle Specs, Code-/Doc-Style, Test-Strategie. Jedes Feature erst planen, dann bauen. Tests Pflicht.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Bewusste Entscheidung: LLM schon in der Planungsphase. Umfangreiche Vorab-Doku als verbindlicher Kontext. Der Prozess selbst wurde geschärft.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Ehrliche Bilanz. Kausalität: guter Start wegen Doku, spätere Reibung wegen nicht-nachgezogener Doku. Auth-Beispiel als Beleg. Konsequenz: Reviews verschärft, Doku-Update fester Schritt.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Projektmanagement-Sicht. Ein Beispiel je Karte (Trace-ID durch Gateway→Services→RabbitMQ machte verteiltes Debugging handhabbar). Priorisierung war der härteste Teil.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„Ein Kommando“ erfüllt: make up. Lokal HTTP, TLS erst in AWS. Ehrlich: einzelne EC2-Box, Compose-Stack — bewusst simpel; Managed-Split ist niedrig priorisierte Folgearbeit.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User-Story von Folie 7 live nachspielen. Zweites Browserfenster für Realtime-Push. Wenn Zeit: Runtime-Registrierung via make demo-board-types. Screenshots nur, falls die Demo klemmt.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Klare, ehrliche Grenze MVP vs. Backlog (aus TODO.md). „Offen“ = bewusst priorisiert, nicht vergessen — Struktur trägt diese Erweiterungen bereits.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Architektur-Ziele des Moduls erreicht (Skalierung, Event-Verteilung, Konsistenz). Wichtigstes Learning wiederholen. Nächstes Mal: Doku-Sync erzwingen, kleinere Agent-Schritte reviewen.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Kurz stehen lassen. Explizit die KI-Werkzeuge nennen (Prof. verlangt: welche Werkzeuge, wie eingesetzt).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2794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95360" y="1005840"/>
            <a:ext cx="1280160" cy="365760"/>
          </a:xfrm>
          <a:prstGeom prst="rect">
            <a:avLst/>
          </a:prstGeom>
          <a:noFill/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0" y="1005840"/>
            <a:ext cx="1097280" cy="365760"/>
          </a:xfrm>
          <a:prstGeom prst="rect">
            <a:avLst/>
          </a:prstGeom>
          <a:noFill/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78240" y="2103120"/>
            <a:ext cx="2834640" cy="292608"/>
          </a:xfrm>
          <a:prstGeom prst="rect">
            <a:avLst/>
          </a:prstGeom>
          <a:noFill/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0" y="3017520"/>
            <a:ext cx="731520" cy="457200"/>
          </a:xfrm>
          <a:prstGeom prst="rect">
            <a:avLst/>
          </a:prstGeom>
          <a:noFill/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3017520"/>
            <a:ext cx="731520" cy="457200"/>
          </a:xfrm>
          <a:prstGeom prst="rect">
            <a:avLst/>
          </a:prstGeom>
          <a:noFill/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0" y="3017520"/>
            <a:ext cx="731520" cy="457200"/>
          </a:xfrm>
          <a:prstGeom prst="rect">
            <a:avLst/>
          </a:prstGeom>
          <a:noFill/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9144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6C4D0"/>
                </a:solidFill>
                <a:latin typeface="Consolas"/>
              </a:rPr>
              <a:t>MODERNE SOFTWAREARCHITEKTUREN · SS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1005840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DCE7EC"/>
                </a:solidFill>
                <a:latin typeface="Segoe UI"/>
              </a:rPr>
              <a:t>Team</a:t>
            </a:r>
            <a:r>
              <a:rPr sz="6600" b="1" i="0">
                <a:solidFill>
                  <a:srgbClr val="46C4D0"/>
                </a:solidFill>
                <a:latin typeface="Segoe UI"/>
              </a:rPr>
              <a:t>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96012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3A8B2"/>
                </a:solidFill>
                <a:latin typeface="Segoe UI"/>
              </a:rPr>
              <a:t>Web-basierte Kollaborationsplattform — komponentenbasiertes Microservice-System.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1005840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647C88"/>
                </a:solidFill>
                <a:latin typeface="Consolas"/>
              </a:rPr>
              <a:t>FH WEDEL · M.SC. · PROF. DR. HOFFMANN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2A33C"/>
                </a:solidFill>
                <a:latin typeface="Consolas"/>
              </a:rPr>
              <a:t>TEAM · [NAME 1] · [NAME 2] · [NAME 3] · [NAME 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ABLAUF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Agenda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0:30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01 · KONTEXT &amp;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02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0200"/>
            <a:ext cx="1810512" cy="24688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801368"/>
            <a:ext cx="1554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6C4D0"/>
                </a:solidFill>
                <a:latin typeface="Consola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68880"/>
            <a:ext cx="15544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DCE7EC"/>
                </a:solidFill>
                <a:latin typeface="Segoe UI"/>
              </a:rPr>
              <a:t>Kontext &amp; Team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78024" y="1600200"/>
            <a:ext cx="1810512" cy="24688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1801368"/>
            <a:ext cx="1554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6C4D0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468880"/>
            <a:ext cx="15544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DCE7EC"/>
                </a:solidFill>
                <a:latin typeface="Segoe UI"/>
              </a:rPr>
              <a:t>Anforderungen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600200"/>
            <a:ext cx="1810512" cy="24688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1801368"/>
            <a:ext cx="1554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6C4D0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468880"/>
            <a:ext cx="15544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DCE7EC"/>
                </a:solidFill>
                <a:latin typeface="Segoe UI"/>
              </a:rPr>
              <a:t>Architektur &amp; Komponenten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0216" y="1600200"/>
            <a:ext cx="1810512" cy="24688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1801368"/>
            <a:ext cx="1554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6C4D0"/>
                </a:solidFill>
                <a:latin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2468880"/>
            <a:ext cx="15544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DCE7EC"/>
                </a:solidFill>
                <a:latin typeface="Segoe UI"/>
              </a:rPr>
              <a:t>Realisierung &amp; KI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11312" y="1600200"/>
            <a:ext cx="1810512" cy="24688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8" y="1801368"/>
            <a:ext cx="1554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6C4D0"/>
                </a:solidFill>
                <a:latin typeface="Consola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2468880"/>
            <a:ext cx="15544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DCE7EC"/>
                </a:solidFill>
                <a:latin typeface="Segoe UI"/>
              </a:rPr>
              <a:t>Deployment &amp; Demo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22408" y="1600200"/>
            <a:ext cx="1810512" cy="24688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50424" y="1801368"/>
            <a:ext cx="1554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6C4D0"/>
                </a:solidFill>
                <a:latin typeface="Consola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0424" y="2468880"/>
            <a:ext cx="15544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DCE7EC"/>
                </a:solidFill>
                <a:latin typeface="Segoe UI"/>
              </a:rPr>
              <a:t>Fazit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480560"/>
            <a:ext cx="10972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6C4D0"/>
                </a:solidFill>
                <a:latin typeface="Segoe UI"/>
              </a:rPr>
              <a:t>Zwei inhaltliche Schwerpunkte: die KI-Reflexion und die Erweiterbarkeits-Architektur.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EINLEITUNG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Kontext &amp; 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1:30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01 · KONTEXT &amp;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03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600200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A8B2"/>
                </a:solidFill>
                <a:latin typeface="Consolas"/>
              </a:rPr>
              <a:t>AUSGANGSLAGE — FRAGMENTIERT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148840"/>
            <a:ext cx="1737360" cy="6400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A8B2"/>
                </a:solidFill>
                <a:latin typeface="Consolas"/>
              </a:rPr>
              <a:t>Aufgaben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148840"/>
            <a:ext cx="1737360" cy="6400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A8B2"/>
                </a:solidFill>
                <a:latin typeface="Consolas"/>
              </a:rPr>
              <a:t>Dateien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017520"/>
            <a:ext cx="1737360" cy="6400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A8B2"/>
                </a:solidFill>
                <a:latin typeface="Consolas"/>
              </a:rPr>
              <a:t>Chat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017520"/>
            <a:ext cx="1737360" cy="6400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A8B2"/>
                </a:solidFill>
                <a:latin typeface="Consolas"/>
              </a:rPr>
              <a:t>Kalender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60320" y="2468880"/>
            <a:ext cx="365760" cy="868680"/>
          </a:xfrm>
          <a:prstGeom prst="line">
            <a:avLst/>
          </a:prstGeom>
          <a:ln w="16510">
            <a:solidFill>
              <a:srgbClr val="E0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560320" y="2468880"/>
            <a:ext cx="365760" cy="868680"/>
          </a:xfrm>
          <a:prstGeom prst="line">
            <a:avLst/>
          </a:prstGeom>
          <a:ln w="16510">
            <a:solidFill>
              <a:srgbClr val="E0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09360" y="1600200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6C4D0"/>
                </a:solidFill>
                <a:latin typeface="Consolas"/>
              </a:rPr>
              <a:t>TEAMBOARD — KONSOLIDIERT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743200"/>
            <a:ext cx="1280160" cy="822960"/>
          </a:xfrm>
          <a:prstGeom prst="rect">
            <a:avLst/>
          </a:prstGeom>
          <a:solidFill>
            <a:srgbClr val="142733"/>
          </a:solidFill>
          <a:ln w="2032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6C4D0"/>
                </a:solidFill>
                <a:latin typeface="Consolas"/>
              </a:rPr>
              <a:t>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103120"/>
            <a:ext cx="1371600" cy="5029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8B2"/>
                </a:solidFill>
                <a:latin typeface="Consolas"/>
              </a:rPr>
              <a:t>Boards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178040" y="2350008"/>
            <a:ext cx="1691640" cy="804672"/>
          </a:xfrm>
          <a:prstGeom prst="line">
            <a:avLst/>
          </a:prstGeom>
          <a:ln w="15240">
            <a:solidFill>
              <a:srgbClr val="46C4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966960" y="2103120"/>
            <a:ext cx="1371600" cy="5029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8B2"/>
                </a:solidFill>
                <a:latin typeface="Consolas"/>
              </a:rPr>
              <a:t>Tasks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8869680" y="2350008"/>
            <a:ext cx="1783080" cy="804672"/>
          </a:xfrm>
          <a:prstGeom prst="line">
            <a:avLst/>
          </a:prstGeom>
          <a:ln w="15240">
            <a:solidFill>
              <a:srgbClr val="46C4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309360" y="3657600"/>
            <a:ext cx="1371600" cy="5029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8B2"/>
                </a:solidFill>
                <a:latin typeface="Consolas"/>
              </a:rPr>
              <a:t>Dokumente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6995160" y="3154680"/>
            <a:ext cx="1874520" cy="749807"/>
          </a:xfrm>
          <a:prstGeom prst="line">
            <a:avLst/>
          </a:prstGeom>
          <a:ln w="15240">
            <a:solidFill>
              <a:srgbClr val="46C4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0058400" y="3657600"/>
            <a:ext cx="1371600" cy="5029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8B2"/>
                </a:solidFill>
                <a:latin typeface="Consolas"/>
              </a:rPr>
              <a:t>Notifs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69680" y="3154680"/>
            <a:ext cx="1874520" cy="749807"/>
          </a:xfrm>
          <a:prstGeom prst="line">
            <a:avLst/>
          </a:prstGeom>
          <a:ln w="15240">
            <a:solidFill>
              <a:srgbClr val="46C4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138160" y="4114800"/>
            <a:ext cx="1371600" cy="5029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8B2"/>
                </a:solidFill>
                <a:latin typeface="Consolas"/>
              </a:rPr>
              <a:t>Projekte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823960" y="3154680"/>
            <a:ext cx="45720" cy="1207008"/>
          </a:xfrm>
          <a:prstGeom prst="line">
            <a:avLst/>
          </a:prstGeom>
          <a:ln w="15240">
            <a:solidFill>
              <a:srgbClr val="46C4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5029200"/>
            <a:ext cx="1106424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400" b="1" i="0">
                <a:solidFill>
                  <a:srgbClr val="DCE7EC"/>
                </a:solidFill>
                <a:latin typeface="Segoe UI"/>
              </a:rPr>
              <a:t>Fokus laut Aufgabe:</a:t>
            </a:r>
            <a:r>
              <a:rPr sz="1400" b="0" i="0">
                <a:solidFill>
                  <a:srgbClr val="DCE7EC"/>
                </a:solidFill>
                <a:latin typeface="Segoe UI"/>
              </a:rPr>
              <a:t> skalierbare, komponentenbasierte Architektur — nicht Feature-Fülle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400" b="1" i="0">
                <a:solidFill>
                  <a:srgbClr val="DCE7EC"/>
                </a:solidFill>
                <a:latin typeface="Segoe UI"/>
              </a:rPr>
              <a:t>Leitfragen:</a:t>
            </a:r>
            <a:r>
              <a:rPr sz="1400" b="0" i="0">
                <a:solidFill>
                  <a:srgbClr val="DCE7EC"/>
                </a:solidFill>
                <a:latin typeface="Segoe UI"/>
              </a:rPr>
              <a:t> Echtzeit-Events verteilen · unabhängig skalieren · Datenkonsistenz · </a:t>
            </a:r>
            <a:r>
              <a:rPr sz="1400" b="1" i="0">
                <a:solidFill>
                  <a:srgbClr val="DCE7EC"/>
                </a:solidFill>
                <a:latin typeface="Segoe UI"/>
              </a:rPr>
              <a:t>MVP</a:t>
            </a:r>
            <a:r>
              <a:rPr sz="1400" b="0" i="0">
                <a:solidFill>
                  <a:srgbClr val="DCE7EC"/>
                </a:solidFill>
                <a:latin typeface="Segoe UI"/>
              </a:rPr>
              <a:t> als roter Faden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EINLEITUNG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Team &amp; Aufgabenverteilung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1:00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01 · KONTEXT &amp;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04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1600200"/>
          <a:ext cx="7589520" cy="3108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54480"/>
                <a:gridCol w="2926080"/>
                <a:gridCol w="3108960"/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46C4D0"/>
                          </a:solidFill>
                          <a:latin typeface="Consolas"/>
                        </a:rPr>
                        <a:t>PERSON</a:t>
                      </a:r>
                    </a:p>
                  </a:txBody>
                  <a:tcPr anchor="ctr" marL="109728" marT="27432" marB="27432">
                    <a:solidFill>
                      <a:srgbClr val="1427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46C4D0"/>
                          </a:solidFill>
                          <a:latin typeface="Consolas"/>
                        </a:rPr>
                        <a:t>SCHWERPUNKT</a:t>
                      </a:r>
                    </a:p>
                  </a:txBody>
                  <a:tcPr anchor="ctr" marL="109728" marT="27432" marB="27432">
                    <a:solidFill>
                      <a:srgbClr val="1427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46C4D0"/>
                          </a:solidFill>
                          <a:latin typeface="Consolas"/>
                        </a:rPr>
                        <a:t>SERVICES / BEREICH</a:t>
                      </a:r>
                    </a:p>
                  </a:txBody>
                  <a:tcPr anchor="ctr" marL="109728" marT="27432" marB="27432">
                    <a:solidFill>
                      <a:srgbClr val="14273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DCE7EC"/>
                          </a:solidFill>
                          <a:latin typeface="Consolas"/>
                        </a:rPr>
                        <a:t>[Name]</a:t>
                      </a:r>
                    </a:p>
                  </a:txBody>
                  <a:tcPr anchor="ctr" marL="109728" marT="27432" marB="27432">
                    <a:solidFill>
                      <a:srgbClr val="1020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DCE7EC"/>
                          </a:solidFill>
                          <a:latin typeface="Segoe UI"/>
                        </a:rPr>
                        <a:t>Auth &amp; Gateway, Zero-Trust</a:t>
                      </a:r>
                    </a:p>
                  </a:txBody>
                  <a:tcPr anchor="ctr" marL="109728" marT="27432" marB="27432">
                    <a:solidFill>
                      <a:srgbClr val="1020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DCE7EC"/>
                          </a:solidFill>
                          <a:latin typeface="Segoe UI"/>
                        </a:rPr>
                        <a:t>Auth · Traefik · authmiddleware</a:t>
                      </a:r>
                    </a:p>
                  </a:txBody>
                  <a:tcPr anchor="ctr" marL="109728" marT="27432" marB="27432">
                    <a:solidFill>
                      <a:srgbClr val="10202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DCE7EC"/>
                          </a:solidFill>
                          <a:latin typeface="Consolas"/>
                        </a:rPr>
                        <a:t>[Name]</a:t>
                      </a:r>
                    </a:p>
                  </a:txBody>
                  <a:tcPr anchor="ctr" marL="109728" marT="27432" marB="27432">
                    <a:solidFill>
                      <a:srgbClr val="0C16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DCE7EC"/>
                          </a:solidFill>
                          <a:latin typeface="Segoe UI"/>
                        </a:rPr>
                        <a:t>Domänen-Kern</a:t>
                      </a:r>
                    </a:p>
                  </a:txBody>
                  <a:tcPr anchor="ctr" marL="109728" marT="27432" marB="27432">
                    <a:solidFill>
                      <a:srgbClr val="0C16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DCE7EC"/>
                          </a:solidFill>
                          <a:latin typeface="Segoe UI"/>
                        </a:rPr>
                        <a:t>Project (Permissions) · Task</a:t>
                      </a:r>
                    </a:p>
                  </a:txBody>
                  <a:tcPr anchor="ctr" marL="109728" marT="27432" marB="27432">
                    <a:solidFill>
                      <a:srgbClr val="0C162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DCE7EC"/>
                          </a:solidFill>
                          <a:latin typeface="Consolas"/>
                        </a:rPr>
                        <a:t>[Name]</a:t>
                      </a:r>
                    </a:p>
                  </a:txBody>
                  <a:tcPr anchor="ctr" marL="109728" marT="27432" marB="27432">
                    <a:solidFill>
                      <a:srgbClr val="1020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DCE7EC"/>
                          </a:solidFill>
                          <a:latin typeface="Segoe UI"/>
                        </a:rPr>
                        <a:t>Storage &amp; Realtime</a:t>
                      </a:r>
                    </a:p>
                  </a:txBody>
                  <a:tcPr anchor="ctr" marL="109728" marT="27432" marB="27432">
                    <a:solidFill>
                      <a:srgbClr val="1020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DCE7EC"/>
                          </a:solidFill>
                          <a:latin typeface="Segoe UI"/>
                        </a:rPr>
                        <a:t>Document · Notification</a:t>
                      </a:r>
                    </a:p>
                  </a:txBody>
                  <a:tcPr anchor="ctr" marL="109728" marT="27432" marB="27432">
                    <a:solidFill>
                      <a:srgbClr val="10202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DCE7EC"/>
                          </a:solidFill>
                          <a:latin typeface="Consolas"/>
                        </a:rPr>
                        <a:t>[Name]</a:t>
                      </a:r>
                    </a:p>
                  </a:txBody>
                  <a:tcPr anchor="ctr" marL="109728" marT="27432" marB="27432">
                    <a:solidFill>
                      <a:srgbClr val="0C16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DCE7EC"/>
                          </a:solidFill>
                          <a:latin typeface="Segoe UI"/>
                        </a:rPr>
                        <a:t>Erweiterbarkeit &amp; Frontend</a:t>
                      </a:r>
                    </a:p>
                  </a:txBody>
                  <a:tcPr anchor="ctr" marL="109728" marT="27432" marB="27432">
                    <a:solidFill>
                      <a:srgbClr val="0C16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DCE7EC"/>
                          </a:solidFill>
                          <a:latin typeface="Segoe UI"/>
                        </a:rPr>
                        <a:t>Board Registry · Plugin · React-SPA</a:t>
                      </a:r>
                    </a:p>
                  </a:txBody>
                  <a:tcPr anchor="ctr" marL="109728" marT="27432" marB="27432">
                    <a:solidFill>
                      <a:srgbClr val="0C1620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8366760" y="1600200"/>
            <a:ext cx="3246120" cy="3108960"/>
          </a:xfrm>
          <a:prstGeom prst="rect">
            <a:avLst/>
          </a:prstGeom>
          <a:solidFill>
            <a:srgbClr val="2A2214"/>
          </a:solidFill>
          <a:ln w="1651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1709928"/>
            <a:ext cx="2953512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2A33C"/>
                </a:solidFill>
                <a:latin typeface="Consolas"/>
              </a:rPr>
              <a:t>KI IM PROJEKT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148840"/>
            <a:ext cx="2971800" cy="2377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DCE7EC"/>
                </a:solidFill>
                <a:latin typeface="Segoe UI"/>
              </a:rPr>
              <a:t>Opus 4.7 durchgängig als Pair-Partner: </a:t>
            </a:r>
            <a:r>
              <a:rPr sz="1500" b="1" i="0">
                <a:solidFill>
                  <a:srgbClr val="E2A33C"/>
                </a:solidFill>
                <a:latin typeface="Consolas"/>
              </a:rPr>
              <a:t>Entwurf → Code → Doku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93A8B2"/>
                </a:solidFill>
                <a:latin typeface="Segoe UI"/>
              </a:rPr>
              <a:t>Deklariert eingesetzt — Reflexion in Kap. 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074920"/>
            <a:ext cx="10058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3A8B2"/>
                </a:solidFill>
                <a:latin typeface="Segoe UI"/>
              </a:rPr>
              <a:t>Schnitt entlang der Bounded Contexts · Querschnitt (shared libs, Event-Schema, Deployment) gemeinsam.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PROJEKTBESCHREIBUNG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Interpretation der Aufgabenstellung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1:30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02 · ANFORDERUNGEN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05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0200"/>
            <a:ext cx="5394960" cy="39319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709928"/>
            <a:ext cx="5102352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6C4D0"/>
                </a:solidFill>
                <a:latin typeface="Consolas"/>
              </a:rPr>
              <a:t>LASTENHEFT — ORIGINAL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94560"/>
            <a:ext cx="5029200" cy="3200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Projekte / Boards · Tasks (Status, Zuweisung, Fälligkeit)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Kommentare · Dokumente mit Versionierung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Echtzeit-Benachrichtigungen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Plugin-Architektur · API für Fremdsysteme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00200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6C4D0"/>
                </a:solidFill>
                <a:latin typeface="Consolas"/>
              </a:rPr>
              <a:t>UNSERE LESART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057400"/>
            <a:ext cx="2651760" cy="15544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CE7EC"/>
                </a:solidFill>
                <a:latin typeface="Segoe UI"/>
              </a:rPr>
              <a:t>MVP zuerst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2057400"/>
            <a:ext cx="2651760" cy="15544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CE7EC"/>
                </a:solidFill>
                <a:latin typeface="Segoe UI"/>
              </a:rPr>
              <a:t>Architektur vor Features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794760"/>
            <a:ext cx="2651760" cy="15544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CE7EC"/>
                </a:solidFill>
                <a:latin typeface="Segoe UI"/>
              </a:rPr>
              <a:t>Erweiterbarkeit first-class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3794760"/>
            <a:ext cx="2651760" cy="15544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CE7EC"/>
                </a:solidFill>
                <a:latin typeface="Segoe UI"/>
              </a:rPr>
              <a:t>API-first &amp; 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PROJEKTBESCHREIBUNG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Anforderungen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1:30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02 · ANFORDERUNGEN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06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600200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6C4D0"/>
                </a:solidFill>
                <a:latin typeface="Consolas"/>
              </a:rPr>
              <a:t>FUNKTIONAL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11680"/>
            <a:ext cx="5394960" cy="3657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Projekt-/Board-Verwaltung mit Rollen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Kanban-Tasks: Status, Zuweisung, Fälligkeit, Kommentare, Anhänge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Dokumentenablage + Versionierung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Echtzeit-Benachrichtigungen (WebSocket)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Webhook-Integrationen · erweiterbare Board-Typen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600200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A33C"/>
                </a:solidFill>
                <a:latin typeface="Consolas"/>
              </a:rPr>
              <a:t>NICHTFUNKTIONAL — DER EIGENTLICHE KERN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057400"/>
            <a:ext cx="5303520" cy="457200"/>
          </a:xfrm>
          <a:prstGeom prst="rect">
            <a:avLst/>
          </a:prstGeom>
          <a:solidFill>
            <a:srgbClr val="10202C"/>
          </a:solidFill>
          <a:ln w="1270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2A33C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DCE7EC"/>
                </a:solidFill>
                <a:latin typeface="Consolas"/>
              </a:rPr>
              <a:t>Zero-Trust → JWT je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624328"/>
            <a:ext cx="5303520" cy="457200"/>
          </a:xfrm>
          <a:prstGeom prst="rect">
            <a:avLst/>
          </a:prstGeom>
          <a:solidFill>
            <a:srgbClr val="10202C"/>
          </a:solidFill>
          <a:ln w="1270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2A33C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DCE7EC"/>
                </a:solidFill>
                <a:latin typeface="Consolas"/>
              </a:rPr>
              <a:t>Horizontale Skalierbarkeit / Stateless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191256"/>
            <a:ext cx="5303520" cy="457200"/>
          </a:xfrm>
          <a:prstGeom prst="rect">
            <a:avLst/>
          </a:prstGeom>
          <a:solidFill>
            <a:srgbClr val="10202C"/>
          </a:solidFill>
          <a:ln w="1270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2A33C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DCE7EC"/>
                </a:solidFill>
                <a:latin typeface="Consolas"/>
              </a:rPr>
              <a:t>Eventual Consistency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758184"/>
            <a:ext cx="5303520" cy="457200"/>
          </a:xfrm>
          <a:prstGeom prst="rect">
            <a:avLst/>
          </a:prstGeom>
          <a:solidFill>
            <a:srgbClr val="10202C"/>
          </a:solidFill>
          <a:ln w="1270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2A33C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DCE7EC"/>
                </a:solidFill>
                <a:latin typeface="Consolas"/>
              </a:rPr>
              <a:t>Erweiterbarkeit ohne Redeploy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325112"/>
            <a:ext cx="5303520" cy="457200"/>
          </a:xfrm>
          <a:prstGeom prst="rect">
            <a:avLst/>
          </a:prstGeom>
          <a:solidFill>
            <a:srgbClr val="10202C"/>
          </a:solidFill>
          <a:ln w="1270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2A33C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DCE7EC"/>
                </a:solidFill>
                <a:latin typeface="Consolas"/>
              </a:rPr>
              <a:t>Observability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892040"/>
            <a:ext cx="5303520" cy="457200"/>
          </a:xfrm>
          <a:prstGeom prst="rect">
            <a:avLst/>
          </a:prstGeom>
          <a:solidFill>
            <a:srgbClr val="10202C"/>
          </a:solidFill>
          <a:ln w="1270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2A33C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DCE7EC"/>
                </a:solidFill>
                <a:latin typeface="Consolas"/>
              </a:rPr>
              <a:t>Resilienz: Timeout / Retry / Circuit-Breaker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PROJEKTBESCHREIBUNG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User Stories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1:00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02 · ANFORDERUNGEN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07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60020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A8B2"/>
                </a:solidFill>
                <a:latin typeface="Consolas"/>
              </a:rPr>
              <a:t>ALS … MÖCHTE ICH … DAMIT 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011680"/>
            <a:ext cx="5440680" cy="123444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39696"/>
            <a:ext cx="5029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C4D0"/>
                </a:solidFill>
                <a:latin typeface="Consolas"/>
              </a:rPr>
              <a:t>STORY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468880"/>
            <a:ext cx="5029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DCE7EC"/>
                </a:solidFill>
                <a:latin typeface="Segoe UI"/>
              </a:rPr>
              <a:t>Projektleiter legt Board an und lädt Mitglieder mit Rollen ein.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011680"/>
            <a:ext cx="5440680" cy="1234440"/>
          </a:xfrm>
          <a:prstGeom prst="rect">
            <a:avLst/>
          </a:prstGeom>
          <a:solidFill>
            <a:srgbClr val="10202C"/>
          </a:solidFill>
          <a:ln w="1270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139696"/>
            <a:ext cx="5029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2A33C"/>
                </a:solidFill>
                <a:latin typeface="Consolas"/>
              </a:rPr>
              <a:t>STORY 02 ·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468880"/>
            <a:ext cx="5029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DCE7EC"/>
                </a:solidFill>
                <a:latin typeface="Segoe UI"/>
              </a:rPr>
              <a:t>Teammitglied verschiebt Task von „In Arbeit“ nach „Erledigt“.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429000"/>
            <a:ext cx="5440680" cy="123444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57016"/>
            <a:ext cx="5029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C4D0"/>
                </a:solidFill>
                <a:latin typeface="Consolas"/>
              </a:rPr>
              <a:t>STORY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86200"/>
            <a:ext cx="5029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DCE7EC"/>
                </a:solidFill>
                <a:latin typeface="Segoe UI"/>
              </a:rPr>
              <a:t>Autor hängt eine Datei-Version an einen Task.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3429000"/>
            <a:ext cx="5440680" cy="123444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557016"/>
            <a:ext cx="5029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C4D0"/>
                </a:solidFill>
                <a:latin typeface="Consolas"/>
              </a:rPr>
              <a:t>STORY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886200"/>
            <a:ext cx="5029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DCE7EC"/>
                </a:solidFill>
                <a:latin typeface="Segoe UI"/>
              </a:rPr>
              <a:t>Nutzer erhält live eine Benachrichtigung bei @Mention.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846320"/>
            <a:ext cx="11064240" cy="82296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29200"/>
            <a:ext cx="106070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A8B2"/>
                </a:solidFill>
                <a:latin typeface="Consolas"/>
              </a:rPr>
              <a:t>INTEGRATOR 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CI-Pipeline registriert Webhook auf </a:t>
            </a:r>
            <a:r>
              <a:rPr sz="1500" b="0" i="0">
                <a:solidFill>
                  <a:srgbClr val="46C4D0"/>
                </a:solidFill>
                <a:latin typeface="Consolas"/>
              </a:rPr>
              <a:t>task.status.changed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1" i="0">
                <a:solidFill>
                  <a:srgbClr val="E2A33C"/>
                </a:solidFill>
                <a:latin typeface="Consolas"/>
              </a:rPr>
              <a:t>★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ENTWURF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Architektur-Überblick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2:30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03 · ARCHITEKTUR &amp; KOMPONENTEN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08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91640"/>
            <a:ext cx="3657600" cy="502920"/>
          </a:xfrm>
          <a:prstGeom prst="rect">
            <a:avLst/>
          </a:prstGeom>
          <a:solidFill>
            <a:srgbClr val="10202C"/>
          </a:solidFill>
          <a:ln w="1651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CE7EC"/>
                </a:solidFill>
                <a:latin typeface="Segoe UI"/>
              </a:rPr>
              <a:t>Browser · React-SPA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691640"/>
            <a:ext cx="3657600" cy="502920"/>
          </a:xfrm>
          <a:prstGeom prst="rect">
            <a:avLst/>
          </a:prstGeom>
          <a:solidFill>
            <a:srgbClr val="10202C"/>
          </a:solidFill>
          <a:ln w="1397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CE7EC"/>
                </a:solidFill>
                <a:latin typeface="Segoe UI"/>
              </a:rPr>
              <a:t>Externe Systeme (Webhooks)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377440"/>
            <a:ext cx="11045952" cy="502920"/>
          </a:xfrm>
          <a:prstGeom prst="rect">
            <a:avLst/>
          </a:prstGeom>
          <a:solidFill>
            <a:srgbClr val="0F2830"/>
          </a:solidFill>
          <a:ln w="1778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Traefik Gateway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8B2"/>
                </a:solidFill>
                <a:latin typeface="Consolas"/>
              </a:rPr>
              <a:t>Rate-Limit · CORS · Security-Header · Routing · Trace-ID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154680"/>
            <a:ext cx="1517904" cy="777240"/>
          </a:xfrm>
          <a:prstGeom prst="rect">
            <a:avLst/>
          </a:prstGeom>
          <a:solidFill>
            <a:srgbClr val="142733"/>
          </a:solidFill>
          <a:ln w="1397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7EC"/>
                </a:solidFill>
                <a:latin typeface="Segoe UI"/>
              </a:rPr>
              <a:t>Auth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8B2"/>
                </a:solidFill>
                <a:latin typeface="Consolas"/>
              </a:rPr>
              <a:t>:8001 · JWKS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25880" y="2880360"/>
            <a:ext cx="0" cy="274320"/>
          </a:xfrm>
          <a:prstGeom prst="line">
            <a:avLst/>
          </a:prstGeom>
          <a:ln w="12700">
            <a:solidFill>
              <a:srgbClr val="2B4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153412" y="3154680"/>
            <a:ext cx="1517904" cy="777240"/>
          </a:xfrm>
          <a:prstGeom prst="rect">
            <a:avLst/>
          </a:prstGeom>
          <a:solidFill>
            <a:srgbClr val="142733"/>
          </a:solidFill>
          <a:ln w="2032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2A33C"/>
                </a:solidFill>
                <a:latin typeface="Segoe UI"/>
              </a:rPr>
              <a:t>Project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2A33C"/>
                </a:solidFill>
                <a:latin typeface="Consolas"/>
              </a:rPr>
              <a:t>:8002 · Authority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12364" y="2880360"/>
            <a:ext cx="0" cy="274320"/>
          </a:xfrm>
          <a:prstGeom prst="line">
            <a:avLst/>
          </a:prstGeom>
          <a:ln w="12700">
            <a:solidFill>
              <a:srgbClr val="2B4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739896" y="3154680"/>
            <a:ext cx="1517904" cy="777240"/>
          </a:xfrm>
          <a:prstGeom prst="rect">
            <a:avLst/>
          </a:prstGeom>
          <a:solidFill>
            <a:srgbClr val="142733"/>
          </a:solidFill>
          <a:ln w="1397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7EC"/>
                </a:solidFill>
                <a:latin typeface="Segoe UI"/>
              </a:rPr>
              <a:t>Task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8B2"/>
                </a:solidFill>
                <a:latin typeface="Consolas"/>
              </a:rPr>
              <a:t>:8003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98848" y="2880360"/>
            <a:ext cx="0" cy="274320"/>
          </a:xfrm>
          <a:prstGeom prst="line">
            <a:avLst/>
          </a:prstGeom>
          <a:ln w="12700">
            <a:solidFill>
              <a:srgbClr val="2B4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326380" y="3154680"/>
            <a:ext cx="1517904" cy="777240"/>
          </a:xfrm>
          <a:prstGeom prst="rect">
            <a:avLst/>
          </a:prstGeom>
          <a:solidFill>
            <a:srgbClr val="142733"/>
          </a:solidFill>
          <a:ln w="1397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7EC"/>
                </a:solidFill>
                <a:latin typeface="Segoe UI"/>
              </a:rPr>
              <a:t>Document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8B2"/>
                </a:solidFill>
                <a:latin typeface="Consolas"/>
              </a:rPr>
              <a:t>:8004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5332" y="2880360"/>
            <a:ext cx="0" cy="274320"/>
          </a:xfrm>
          <a:prstGeom prst="line">
            <a:avLst/>
          </a:prstGeom>
          <a:ln w="12700">
            <a:solidFill>
              <a:srgbClr val="2B4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912864" y="3154680"/>
            <a:ext cx="1517904" cy="777240"/>
          </a:xfrm>
          <a:prstGeom prst="rect">
            <a:avLst/>
          </a:prstGeom>
          <a:solidFill>
            <a:srgbClr val="142733"/>
          </a:solidFill>
          <a:ln w="1397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7EC"/>
                </a:solidFill>
                <a:latin typeface="Segoe UI"/>
              </a:rPr>
              <a:t>Notif.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8B2"/>
                </a:solidFill>
                <a:latin typeface="Consolas"/>
              </a:rPr>
              <a:t>:8005 · WS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71816" y="2880360"/>
            <a:ext cx="0" cy="274320"/>
          </a:xfrm>
          <a:prstGeom prst="line">
            <a:avLst/>
          </a:prstGeom>
          <a:ln w="12700">
            <a:solidFill>
              <a:srgbClr val="2B4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499348" y="3154680"/>
            <a:ext cx="1517904" cy="777240"/>
          </a:xfrm>
          <a:prstGeom prst="rect">
            <a:avLst/>
          </a:prstGeom>
          <a:solidFill>
            <a:srgbClr val="142733"/>
          </a:solidFill>
          <a:ln w="1397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7EC"/>
                </a:solidFill>
                <a:latin typeface="Segoe UI"/>
              </a:rPr>
              <a:t>Plugin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8B2"/>
                </a:solidFill>
                <a:latin typeface="Consolas"/>
              </a:rPr>
              <a:t>:8006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58300" y="2880360"/>
            <a:ext cx="0" cy="274320"/>
          </a:xfrm>
          <a:prstGeom prst="line">
            <a:avLst/>
          </a:prstGeom>
          <a:ln w="12700">
            <a:solidFill>
              <a:srgbClr val="2B4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0085832" y="3154680"/>
            <a:ext cx="1737360" cy="777240"/>
          </a:xfrm>
          <a:prstGeom prst="rect">
            <a:avLst/>
          </a:prstGeom>
          <a:solidFill>
            <a:srgbClr val="142733"/>
          </a:solidFill>
          <a:ln w="1397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E7EC"/>
                </a:solidFill>
                <a:latin typeface="Segoe UI"/>
              </a:rPr>
              <a:t>Board-Registry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8B2"/>
                </a:solidFill>
                <a:latin typeface="Consolas"/>
              </a:rPr>
              <a:t>:8007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954512" y="2880360"/>
            <a:ext cx="0" cy="274320"/>
          </a:xfrm>
          <a:prstGeom prst="line">
            <a:avLst/>
          </a:prstGeom>
          <a:ln w="12700">
            <a:solidFill>
              <a:srgbClr val="2B4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77440" y="2194560"/>
            <a:ext cx="0" cy="182880"/>
          </a:xfrm>
          <a:prstGeom prst="line">
            <a:avLst/>
          </a:prstGeom>
          <a:ln w="17780">
            <a:solidFill>
              <a:srgbClr val="46C4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66928" y="4343400"/>
            <a:ext cx="2651760" cy="548640"/>
          </a:xfrm>
          <a:prstGeom prst="rect">
            <a:avLst/>
          </a:prstGeom>
          <a:solidFill>
            <a:srgbClr val="10202C"/>
          </a:solidFill>
          <a:ln w="1397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CE7EC"/>
                </a:solidFill>
                <a:latin typeface="Segoe UI"/>
              </a:rPr>
              <a:t>PostgreSQL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8B2"/>
                </a:solidFill>
                <a:latin typeface="Consolas"/>
              </a:rPr>
              <a:t>DB-per-Service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73552" y="4343400"/>
            <a:ext cx="2651760" cy="548640"/>
          </a:xfrm>
          <a:prstGeom prst="rect">
            <a:avLst/>
          </a:prstGeom>
          <a:solidFill>
            <a:srgbClr val="10202C"/>
          </a:solidFill>
          <a:ln w="1397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CE7EC"/>
                </a:solidFill>
                <a:latin typeface="Segoe UI"/>
              </a:rPr>
              <a:t>Redis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8B2"/>
                </a:solidFill>
                <a:latin typeface="Consolas"/>
              </a:rPr>
              <a:t>Cache · Backplane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0176" y="4343400"/>
            <a:ext cx="3200400" cy="548640"/>
          </a:xfrm>
          <a:prstGeom prst="rect">
            <a:avLst/>
          </a:prstGeom>
          <a:solidFill>
            <a:srgbClr val="10202C"/>
          </a:solidFill>
          <a:ln w="1397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CE7EC"/>
                </a:solidFill>
                <a:latin typeface="Segoe UI"/>
              </a:rPr>
              <a:t>RabbitMQ · teamboard.events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8B2"/>
                </a:solidFill>
                <a:latin typeface="Consolas"/>
              </a:rPr>
              <a:t>topic exchange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4343400"/>
            <a:ext cx="2450592" cy="548640"/>
          </a:xfrm>
          <a:prstGeom prst="rect">
            <a:avLst/>
          </a:prstGeom>
          <a:solidFill>
            <a:srgbClr val="10202C"/>
          </a:solidFill>
          <a:ln w="1397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CE7EC"/>
                </a:solidFill>
                <a:latin typeface="Segoe UI"/>
              </a:rPr>
              <a:t>MinIO / S3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8B2"/>
                </a:solidFill>
                <a:latin typeface="Consolas"/>
              </a:rPr>
              <a:t>Objektspeicher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03120" y="3931920"/>
            <a:ext cx="3840480" cy="411480"/>
          </a:xfrm>
          <a:prstGeom prst="line">
            <a:avLst/>
          </a:prstGeom>
          <a:ln w="17780">
            <a:solidFill>
              <a:srgbClr val="E2A3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2377440" y="2194560"/>
            <a:ext cx="3931920" cy="960120"/>
          </a:xfrm>
          <a:prstGeom prst="line">
            <a:avLst/>
          </a:prstGeom>
          <a:ln w="17780">
            <a:solidFill>
              <a:srgbClr val="46C4D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6928" y="5074920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CE7EC"/>
                </a:solidFill>
                <a:latin typeface="Consolas"/>
              </a:rPr>
              <a:t>──── </a:t>
            </a:r>
            <a:r>
              <a:rPr sz="1150" b="0" i="0">
                <a:solidFill>
                  <a:srgbClr val="93A8B2"/>
                </a:solidFill>
                <a:latin typeface="Consolas"/>
              </a:rPr>
              <a:t>synchron/HTTP    </a:t>
            </a:r>
            <a:r>
              <a:rPr sz="1150" b="0" i="0">
                <a:solidFill>
                  <a:srgbClr val="E2A33C"/>
                </a:solidFill>
                <a:latin typeface="Consolas"/>
              </a:rPr>
              <a:t>– – </a:t>
            </a:r>
            <a:r>
              <a:rPr sz="1150" b="0" i="0">
                <a:solidFill>
                  <a:srgbClr val="93A8B2"/>
                </a:solidFill>
                <a:latin typeface="Consolas"/>
              </a:rPr>
              <a:t>asynchron/Event    </a:t>
            </a:r>
            <a:r>
              <a:rPr sz="1150" b="0" i="0">
                <a:solidFill>
                  <a:srgbClr val="46C4D0"/>
                </a:solidFill>
                <a:latin typeface="Consolas"/>
              </a:rPr>
              <a:t>···· </a:t>
            </a:r>
            <a:r>
              <a:rPr sz="1150" b="0" i="0">
                <a:solidFill>
                  <a:srgbClr val="93A8B2"/>
                </a:solidFill>
                <a:latin typeface="Consolas"/>
              </a:rPr>
              <a:t>WebSocket        </a:t>
            </a:r>
            <a:r>
              <a:rPr sz="1150" b="0" i="0">
                <a:solidFill>
                  <a:srgbClr val="E2A33C"/>
                </a:solidFill>
                <a:latin typeface="Consolas"/>
              </a:rPr>
              <a:t>★ Project = autoritative Permission-Quelle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6C4D0"/>
                </a:solidFill>
                <a:latin typeface="Segoe UI"/>
              </a:rPr>
              <a:t>Fünf Kernentscheidungen:  </a:t>
            </a:r>
            <a:r>
              <a:rPr sz="1250" b="0" i="0">
                <a:solidFill>
                  <a:srgbClr val="93A8B2"/>
                </a:solidFill>
                <a:latin typeface="Segoe UI"/>
              </a:rPr>
              <a:t>Bounded Contexts · DB-per-Service · Event-Backbone (RabbitMQ) · Gateway als Single Entry · Stateless als Default (nur Notification stateful).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ENTWURF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Leitprinzipien der Architektur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1:30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03 · ARCHITEKTUR &amp; KOMPONENTEN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09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0200"/>
            <a:ext cx="2194560" cy="114300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CE7EC"/>
                </a:solidFill>
                <a:latin typeface="Segoe UI"/>
              </a:rPr>
              <a:t>Domain-Driven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16352" y="1600200"/>
            <a:ext cx="2194560" cy="114300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CE7EC"/>
                </a:solidFill>
                <a:latin typeface="Segoe UI"/>
              </a:rPr>
              <a:t>Database-per-Service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65776" y="1600200"/>
            <a:ext cx="2194560" cy="1143000"/>
          </a:xfrm>
          <a:prstGeom prst="rect">
            <a:avLst/>
          </a:prstGeom>
          <a:solidFill>
            <a:srgbClr val="2A2214"/>
          </a:solidFill>
          <a:ln w="1270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DCE7EC"/>
                </a:solidFill>
                <a:latin typeface="Segoe UI"/>
              </a:rPr>
              <a:t>Async-First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2A33C"/>
                </a:solidFill>
                <a:latin typeface="Consolas"/>
              </a:rPr>
              <a:t>TRADE-OFF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600200"/>
            <a:ext cx="2194560" cy="114300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CE7EC"/>
                </a:solidFill>
                <a:latin typeface="Segoe UI"/>
              </a:rPr>
              <a:t>Stateless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1600200"/>
            <a:ext cx="2194560" cy="114300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CE7EC"/>
                </a:solidFill>
                <a:latin typeface="Segoe UI"/>
              </a:rPr>
              <a:t>Smart Endpoints, Dumb Pipes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889504"/>
            <a:ext cx="2194560" cy="114300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CE7EC"/>
                </a:solidFill>
                <a:latin typeface="Segoe UI"/>
              </a:rPr>
              <a:t>API-first · OpenAPI/AsyncAPI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16352" y="2889504"/>
            <a:ext cx="2194560" cy="1143000"/>
          </a:xfrm>
          <a:prstGeom prst="rect">
            <a:avLst/>
          </a:prstGeom>
          <a:solidFill>
            <a:srgbClr val="2A2214"/>
          </a:solidFill>
          <a:ln w="1270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DCE7EC"/>
                </a:solidFill>
                <a:latin typeface="Segoe UI"/>
              </a:rPr>
              <a:t>Eventual Consistency · Outbox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2A33C"/>
                </a:solidFill>
                <a:latin typeface="Consolas"/>
              </a:rPr>
              <a:t>TRADE-OFF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65776" y="2889504"/>
            <a:ext cx="2194560" cy="114300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CE7EC"/>
                </a:solidFill>
                <a:latin typeface="Segoe UI"/>
              </a:rPr>
              <a:t>Idempotente Event-Handler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889504"/>
            <a:ext cx="2194560" cy="114300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CE7EC"/>
                </a:solidFill>
                <a:latin typeface="Segoe UI"/>
              </a:rPr>
              <a:t>Resilience by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64624" y="2889504"/>
            <a:ext cx="2194560" cy="1143000"/>
          </a:xfrm>
          <a:prstGeom prst="rect">
            <a:avLst/>
          </a:prstGeom>
          <a:solidFill>
            <a:srgbClr val="2A2214"/>
          </a:solidFill>
          <a:ln w="1270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DCE7EC"/>
                </a:solidFill>
                <a:latin typeface="Segoe UI"/>
              </a:rPr>
              <a:t>Security in Depth · Zero-Trust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2A33C"/>
                </a:solidFill>
                <a:latin typeface="Consolas"/>
              </a:rPr>
              <a:t>TRADE-OFF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892040"/>
            <a:ext cx="1106424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CE7EC"/>
                </a:solidFill>
                <a:latin typeface="Segoe UI"/>
              </a:rPr>
              <a:t>Trade-offs:  </a:t>
            </a:r>
            <a:r>
              <a:rPr sz="1400" b="0" i="0">
                <a:solidFill>
                  <a:srgbClr val="93A8B2"/>
                </a:solidFill>
                <a:latin typeface="Segoe UI"/>
              </a:rPr>
              <a:t>Zero-Trust = jeder Service validiert JWT selbst (mehr Redundanz, kein implizites Netz-Vertrauen). Async-First = lose Kopplung, aber Eventual Consistency aushalten. Abweichungen nur per </a:t>
            </a:r>
            <a:r>
              <a:rPr sz="1400" b="0" i="0">
                <a:solidFill>
                  <a:srgbClr val="46C4D0"/>
                </a:solidFill>
                <a:latin typeface="Consolas"/>
              </a:rPr>
              <a:t>ADR</a:t>
            </a:r>
            <a:r>
              <a:rPr sz="1400" b="0" i="0">
                <a:solidFill>
                  <a:srgbClr val="93A8B2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ENTWURF · KOMPONENTEN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Auth · Task · Document —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2:00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03 · ARCHITEKTUR &amp; KOMPONENTEN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10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0200"/>
            <a:ext cx="3611880" cy="4160520"/>
          </a:xfrm>
          <a:prstGeom prst="rect">
            <a:avLst/>
          </a:prstGeom>
          <a:solidFill>
            <a:srgbClr val="10202C"/>
          </a:solidFill>
          <a:ln w="1524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600200"/>
            <a:ext cx="3611880" cy="640080"/>
          </a:xfrm>
          <a:prstGeom prst="rect">
            <a:avLst/>
          </a:prstGeom>
          <a:solidFill>
            <a:srgbClr val="142733"/>
          </a:solidFill>
          <a:ln w="1524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673352"/>
            <a:ext cx="3282696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DCE7EC"/>
                </a:solidFill>
                <a:latin typeface="Segoe UI"/>
              </a:rPr>
              <a:t>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965960"/>
            <a:ext cx="32826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6C4D0"/>
                </a:solidFill>
                <a:latin typeface="Consolas"/>
              </a:rPr>
              <a:t>:8001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468880"/>
            <a:ext cx="3246120" cy="2286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46C4D0"/>
                </a:solidFill>
                <a:latin typeface="Segoe UI"/>
              </a:rPr>
              <a:t>▪ </a:t>
            </a:r>
            <a:r>
              <a:rPr sz="1450" b="0" i="0">
                <a:solidFill>
                  <a:srgbClr val="DCE7EC"/>
                </a:solidFill>
                <a:latin typeface="Segoe UI"/>
              </a:rPr>
              <a:t>Registrierung / Login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46C4D0"/>
                </a:solidFill>
                <a:latin typeface="Segoe UI"/>
              </a:rPr>
              <a:t>▪ </a:t>
            </a:r>
            <a:r>
              <a:rPr sz="1450" b="0" i="0">
                <a:solidFill>
                  <a:srgbClr val="DCE7EC"/>
                </a:solidFill>
                <a:latin typeface="Segoe UI"/>
              </a:rPr>
              <a:t>RS256-JWT (Access + Refresh)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46C4D0"/>
                </a:solidFill>
                <a:latin typeface="Segoe UI"/>
              </a:rPr>
              <a:t>▪ </a:t>
            </a:r>
            <a:r>
              <a:rPr sz="1450" b="0" i="0">
                <a:solidFill>
                  <a:srgbClr val="DCE7EC"/>
                </a:solidFill>
                <a:latin typeface="Segoe UI"/>
              </a:rPr>
              <a:t>JWKS-Endpoint — Vertrauensanker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6C4D0"/>
                </a:solidFill>
                <a:latin typeface="Consolas"/>
              </a:rPr>
              <a:t>user.registered / deleted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257800"/>
            <a:ext cx="3246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C88"/>
                </a:solidFill>
                <a:latin typeface="Consolas"/>
              </a:rPr>
              <a:t>hängt ab von: nur eigene 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2544" y="1600200"/>
            <a:ext cx="3611880" cy="4160520"/>
          </a:xfrm>
          <a:prstGeom prst="rect">
            <a:avLst/>
          </a:prstGeom>
          <a:solidFill>
            <a:srgbClr val="10202C"/>
          </a:solidFill>
          <a:ln w="1524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2544" y="1600200"/>
            <a:ext cx="3611880" cy="640080"/>
          </a:xfrm>
          <a:prstGeom prst="rect">
            <a:avLst/>
          </a:prstGeom>
          <a:solidFill>
            <a:srgbClr val="142733"/>
          </a:solidFill>
          <a:ln w="1524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7136" y="1673352"/>
            <a:ext cx="3282696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DCE7EC"/>
                </a:solidFill>
                <a:latin typeface="Segoe UI"/>
              </a:rPr>
              <a:t>Task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1965960"/>
            <a:ext cx="32826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6C4D0"/>
                </a:solidFill>
                <a:latin typeface="Consolas"/>
              </a:rPr>
              <a:t>:8003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2468880"/>
            <a:ext cx="3246120" cy="2286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46C4D0"/>
                </a:solidFill>
                <a:latin typeface="Segoe UI"/>
              </a:rPr>
              <a:t>▪ </a:t>
            </a:r>
            <a:r>
              <a:rPr sz="1450" b="0" i="0">
                <a:solidFill>
                  <a:srgbClr val="DCE7EC"/>
                </a:solidFill>
                <a:latin typeface="Segoe UI"/>
              </a:rPr>
              <a:t>Task-CRUD im Board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46C4D0"/>
                </a:solidFill>
                <a:latin typeface="Segoe UI"/>
              </a:rPr>
              <a:t>▪ </a:t>
            </a:r>
            <a:r>
              <a:rPr sz="1450" b="0" i="0">
                <a:solidFill>
                  <a:srgbClr val="DCE7EC"/>
                </a:solidFill>
                <a:latin typeface="Segoe UI"/>
              </a:rPr>
              <a:t>Statusübergänge, Kommentare, Anhang-Refs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46C4D0"/>
                </a:solidFill>
                <a:latin typeface="Segoe UI"/>
              </a:rPr>
              <a:t>▪ </a:t>
            </a:r>
            <a:r>
              <a:rPr sz="1450" b="0" i="0">
                <a:solidFill>
                  <a:srgbClr val="DCE7EC"/>
                </a:solidFill>
                <a:latin typeface="Segoe UI"/>
              </a:rPr>
              <a:t>Permission-Check vor jedem Schreiben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6C4D0"/>
                </a:solidFill>
                <a:latin typeface="Consolas"/>
              </a:rPr>
              <a:t>task.created/assigned/status.changed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5257800"/>
            <a:ext cx="3246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C88"/>
                </a:solidFill>
                <a:latin typeface="Consolas"/>
              </a:rPr>
              <a:t>hängt ab von: + Project (Authz)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600200"/>
            <a:ext cx="3611880" cy="4160520"/>
          </a:xfrm>
          <a:prstGeom prst="rect">
            <a:avLst/>
          </a:prstGeom>
          <a:solidFill>
            <a:srgbClr val="10202C"/>
          </a:solidFill>
          <a:ln w="1524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1600200"/>
            <a:ext cx="3611880" cy="640080"/>
          </a:xfrm>
          <a:prstGeom prst="rect">
            <a:avLst/>
          </a:prstGeom>
          <a:solidFill>
            <a:srgbClr val="142733"/>
          </a:solidFill>
          <a:ln w="1524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1673352"/>
            <a:ext cx="3282696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DCE7EC"/>
                </a:solidFill>
                <a:latin typeface="Segoe UI"/>
              </a:rPr>
              <a:t>Document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1965960"/>
            <a:ext cx="32826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6C4D0"/>
                </a:solidFill>
                <a:latin typeface="Consolas"/>
              </a:rPr>
              <a:t>:8004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468880"/>
            <a:ext cx="3246120" cy="2286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46C4D0"/>
                </a:solidFill>
                <a:latin typeface="Segoe UI"/>
              </a:rPr>
              <a:t>▪ </a:t>
            </a:r>
            <a:r>
              <a:rPr sz="1450" b="0" i="0">
                <a:solidFill>
                  <a:srgbClr val="DCE7EC"/>
                </a:solidFill>
                <a:latin typeface="Segoe UI"/>
              </a:rPr>
              <a:t>Metadaten + Versionierung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46C4D0"/>
                </a:solidFill>
                <a:latin typeface="Segoe UI"/>
              </a:rPr>
              <a:t>▪ </a:t>
            </a:r>
            <a:r>
              <a:rPr sz="1450" b="0" i="0">
                <a:solidFill>
                  <a:srgbClr val="DCE7EC"/>
                </a:solidFill>
                <a:latin typeface="Segoe UI"/>
              </a:rPr>
              <a:t>Bytes per Pre-signed URL direkt Client↔MinIO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46C4D0"/>
                </a:solidFill>
                <a:latin typeface="Segoe UI"/>
              </a:rPr>
              <a:t>▪ </a:t>
            </a:r>
            <a:r>
              <a:rPr sz="1450" b="0" i="0">
                <a:solidFill>
                  <a:srgbClr val="DCE7EC"/>
                </a:solidFill>
                <a:latin typeface="Segoe UI"/>
              </a:rPr>
              <a:t>Storage läuft an den Services vorbei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6C4D0"/>
                </a:solidFill>
                <a:latin typeface="Consolas"/>
              </a:rPr>
              <a:t>document.uploaded / version.created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257800"/>
            <a:ext cx="3246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C88"/>
                </a:solidFill>
                <a:latin typeface="Consolas"/>
              </a:rPr>
              <a:t>hängt ab von: + Project (Authz)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1" i="0">
                <a:solidFill>
                  <a:srgbClr val="E2A33C"/>
                </a:solidFill>
                <a:latin typeface="Consolas"/>
              </a:rPr>
              <a:t>★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ENTWURF · KOMPONENTE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Project — Permission Authority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2:00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03 · ARCHITEKTUR &amp; KOMPONENTEN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11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91640"/>
            <a:ext cx="1554480" cy="5029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7EC"/>
                </a:solidFill>
                <a:latin typeface="Consolas"/>
              </a:rPr>
              <a:t>Task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21408" y="1938528"/>
            <a:ext cx="1444752" cy="850392"/>
          </a:xfrm>
          <a:prstGeom prst="line">
            <a:avLst/>
          </a:prstGeom>
          <a:ln w="16510">
            <a:solidFill>
              <a:srgbClr val="46C4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66928" y="2468880"/>
            <a:ext cx="1554480" cy="5029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7EC"/>
                </a:solidFill>
                <a:latin typeface="Consolas"/>
              </a:rPr>
              <a:t>Document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21408" y="2715768"/>
            <a:ext cx="1444752" cy="73152"/>
          </a:xfrm>
          <a:prstGeom prst="line">
            <a:avLst/>
          </a:prstGeom>
          <a:ln w="16510">
            <a:solidFill>
              <a:srgbClr val="46C4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66928" y="3246120"/>
            <a:ext cx="1554480" cy="5029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7EC"/>
                </a:solidFill>
                <a:latin typeface="Consolas"/>
              </a:rPr>
              <a:t>Notification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121408" y="2788920"/>
            <a:ext cx="1444752" cy="704088"/>
          </a:xfrm>
          <a:prstGeom prst="line">
            <a:avLst/>
          </a:prstGeom>
          <a:ln w="16510">
            <a:solidFill>
              <a:srgbClr val="46C4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66928" y="4023360"/>
            <a:ext cx="1554480" cy="5029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7EC"/>
                </a:solidFill>
                <a:latin typeface="Consolas"/>
              </a:rPr>
              <a:t>Plugin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121408" y="2788920"/>
            <a:ext cx="1444752" cy="1481328"/>
          </a:xfrm>
          <a:prstGeom prst="line">
            <a:avLst/>
          </a:prstGeom>
          <a:ln w="16510">
            <a:solidFill>
              <a:srgbClr val="46C4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566160" y="2331720"/>
            <a:ext cx="2286000" cy="1005840"/>
          </a:xfrm>
          <a:prstGeom prst="rect">
            <a:avLst/>
          </a:prstGeom>
          <a:solidFill>
            <a:srgbClr val="2A2214"/>
          </a:solidFill>
          <a:ln w="2032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2395728"/>
            <a:ext cx="201168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CE7EC"/>
                </a:solidFill>
                <a:latin typeface="Segoe UI"/>
              </a:rPr>
              <a:t>Project :8002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3A8B2"/>
                </a:solidFill>
                <a:latin typeface="Consolas"/>
              </a:rPr>
              <a:t>projects · boards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8B2"/>
                </a:solidFill>
                <a:latin typeface="Consolas"/>
              </a:rPr>
              <a:t>members · roles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3611880"/>
            <a:ext cx="2286000" cy="6400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3657600"/>
            <a:ext cx="20116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DCE7EC"/>
                </a:solidFill>
                <a:latin typeface="Segoe UI"/>
              </a:rPr>
              <a:t>Redis-Cache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8B2"/>
                </a:solidFill>
                <a:latin typeface="Consolas"/>
              </a:rPr>
              <a:t>Permission · TTL 30 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09160" y="3337560"/>
            <a:ext cx="0" cy="274320"/>
          </a:xfrm>
          <a:prstGeom prst="line">
            <a:avLst/>
          </a:prstGeom>
          <a:ln w="12700">
            <a:solidFill>
              <a:srgbClr val="2B4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852160" y="3931920"/>
            <a:ext cx="1097280" cy="0"/>
          </a:xfrm>
          <a:prstGeom prst="line">
            <a:avLst/>
          </a:prstGeom>
          <a:ln w="16510">
            <a:solidFill>
              <a:srgbClr val="E2A3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566160" y="434340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2A33C"/>
                </a:solidFill>
                <a:latin typeface="Consolas"/>
              </a:rPr>
              <a:t>project.member.* → invalidieren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892040"/>
            <a:ext cx="59436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6C4D0"/>
                </a:solidFill>
                <a:latin typeface="Consolas"/>
              </a:rPr>
              <a:t>GET /internal/…/permissions/{userId}  ·  Service-Token HS256 aud:internal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1600200"/>
            <a:ext cx="4572000" cy="182880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87184" y="1709928"/>
            <a:ext cx="4279392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6C4D0"/>
                </a:solidFill>
                <a:latin typeface="Consolas"/>
              </a:rPr>
              <a:t>ROLLEN-MATRIX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223760" y="2103120"/>
          <a:ext cx="420624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926080"/>
              </a:tblGrid>
              <a:tr h="29260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46C4D0"/>
                          </a:solidFill>
                          <a:latin typeface="Consolas"/>
                        </a:rPr>
                        <a:t>Rolle</a:t>
                      </a:r>
                    </a:p>
                  </a:txBody>
                  <a:tcPr anchor="ctr" marL="91440" marT="9144" marB="9144">
                    <a:solidFill>
                      <a:srgbClr val="14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46C4D0"/>
                          </a:solidFill>
                          <a:latin typeface="Consolas"/>
                        </a:rPr>
                        <a:t>Rechte</a:t>
                      </a:r>
                    </a:p>
                  </a:txBody>
                  <a:tcPr anchor="ctr" marL="91440" marT="9144" marB="9144">
                    <a:solidFill>
                      <a:srgbClr val="1427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DCE7EC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 anchor="ctr" marL="91440" marT="9144" marB="9144">
                    <a:solidFill>
                      <a:srgbClr val="1020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DCE7EC"/>
                          </a:solidFill>
                          <a:latin typeface="Segoe UI"/>
                        </a:rPr>
                        <a:t>full</a:t>
                      </a:r>
                    </a:p>
                  </a:txBody>
                  <a:tcPr anchor="ctr" marL="91440" marT="9144" marB="9144">
                    <a:solidFill>
                      <a:srgbClr val="10202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DCE7EC"/>
                          </a:solidFill>
                          <a:latin typeface="Segoe UI"/>
                        </a:rPr>
                        <a:t>Editor</a:t>
                      </a:r>
                    </a:p>
                  </a:txBody>
                  <a:tcPr anchor="ctr" marL="91440" marT="9144" marB="9144">
                    <a:solidFill>
                      <a:srgbClr val="1020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DCE7EC"/>
                          </a:solidFill>
                          <a:latin typeface="Segoe UI"/>
                        </a:rPr>
                        <a:t>Tasks+Docs full · Rest read</a:t>
                      </a:r>
                    </a:p>
                  </a:txBody>
                  <a:tcPr anchor="ctr" marL="91440" marT="9144" marB="9144">
                    <a:solidFill>
                      <a:srgbClr val="10202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DCE7EC"/>
                          </a:solidFill>
                          <a:latin typeface="Segoe UI"/>
                        </a:rPr>
                        <a:t>Viewer</a:t>
                      </a:r>
                    </a:p>
                  </a:txBody>
                  <a:tcPr anchor="ctr" marL="91440" marT="9144" marB="9144">
                    <a:solidFill>
                      <a:srgbClr val="1020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DCE7EC"/>
                          </a:solidFill>
                          <a:latin typeface="Segoe UI"/>
                        </a:rPr>
                        <a:t>read</a:t>
                      </a:r>
                    </a:p>
                  </a:txBody>
                  <a:tcPr anchor="ctr" marL="91440" marT="9144" marB="9144">
                    <a:solidFill>
                      <a:srgbClr val="10202C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040880" y="3611880"/>
            <a:ext cx="4572000" cy="2286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400" b="0" i="0">
                <a:solidFill>
                  <a:srgbClr val="DCE7EC"/>
                </a:solidFill>
                <a:latin typeface="Segoe UI"/>
              </a:rPr>
              <a:t>Einzige </a:t>
            </a:r>
            <a:r>
              <a:rPr sz="1400" b="1" i="0">
                <a:solidFill>
                  <a:srgbClr val="DCE7EC"/>
                </a:solidFill>
                <a:latin typeface="Segoe UI"/>
              </a:rPr>
              <a:t>autoritative Quelle</a:t>
            </a:r>
            <a:r>
              <a:rPr sz="1400" b="0" i="0">
                <a:solidFill>
                  <a:srgbClr val="DCE7EC"/>
                </a:solidFill>
                <a:latin typeface="Segoe UI"/>
              </a:rPr>
              <a:t> für Berechtigungen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400" b="0" i="0">
                <a:solidFill>
                  <a:srgbClr val="DCE7EC"/>
                </a:solidFill>
                <a:latin typeface="Segoe UI"/>
              </a:rPr>
              <a:t>Synchron nur, wenn der Nutzer sofort eine Antwort braucht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400" b="0" i="0">
                <a:solidFill>
                  <a:srgbClr val="DCE7EC"/>
                </a:solidFill>
                <a:latin typeface="Segoe UI"/>
              </a:rPr>
              <a:t>Project = Owner der Board-Instanzen (≠ Board-Typen der Registry)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1" i="0">
                <a:solidFill>
                  <a:srgbClr val="E2A33C"/>
                </a:solidFill>
                <a:latin typeface="Consolas"/>
              </a:rPr>
              <a:t>★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ENTWURF · KOMPONENTE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Notification — Realtime &amp; bewusst Stateful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2:00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03 · ARCHITEKTUR &amp; KOMPONENTEN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12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00200"/>
            <a:ext cx="1005840" cy="384048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8B2"/>
                </a:solidFill>
                <a:latin typeface="Consolas"/>
              </a:rPr>
              <a:t>Client 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1984248"/>
            <a:ext cx="0" cy="621792"/>
          </a:xfrm>
          <a:prstGeom prst="line">
            <a:avLst/>
          </a:prstGeom>
          <a:ln w="15240">
            <a:solidFill>
              <a:srgbClr val="46C4D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783080" y="1600200"/>
            <a:ext cx="1005840" cy="384048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8B2"/>
                </a:solidFill>
                <a:latin typeface="Consolas"/>
              </a:rPr>
              <a:t>Client 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86000" y="1984248"/>
            <a:ext cx="0" cy="621792"/>
          </a:xfrm>
          <a:prstGeom prst="line">
            <a:avLst/>
          </a:prstGeom>
          <a:ln w="15240">
            <a:solidFill>
              <a:srgbClr val="46C4D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023360" y="1600200"/>
            <a:ext cx="1005840" cy="384048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8B2"/>
                </a:solidFill>
                <a:latin typeface="Consolas"/>
              </a:rPr>
              <a:t>Client 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26280" y="1984248"/>
            <a:ext cx="0" cy="621792"/>
          </a:xfrm>
          <a:prstGeom prst="line">
            <a:avLst/>
          </a:prstGeom>
          <a:ln w="15240">
            <a:solidFill>
              <a:srgbClr val="46C4D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166360" y="1600200"/>
            <a:ext cx="1005840" cy="384048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8B2"/>
                </a:solidFill>
                <a:latin typeface="Consolas"/>
              </a:rPr>
              <a:t>Client 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0" y="1984248"/>
            <a:ext cx="0" cy="621792"/>
          </a:xfrm>
          <a:prstGeom prst="line">
            <a:avLst/>
          </a:prstGeom>
          <a:ln w="15240">
            <a:solidFill>
              <a:srgbClr val="46C4D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" y="2606040"/>
            <a:ext cx="2148840" cy="685800"/>
          </a:xfrm>
          <a:prstGeom prst="rect">
            <a:avLst/>
          </a:prstGeom>
          <a:solidFill>
            <a:srgbClr val="142733"/>
          </a:solidFill>
          <a:ln w="1778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7EC"/>
                </a:solidFill>
                <a:latin typeface="Segoe UI"/>
              </a:rPr>
              <a:t>Notif · Instanz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8B2"/>
                </a:solidFill>
                <a:latin typeface="Consolas"/>
              </a:rPr>
              <a:t>:8005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2606040"/>
            <a:ext cx="2148840" cy="685800"/>
          </a:xfrm>
          <a:prstGeom prst="rect">
            <a:avLst/>
          </a:prstGeom>
          <a:solidFill>
            <a:srgbClr val="142733"/>
          </a:solidFill>
          <a:ln w="1778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7EC"/>
                </a:solidFill>
                <a:latin typeface="Segoe UI"/>
              </a:rPr>
              <a:t>Notif · Instanz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8B2"/>
                </a:solidFill>
                <a:latin typeface="Consolas"/>
              </a:rPr>
              <a:t>:8005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3611880"/>
            <a:ext cx="4023360" cy="548640"/>
          </a:xfrm>
          <a:prstGeom prst="rect">
            <a:avLst/>
          </a:prstGeom>
          <a:solidFill>
            <a:srgbClr val="0F2830"/>
          </a:solidFill>
          <a:ln w="1778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6C4D0"/>
                </a:solidFill>
                <a:latin typeface="Segoe UI"/>
              </a:rPr>
              <a:t>Redis Pub/Sub — Backplane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645920" y="3291840"/>
            <a:ext cx="731520" cy="320040"/>
          </a:xfrm>
          <a:prstGeom prst="line">
            <a:avLst/>
          </a:prstGeom>
          <a:ln w="15240">
            <a:solidFill>
              <a:srgbClr val="46C4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389120" y="3291840"/>
            <a:ext cx="731520" cy="320040"/>
          </a:xfrm>
          <a:prstGeom prst="line">
            <a:avLst/>
          </a:prstGeom>
          <a:ln w="15240">
            <a:solidFill>
              <a:srgbClr val="46C4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371600" y="4343400"/>
            <a:ext cx="2194560" cy="566928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7EC"/>
                </a:solidFill>
                <a:latin typeface="Segoe UI"/>
              </a:rPr>
              <a:t>RabbitMQ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2A33C"/>
                </a:solidFill>
                <a:latin typeface="Consolas"/>
              </a:rPr>
              <a:t>task.* · project.* · document.*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1737360" y="4160520"/>
            <a:ext cx="274320" cy="182880"/>
          </a:xfrm>
          <a:prstGeom prst="line">
            <a:avLst/>
          </a:prstGeom>
          <a:ln w="16510">
            <a:solidFill>
              <a:srgbClr val="E2A3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023360" y="4343400"/>
            <a:ext cx="2148840" cy="566928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CE7EC"/>
                </a:solidFill>
                <a:latin typeface="Segoe UI"/>
              </a:rPr>
              <a:t>DB · notifications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8B2"/>
                </a:solidFill>
                <a:latin typeface="Consolas"/>
              </a:rPr>
              <a:t>persistent · @Mentions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1691640"/>
            <a:ext cx="4846320" cy="4114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Einzige bewusst </a:t>
            </a:r>
            <a:r>
              <a:rPr sz="1500" b="1" i="0">
                <a:solidFill>
                  <a:srgbClr val="DCE7EC"/>
                </a:solidFill>
                <a:latin typeface="Segoe UI"/>
              </a:rPr>
              <a:t>zustandsbehaftete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 Komponente — offene WS-Verbindungen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1" i="0">
                <a:solidFill>
                  <a:srgbClr val="DCE7EC"/>
                </a:solidFill>
                <a:latin typeface="Segoe UI"/>
              </a:rPr>
              <a:t>Kernproblem: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 Event trifft Instanz A, User hängt an Instanz B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1" i="0">
                <a:solidFill>
                  <a:srgbClr val="DCE7EC"/>
                </a:solidFill>
                <a:latin typeface="Segoe UI"/>
              </a:rPr>
              <a:t>Lösung: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 Redis-Backplane verteilt an alle → jede pusht lokale Connections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Vor dem Push Filter gegen Project-Permissions — </a:t>
            </a:r>
            <a:r>
              <a:rPr sz="1500" b="1" i="0">
                <a:solidFill>
                  <a:srgbClr val="DCE7EC"/>
                </a:solidFill>
                <a:latin typeface="Segoe UI"/>
              </a:rPr>
              <a:t>kein Leak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Persistente Notifications zusätzlich in DB (REST)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1" i="0">
                <a:solidFill>
                  <a:srgbClr val="E2A33C"/>
                </a:solidFill>
                <a:latin typeface="Consolas"/>
              </a:rPr>
              <a:t>★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ENTWURF · KOMPONENTE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Plugin / Webhook — Delivery-Pipeline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2:00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03 · ARCHITEKTUR &amp; KOMPONENTEN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13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0200"/>
            <a:ext cx="5394960" cy="5029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01  </a:t>
            </a:r>
            <a:r>
              <a:rPr sz="1400" b="0" i="0">
                <a:solidFill>
                  <a:srgbClr val="DCE7EC"/>
                </a:solidFill>
                <a:latin typeface="Segoe UI"/>
              </a:rPr>
              <a:t>RabbitMQ-Event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2103120"/>
            <a:ext cx="0" cy="155448"/>
          </a:xfrm>
          <a:prstGeom prst="line">
            <a:avLst/>
          </a:prstGeom>
          <a:ln w="15240">
            <a:solidFill>
              <a:srgbClr val="2B49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66928" y="2258568"/>
            <a:ext cx="5394960" cy="5029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02  </a:t>
            </a:r>
            <a:r>
              <a:rPr sz="1400" b="0" i="0">
                <a:solidFill>
                  <a:srgbClr val="DCE7EC"/>
                </a:solidFill>
                <a:latin typeface="Segoe UI"/>
              </a:rPr>
              <a:t>Idempotenz-Check · processed_events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97280" y="2761488"/>
            <a:ext cx="0" cy="155448"/>
          </a:xfrm>
          <a:prstGeom prst="line">
            <a:avLst/>
          </a:prstGeom>
          <a:ln w="15240">
            <a:solidFill>
              <a:srgbClr val="2B49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66928" y="2916936"/>
            <a:ext cx="5394960" cy="5029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03  </a:t>
            </a:r>
            <a:r>
              <a:rPr sz="1400" b="0" i="0">
                <a:solidFill>
                  <a:srgbClr val="DCE7EC"/>
                </a:solidFill>
                <a:latin typeface="Segoe UI"/>
              </a:rPr>
              <a:t>Webhook-Matching · project_id + event_filter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97280" y="3419856"/>
            <a:ext cx="0" cy="155448"/>
          </a:xfrm>
          <a:prstGeom prst="line">
            <a:avLst/>
          </a:prstGeom>
          <a:ln w="15240">
            <a:solidFill>
              <a:srgbClr val="2B49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66928" y="3575304"/>
            <a:ext cx="5394960" cy="5029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04  </a:t>
            </a:r>
            <a:r>
              <a:rPr sz="1400" b="0" i="0">
                <a:solidFill>
                  <a:srgbClr val="DCE7EC"/>
                </a:solidFill>
                <a:latin typeface="Segoe UI"/>
              </a:rPr>
              <a:t>INSERT webhook_deliveries (pending)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7280" y="4078224"/>
            <a:ext cx="0" cy="155448"/>
          </a:xfrm>
          <a:prstGeom prst="line">
            <a:avLst/>
          </a:prstGeom>
          <a:ln w="15240">
            <a:solidFill>
              <a:srgbClr val="2B49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66928" y="4233672"/>
            <a:ext cx="5394960" cy="5029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05  </a:t>
            </a:r>
            <a:r>
              <a:rPr sz="1400" b="0" i="0">
                <a:solidFill>
                  <a:srgbClr val="DCE7EC"/>
                </a:solidFill>
                <a:latin typeface="Segoe UI"/>
              </a:rPr>
              <a:t>Delivery-Worker · Poll 1 s · FOR UPDATE SKIP LOCKED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97280" y="4736592"/>
            <a:ext cx="0" cy="155448"/>
          </a:xfrm>
          <a:prstGeom prst="line">
            <a:avLst/>
          </a:prstGeom>
          <a:ln w="15240">
            <a:solidFill>
              <a:srgbClr val="2B49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66928" y="4892040"/>
            <a:ext cx="5394960" cy="5029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06  </a:t>
            </a:r>
            <a:r>
              <a:rPr sz="1400" b="0" i="0">
                <a:solidFill>
                  <a:srgbClr val="DCE7EC"/>
                </a:solidFill>
                <a:latin typeface="Segoe UI"/>
              </a:rPr>
              <a:t>HTTP POST → Update (delivered / failed)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600200"/>
            <a:ext cx="5303520" cy="21031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1709928"/>
            <a:ext cx="5010912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6C4D0"/>
                </a:solidFill>
                <a:latin typeface="Consolas"/>
              </a:rPr>
              <a:t>DESIGN: DB ALS QUEUE &amp; AUDIT-LOG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148840"/>
            <a:ext cx="493776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350" b="0" i="0">
                <a:solidFill>
                  <a:srgbClr val="DCE7EC"/>
                </a:solidFill>
                <a:latin typeface="Segoe UI"/>
              </a:rPr>
              <a:t>Kein separater Job-Broker — eine Persistenz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350" b="0" i="0">
                <a:solidFill>
                  <a:srgbClr val="DCE7EC"/>
                </a:solidFill>
                <a:latin typeface="Segoe UI"/>
              </a:rPr>
              <a:t>Volle SQL-Abfragbarkeit · Multi-Worker-safe (SKIP LOCKED)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350" b="0" i="0">
                <a:solidFill>
                  <a:srgbClr val="DCE7EC"/>
                </a:solidFill>
                <a:latin typeface="Segoe UI"/>
              </a:rPr>
              <a:t>Volles Event-Envelope gespeichert → Retry ist autonom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886200"/>
            <a:ext cx="5303520" cy="169164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3995928"/>
            <a:ext cx="5010912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6C4D0"/>
                </a:solidFill>
                <a:latin typeface="Consolas"/>
              </a:rPr>
              <a:t>DELIVERY-HEADER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389120"/>
            <a:ext cx="49377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93A8B2"/>
                </a:solidFill>
                <a:latin typeface="Consolas"/>
              </a:rPr>
              <a:t>X-TeamBoard-Event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93A8B2"/>
                </a:solidFill>
                <a:latin typeface="Consolas"/>
              </a:rPr>
              <a:t>X-TeamBoard-Delivery-Id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93A8B2"/>
                </a:solidFill>
                <a:latin typeface="Consolas"/>
              </a:rPr>
              <a:t>X-TeamBoard-Signature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93A8B2"/>
                </a:solidFill>
                <a:latin typeface="Consolas"/>
              </a:rPr>
              <a:t>X-TeamBoard-Timestamp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1" i="0">
                <a:solidFill>
                  <a:srgbClr val="E2A33C"/>
                </a:solidFill>
                <a:latin typeface="Consolas"/>
              </a:rPr>
              <a:t>★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ENTWURF · KOMPONENTE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Plugin — Resilienz, Sicherheit &amp; Erweiterung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2:00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03 · ARCHITEKTUR &amp; KOMPONENTEN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14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0200"/>
            <a:ext cx="5486400" cy="160020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691640"/>
            <a:ext cx="5157216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6C4D0"/>
                </a:solidFill>
                <a:latin typeface="Consolas"/>
              </a:rPr>
              <a:t>1 · Retry / Backoff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057400"/>
            <a:ext cx="5157216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6C4D0"/>
                </a:solidFill>
                <a:latin typeface="Consolas"/>
              </a:rPr>
              <a:t>30s → 2m → 10m → 30m → 2h → 6h → 24h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6C4D0"/>
                </a:solidFill>
                <a:latin typeface="Segoe UI"/>
              </a:rPr>
              <a:t>◆ </a:t>
            </a:r>
            <a:r>
              <a:rPr sz="1250" b="0" i="0">
                <a:solidFill>
                  <a:srgbClr val="DCE7EC"/>
                </a:solidFill>
                <a:latin typeface="Segoe UI"/>
              </a:rPr>
              <a:t>±20 % Jitter · max. ~33 h → DLQ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6C4D0"/>
                </a:solidFill>
                <a:latin typeface="Segoe UI"/>
              </a:rPr>
              <a:t>◆ </a:t>
            </a:r>
            <a:r>
              <a:rPr sz="1250" b="0" i="0">
                <a:solidFill>
                  <a:srgbClr val="DCE7EC"/>
                </a:solidFill>
                <a:latin typeface="Segoe UI"/>
              </a:rPr>
              <a:t>Sofort-DLQ: 410 Gone, harte 4xx (außer 408/425/429)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1600200"/>
            <a:ext cx="5486400" cy="160020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91640"/>
            <a:ext cx="5157216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6C4D0"/>
                </a:solidFill>
                <a:latin typeface="Consolas"/>
              </a:rPr>
              <a:t>2 · Circuit Breaker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057400"/>
            <a:ext cx="5157216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CE7EC"/>
                </a:solidFill>
                <a:latin typeface="Consolas"/>
              </a:rPr>
              <a:t>Closed —[5×]→ Open —(30s)→ Half-Open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6C4D0"/>
                </a:solidFill>
                <a:latin typeface="Segoe UI"/>
              </a:rPr>
              <a:t>◆ </a:t>
            </a:r>
            <a:r>
              <a:rPr sz="1250" b="0" i="0">
                <a:solidFill>
                  <a:srgbClr val="DCE7EC"/>
                </a:solidFill>
                <a:latin typeface="Segoe UI"/>
              </a:rPr>
              <a:t>[1 Erfolg] → Closed · [1 Fehler] → Open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6C4D0"/>
                </a:solidFill>
                <a:latin typeface="Segoe UI"/>
              </a:rPr>
              <a:t>◆ </a:t>
            </a:r>
            <a:r>
              <a:rPr sz="1250" b="0" i="0">
                <a:solidFill>
                  <a:srgbClr val="DCE7EC"/>
                </a:solidFill>
                <a:latin typeface="Segoe UI"/>
              </a:rPr>
              <a:t>pro Ziel-URL · gobreaker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10128"/>
            <a:ext cx="5486400" cy="160020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01568"/>
            <a:ext cx="5157216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6C4D0"/>
                </a:solidFill>
                <a:latin typeface="Consolas"/>
              </a:rPr>
              <a:t>3 · HMAC-Signatur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67328"/>
            <a:ext cx="5157216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6C4D0"/>
                </a:solidFill>
                <a:latin typeface="Consolas"/>
              </a:rPr>
              <a:t>sha256(secret, "&lt;ts&gt;.&lt;body&gt;")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6C4D0"/>
                </a:solidFill>
                <a:latin typeface="Segoe UI"/>
              </a:rPr>
              <a:t>◆ </a:t>
            </a:r>
            <a:r>
              <a:rPr sz="1250" b="0" i="0">
                <a:solidFill>
                  <a:srgbClr val="DCE7EC"/>
                </a:solidFill>
                <a:latin typeface="Segoe UI"/>
              </a:rPr>
              <a:t>Header Signature / Timestamp · 5-min-Skew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6C4D0"/>
                </a:solidFill>
                <a:latin typeface="Segoe UI"/>
              </a:rPr>
              <a:t>◆ </a:t>
            </a:r>
            <a:r>
              <a:rPr sz="1250" b="0" i="0">
                <a:solidFill>
                  <a:srgbClr val="DCE7EC"/>
                </a:solidFill>
                <a:latin typeface="Segoe UI"/>
              </a:rPr>
              <a:t>Secret nur einmal sichtbar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3310128"/>
            <a:ext cx="5486400" cy="160020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401568"/>
            <a:ext cx="5157216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6C4D0"/>
                </a:solidFill>
                <a:latin typeface="Consolas"/>
              </a:rPr>
              <a:t>4 · SSRF-Schutz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767328"/>
            <a:ext cx="5157216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6C4D0"/>
                </a:solidFill>
                <a:latin typeface="Segoe UI"/>
              </a:rPr>
              <a:t>◆ </a:t>
            </a:r>
            <a:r>
              <a:rPr sz="1250" b="0" i="0">
                <a:solidFill>
                  <a:srgbClr val="DCE7EC"/>
                </a:solidFill>
                <a:latin typeface="Segoe UI"/>
              </a:rPr>
              <a:t>Private / Loopback / Link-Local + 169.254.169.254 blockiert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6C4D0"/>
                </a:solidFill>
                <a:latin typeface="Segoe UI"/>
              </a:rPr>
              <a:t>◆ </a:t>
            </a:r>
            <a:r>
              <a:rPr sz="1250" b="0" i="0">
                <a:solidFill>
                  <a:srgbClr val="DCE7EC"/>
                </a:solidFill>
                <a:latin typeface="Segoe UI"/>
              </a:rPr>
              <a:t>Port-Whitelist 80/443/8080/8443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6C4D0"/>
                </a:solidFill>
                <a:latin typeface="Segoe UI"/>
              </a:rPr>
              <a:t>◆ </a:t>
            </a:r>
            <a:r>
              <a:rPr sz="1250" b="0" i="0">
                <a:solidFill>
                  <a:srgbClr val="DCE7EC"/>
                </a:solidFill>
                <a:latin typeface="Segoe UI"/>
              </a:rPr>
              <a:t>Re-Check beim Delivery gegen DNS-Rebinding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120640"/>
            <a:ext cx="11045952" cy="777240"/>
          </a:xfrm>
          <a:prstGeom prst="rect">
            <a:avLst/>
          </a:prstGeom>
          <a:solidFill>
            <a:srgbClr val="2A2214"/>
          </a:solidFill>
          <a:ln w="1270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212080"/>
            <a:ext cx="1069848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2A33C"/>
                </a:solidFill>
                <a:latin typeface="Segoe UI"/>
              </a:rPr>
              <a:t>Plugin-Erweiterungspunkt: </a:t>
            </a:r>
            <a:r>
              <a:rPr sz="1350" b="0" i="0">
                <a:solidFill>
                  <a:srgbClr val="DCE7EC"/>
                </a:solidFill>
                <a:latin typeface="Consolas"/>
              </a:rPr>
              <a:t>Interface Plugin{ Type() · Match() · Deliver() } + Registry</a:t>
            </a:r>
            <a:r>
              <a:rPr sz="1350" b="0" i="0">
                <a:solidFill>
                  <a:srgbClr val="93A8B2"/>
                </a:solidFill>
                <a:latin typeface="Segoe UI"/>
              </a:rPr>
              <a:t> — heute nur webhook; vorgesehen: slack · teams · email · discord · transformer · inbound (YAGNI).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1" i="0">
                <a:solidFill>
                  <a:srgbClr val="E2A33C"/>
                </a:solidFill>
                <a:latin typeface="Consolas"/>
              </a:rPr>
              <a:t>★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ENTWURF · KOMPONENTE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Board Registry &amp; Erweiterbarkeit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2:30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03 · ARCHITEKTUR &amp; KOMPONENTEN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15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60020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6C4D0"/>
                </a:solidFill>
                <a:latin typeface="Consolas"/>
              </a:rPr>
              <a:t>RUNTIME-REGISTRIERUNG · ADR 0001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011680"/>
            <a:ext cx="2468880" cy="1188720"/>
          </a:xfrm>
          <a:prstGeom prst="rect">
            <a:avLst/>
          </a:prstGeom>
          <a:solidFill>
            <a:srgbClr val="2A181A"/>
          </a:solidFill>
          <a:ln w="13970">
            <a:solidFill>
              <a:srgbClr val="E0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103120"/>
            <a:ext cx="219456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06B6B"/>
                </a:solidFill>
                <a:latin typeface="Segoe UI"/>
              </a:rPr>
              <a:t>vorher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CE7EC"/>
                </a:solidFill>
                <a:latin typeface="Segoe UI"/>
              </a:rPr>
              <a:t>compile-time boardplugins/ → neuer Typ = Recompile + Redeploy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377440"/>
            <a:ext cx="548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46C4D0"/>
                </a:solidFill>
                <a:latin typeface="Consola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011680"/>
            <a:ext cx="2286000" cy="1188720"/>
          </a:xfrm>
          <a:prstGeom prst="rect">
            <a:avLst/>
          </a:prstGeom>
          <a:solidFill>
            <a:srgbClr val="122A22"/>
          </a:solidFill>
          <a:ln w="13970">
            <a:solidFill>
              <a:srgbClr val="4FB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3904" y="2103120"/>
            <a:ext cx="201168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FB477"/>
                </a:solidFill>
                <a:latin typeface="Segoe UI"/>
              </a:rPr>
              <a:t>nachher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CE7EC"/>
                </a:solidFill>
                <a:latin typeface="Segoe UI"/>
              </a:rPr>
              <a:t>Board Registry :8007 ·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POST /board-types</a:t>
            </a:r>
            <a:r>
              <a:rPr sz="1200" b="0" i="0">
                <a:solidFill>
                  <a:srgbClr val="DCE7EC"/>
                </a:solidFill>
                <a:latin typeface="Segoe UI"/>
              </a:rPr>
              <a:t> zur Laufzeit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383280"/>
            <a:ext cx="54864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2A33C"/>
                </a:solidFill>
                <a:latin typeface="Consolas"/>
              </a:rPr>
              <a:t>boardtype.*</a:t>
            </a:r>
            <a:r>
              <a:rPr sz="1300" b="0" i="0">
                <a:solidFill>
                  <a:srgbClr val="93A8B2"/>
                </a:solidFill>
                <a:latin typeface="Segoe UI"/>
              </a:rPr>
              <a:t>-Event → Project invalidiert TTL-Cache. Registry hält default_columns (inkl. </a:t>
            </a:r>
            <a:r>
              <a:rPr sz="1300" b="1" i="0">
                <a:solidFill>
                  <a:srgbClr val="DCE7EC"/>
                </a:solidFill>
                <a:latin typeface="Segoe UI"/>
              </a:rPr>
              <a:t>status</a:t>
            </a:r>
            <a:r>
              <a:rPr sz="1300" b="0" i="0">
                <a:solidFill>
                  <a:srgbClr val="93A8B2"/>
                </a:solidFill>
                <a:latin typeface="Segoe UI"/>
              </a:rPr>
              <a:t>), config_schema, presentation.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60020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6C4D0"/>
                </a:solidFill>
                <a:latin typeface="Consolas"/>
              </a:rPr>
              <a:t>PRÄSENTATION &amp; REMOTE-ROADMAP · ADR 0002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011680"/>
            <a:ext cx="5303520" cy="228600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3A8B2"/>
                </a:solidFill>
                <a:latin typeface="Consolas"/>
              </a:rPr>
              <a:t>presentation.view 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560320"/>
            <a:ext cx="1508760" cy="384048"/>
          </a:xfrm>
          <a:prstGeom prst="rect">
            <a:avLst/>
          </a:prstGeom>
          <a:solidFill>
            <a:srgbClr val="10202C"/>
          </a:solidFill>
          <a:ln w="1270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C4D0"/>
                </a:solidFill>
                <a:latin typeface="Consolas"/>
              </a:rPr>
              <a:t>BoardView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2560320"/>
            <a:ext cx="1508760" cy="384048"/>
          </a:xfrm>
          <a:prstGeom prst="rect">
            <a:avLst/>
          </a:prstGeom>
          <a:solidFill>
            <a:srgbClr val="10202C"/>
          </a:solidFill>
          <a:ln w="1270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C4D0"/>
                </a:solidFill>
                <a:latin typeface="Consolas"/>
              </a:rPr>
              <a:t>CalendarView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560320"/>
            <a:ext cx="1508760" cy="384048"/>
          </a:xfrm>
          <a:prstGeom prst="rect">
            <a:avLst/>
          </a:prstGeom>
          <a:solidFill>
            <a:srgbClr val="10202C"/>
          </a:solidFill>
          <a:ln w="1270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C4D0"/>
                </a:solidFill>
                <a:latin typeface="Consolas"/>
              </a:rPr>
              <a:t>GanttView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017520"/>
            <a:ext cx="49377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A8B2"/>
                </a:solidFill>
                <a:latin typeface="Segoe UI"/>
              </a:rPr>
              <a:t>Unbekannt → Fallback BoardView.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383280"/>
            <a:ext cx="4937760" cy="777240"/>
          </a:xfrm>
          <a:prstGeom prst="rect">
            <a:avLst/>
          </a:prstGeom>
          <a:solidFill>
            <a:srgbClr val="10202C"/>
          </a:solidFill>
          <a:ln w="19050">
            <a:solidFill>
              <a:srgbClr val="E2A3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474719"/>
            <a:ext cx="466344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2A33C"/>
                </a:solidFill>
                <a:latin typeface="Consolas"/>
              </a:rPr>
              <a:t>view:"remote"</a:t>
            </a:r>
            <a:r>
              <a:rPr sz="1300" b="0" i="0">
                <a:solidFill>
                  <a:srgbClr val="DCE7EC"/>
                </a:solidFill>
                <a:latin typeface="Segoe UI"/>
              </a:rPr>
              <a:t> → Micro-Frontend / Module-Federation, ohne SPA-Redeploy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577840"/>
            <a:ext cx="11045952" cy="731520"/>
          </a:xfrm>
          <a:prstGeom prst="rect">
            <a:avLst/>
          </a:prstGeom>
          <a:solidFill>
            <a:srgbClr val="2A2214"/>
          </a:solidFill>
          <a:ln w="1270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669280"/>
            <a:ext cx="106984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2A33C"/>
                </a:solidFill>
                <a:latin typeface="Segoe UI"/>
              </a:rPr>
              <a:t>Der einzige Erweiterungspunkt</a:t>
            </a:r>
            <a:r>
              <a:rPr sz="1300" b="0" i="0">
                <a:solidFill>
                  <a:srgbClr val="DCE7EC"/>
                </a:solidFill>
                <a:latin typeface="Segoe UI"/>
              </a:rPr>
              <a:t> ist </a:t>
            </a:r>
            <a:r>
              <a:rPr sz="1300" b="0" i="0">
                <a:solidFill>
                  <a:srgbClr val="46C4D0"/>
                </a:solidFill>
                <a:latin typeface="Consolas"/>
              </a:rPr>
              <a:t>presentation.view</a:t>
            </a:r>
            <a:r>
              <a:rPr sz="1300" b="0" i="0">
                <a:solidFill>
                  <a:srgbClr val="93A8B2"/>
                </a:solidFill>
                <a:latin typeface="Segoe UI"/>
              </a:rPr>
              <a:t> — heute eingebaute Renderer, morgen remote, ohne Modell-Umbau. Schreib-Authz noch offen (Backlog).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ENTWURF · ZUSAMMENSPIEL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Permission- &amp; Event-Flow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2:00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03 · ARCHITEKTUR &amp; KOMPONENTEN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16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0200"/>
            <a:ext cx="5394960" cy="41605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709928"/>
            <a:ext cx="5102352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6C4D0"/>
                </a:solidFill>
                <a:latin typeface="Consolas"/>
              </a:rPr>
              <a:t>SYNCHRON · PERMISSION-CHECK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651760"/>
            <a:ext cx="822960" cy="365760"/>
          </a:xfrm>
          <a:prstGeom prst="rect">
            <a:avLst/>
          </a:prstGeom>
          <a:solidFill>
            <a:srgbClr val="10202C"/>
          </a:solidFill>
          <a:ln w="1524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CE7EC"/>
                </a:solidFill>
                <a:latin typeface="Consolas"/>
              </a:rPr>
              <a:t>Task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80160" y="3017520"/>
            <a:ext cx="0" cy="2377440"/>
          </a:xfrm>
          <a:prstGeom prst="line">
            <a:avLst/>
          </a:prstGeom>
          <a:ln w="12700">
            <a:solidFill>
              <a:srgbClr val="2B4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709160" y="2651760"/>
            <a:ext cx="822960" cy="365760"/>
          </a:xfrm>
          <a:prstGeom prst="rect">
            <a:avLst/>
          </a:prstGeom>
          <a:solidFill>
            <a:srgbClr val="10202C"/>
          </a:solidFill>
          <a:ln w="1524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CE7EC"/>
                </a:solidFill>
                <a:latin typeface="Consolas"/>
              </a:rPr>
              <a:t>Project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20640" y="3017520"/>
            <a:ext cx="0" cy="2377440"/>
          </a:xfrm>
          <a:prstGeom prst="line">
            <a:avLst/>
          </a:prstGeom>
          <a:ln w="12700">
            <a:solidFill>
              <a:srgbClr val="2B4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80160" y="3291840"/>
            <a:ext cx="3840480" cy="0"/>
          </a:xfrm>
          <a:prstGeom prst="line">
            <a:avLst/>
          </a:prstGeom>
          <a:ln w="16510">
            <a:solidFill>
              <a:srgbClr val="46C4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71600" y="3035808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6C4D0"/>
                </a:solidFill>
                <a:latin typeface="Consolas"/>
              </a:rPr>
              <a:t>GET /internal/…/permissions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3566160"/>
            <a:ext cx="1005840" cy="365760"/>
          </a:xfrm>
          <a:prstGeom prst="rect">
            <a:avLst/>
          </a:prstGeom>
          <a:solidFill>
            <a:srgbClr val="142733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8B2"/>
                </a:solidFill>
                <a:latin typeface="Consolas"/>
              </a:rPr>
              <a:t>Redis?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280160" y="4206240"/>
            <a:ext cx="3840480" cy="0"/>
          </a:xfrm>
          <a:prstGeom prst="line">
            <a:avLst/>
          </a:prstGeom>
          <a:ln w="16510">
            <a:solidFill>
              <a:srgbClr val="DCE7E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63040" y="3950208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{ role, permissions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937760"/>
            <a:ext cx="50292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8B2"/>
                </a:solidFill>
                <a:latin typeface="Segoe UI"/>
              </a:rPr>
              <a:t>Service-Token · TTL 30 s · Event-invalidiert · nur wenn der Nutzer sofort Antwort braucht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600200"/>
            <a:ext cx="5440680" cy="41605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8504" y="1709928"/>
            <a:ext cx="5148072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2A33C"/>
                </a:solidFill>
                <a:latin typeface="Consolas"/>
              </a:rPr>
              <a:t>ASYNCHRON · OUTBOX → EVENT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148840"/>
            <a:ext cx="5074920" cy="438912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A33C"/>
                </a:solidFill>
                <a:latin typeface="Consolas"/>
              </a:rPr>
              <a:t>01  </a:t>
            </a:r>
            <a:r>
              <a:rPr sz="1300" b="0" i="0">
                <a:solidFill>
                  <a:srgbClr val="DCE7EC"/>
                </a:solidFill>
                <a:latin typeface="Segoe UI"/>
              </a:rPr>
              <a:t>Daten + Outbox in einer Transaktion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66560" y="2587752"/>
            <a:ext cx="0" cy="128016"/>
          </a:xfrm>
          <a:prstGeom prst="line">
            <a:avLst/>
          </a:prstGeom>
          <a:ln w="12700">
            <a:solidFill>
              <a:srgbClr val="2B49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355080" y="2715768"/>
            <a:ext cx="5074920" cy="438912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A33C"/>
                </a:solidFill>
                <a:latin typeface="Consolas"/>
              </a:rPr>
              <a:t>02  </a:t>
            </a:r>
            <a:r>
              <a:rPr sz="1300" b="0" i="0">
                <a:solidFill>
                  <a:srgbClr val="DCE7EC"/>
                </a:solidFill>
                <a:latin typeface="Segoe UI"/>
              </a:rPr>
              <a:t>outbox-Worker pollt (SKIP LOCKED)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66560" y="3154680"/>
            <a:ext cx="0" cy="128016"/>
          </a:xfrm>
          <a:prstGeom prst="line">
            <a:avLst/>
          </a:prstGeom>
          <a:ln w="12700">
            <a:solidFill>
              <a:srgbClr val="2B49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355080" y="3282696"/>
            <a:ext cx="5074920" cy="438912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A33C"/>
                </a:solidFill>
                <a:latin typeface="Consolas"/>
              </a:rPr>
              <a:t>03  </a:t>
            </a:r>
            <a:r>
              <a:rPr sz="1300" b="0" i="0">
                <a:solidFill>
                  <a:srgbClr val="DCE7EC"/>
                </a:solidFill>
                <a:latin typeface="Segoe UI"/>
              </a:rPr>
              <a:t>Publish Envelope → teamboard.events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66560" y="3721608"/>
            <a:ext cx="0" cy="128016"/>
          </a:xfrm>
          <a:prstGeom prst="line">
            <a:avLst/>
          </a:prstGeom>
          <a:ln w="12700">
            <a:solidFill>
              <a:srgbClr val="2B49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355080" y="3849624"/>
            <a:ext cx="5074920" cy="438912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A33C"/>
                </a:solidFill>
                <a:latin typeface="Consolas"/>
              </a:rPr>
              <a:t>04  </a:t>
            </a:r>
            <a:r>
              <a:rPr sz="1300" b="0" i="0">
                <a:solidFill>
                  <a:srgbClr val="DCE7EC"/>
                </a:solidFill>
                <a:latin typeface="Segoe UI"/>
              </a:rPr>
              <a:t>Publisher-Confirm → published_at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766560" y="4288536"/>
            <a:ext cx="0" cy="128016"/>
          </a:xfrm>
          <a:prstGeom prst="line">
            <a:avLst/>
          </a:prstGeom>
          <a:ln w="12700">
            <a:solidFill>
              <a:srgbClr val="2B49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355080" y="4416552"/>
            <a:ext cx="5074920" cy="438912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A33C"/>
                </a:solidFill>
                <a:latin typeface="Consolas"/>
              </a:rPr>
              <a:t>05  </a:t>
            </a:r>
            <a:r>
              <a:rPr sz="1300" b="0" i="0">
                <a:solidFill>
                  <a:srgbClr val="DCE7EC"/>
                </a:solidFill>
                <a:latin typeface="Segoe UI"/>
              </a:rPr>
              <a:t>Consumer idempotent · processed_events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120640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8B2"/>
                </a:solidFill>
                <a:latin typeface="Consolas"/>
              </a:rPr>
              <a:t>event_id · type · version · trace_id · actor · payload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ENTWURF · ARTEFAKTE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Repository &amp; Artefakte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0:45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03 · ARCHITEKTUR &amp; KOMPONENTEN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17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0200"/>
            <a:ext cx="5577840" cy="393192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28800"/>
            <a:ext cx="5212080" cy="3474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46C4D0"/>
                </a:solidFill>
                <a:latin typeface="Consolas"/>
              </a:rPr>
              <a:t>teamboard/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93A8B2"/>
                </a:solidFill>
                <a:latin typeface="Consolas"/>
              </a:rPr>
              <a:t>├─ services/{auth,project,…,boardregistry}/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93A8B2"/>
                </a:solidFill>
                <a:latin typeface="Consolas"/>
              </a:rPr>
              <a:t>├─ shared/go/{authmiddleware,eventbus,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93A8B2"/>
                </a:solidFill>
                <a:latin typeface="Consolas"/>
              </a:rPr>
              <a:t>    outbox,servicetoken,observability,httputil}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93A8B2"/>
                </a:solidFill>
                <a:latin typeface="Consolas"/>
              </a:rPr>
              <a:t>├─ docs/{ARCHITECTURE.md, decisions/ADR-000x,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93A8B2"/>
                </a:solidFill>
                <a:latin typeface="Consolas"/>
              </a:rPr>
              <a:t>    services/*.md}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93A8B2"/>
                </a:solidFill>
                <a:latin typeface="Consolas"/>
              </a:rPr>
              <a:t>├─ frontend/ · infra/traefik/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93A8B2"/>
                </a:solidFill>
                <a:latin typeface="Consolas"/>
              </a:rPr>
              <a:t>└─ Makefile · docker-compose*.yml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874520"/>
            <a:ext cx="1371600" cy="137160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C88"/>
                </a:solidFill>
                <a:latin typeface="Consolas"/>
              </a:rPr>
              <a:t>QR
Repo-Link
[einsetzen]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874520"/>
            <a:ext cx="3566160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46C4D0"/>
                </a:solidFill>
                <a:latin typeface="Consolas"/>
              </a:rPr>
              <a:t>fh-wedel/MSA-26-TeamBoard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400" b="0" i="0">
                <a:solidFill>
                  <a:srgbClr val="DCE7EC"/>
                </a:solidFill>
                <a:latin typeface="Segoe UI"/>
              </a:rPr>
              <a:t>Service-Detaildocs · ADRs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400" b="0" i="0">
                <a:solidFill>
                  <a:srgbClr val="DCE7EC"/>
                </a:solidFill>
                <a:latin typeface="Segoe UI"/>
              </a:rPr>
              <a:t>OpenAPI / AsyncAPI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400" b="0" i="0">
                <a:solidFill>
                  <a:srgbClr val="DCE7EC"/>
                </a:solidFill>
                <a:latin typeface="Segoe UI"/>
              </a:rPr>
              <a:t>Demo-Notebooks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77640"/>
            <a:ext cx="512064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8B2"/>
                </a:solidFill>
                <a:latin typeface="Segoe UI"/>
              </a:rPr>
              <a:t>Doku war </a:t>
            </a:r>
            <a:r>
              <a:rPr sz="1400" b="1" i="0">
                <a:solidFill>
                  <a:srgbClr val="DCE7EC"/>
                </a:solidFill>
                <a:latin typeface="Segoe UI"/>
              </a:rPr>
              <a:t>Grundlage, nicht Nachdokumentation</a:t>
            </a:r>
            <a:r>
              <a:rPr sz="1400" b="0" i="0">
                <a:solidFill>
                  <a:srgbClr val="93A8B2"/>
                </a:solidFill>
                <a:latin typeface="Segoe UI"/>
              </a:rPr>
              <a:t> — Brücke zur KI-Reflexion.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REALISIERUNG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Software-Stack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1:00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04 · REALISIERUNG &amp; 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18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0200"/>
            <a:ext cx="1828800" cy="566928"/>
          </a:xfrm>
          <a:prstGeom prst="rect">
            <a:avLst/>
          </a:prstGeom>
          <a:solidFill>
            <a:srgbClr val="142733"/>
          </a:solidFill>
          <a:ln w="1270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CE7EC"/>
                </a:solidFill>
                <a:latin typeface="Segoe UI"/>
              </a:rPr>
              <a:t>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1600200"/>
            <a:ext cx="9098280" cy="566928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CE7EC"/>
                </a:solidFill>
                <a:latin typeface="Segoe UI"/>
              </a:rPr>
              <a:t>Go 1.22 · Chi-Router · sqlc + pgx/v5 · golang-migrate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286000"/>
            <a:ext cx="1828800" cy="566928"/>
          </a:xfrm>
          <a:prstGeom prst="rect">
            <a:avLst/>
          </a:prstGeom>
          <a:solidFill>
            <a:srgbClr val="142733"/>
          </a:solidFill>
          <a:ln w="1270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CE7EC"/>
                </a:solidFill>
                <a:latin typeface="Segoe UI"/>
              </a:rPr>
              <a:t>Daten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2286000"/>
            <a:ext cx="9098280" cy="566928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CE7EC"/>
                </a:solidFill>
                <a:latin typeface="Segoe UI"/>
              </a:rPr>
              <a:t>PostgreSQL 16 · Redis 7 · RabbitMQ 3.12 · MinIO/S3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971800"/>
            <a:ext cx="1828800" cy="566928"/>
          </a:xfrm>
          <a:prstGeom prst="rect">
            <a:avLst/>
          </a:prstGeom>
          <a:solidFill>
            <a:srgbClr val="142733"/>
          </a:solidFill>
          <a:ln w="1270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CE7EC"/>
                </a:solidFill>
                <a:latin typeface="Segoe UI"/>
              </a:rPr>
              <a:t>Edge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2971800"/>
            <a:ext cx="9098280" cy="566928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CE7EC"/>
                </a:solidFill>
                <a:latin typeface="Segoe UI"/>
              </a:rPr>
              <a:t>Traefik — lokal &amp; Prod (auf der EC2-Box)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657600"/>
            <a:ext cx="1828800" cy="566928"/>
          </a:xfrm>
          <a:prstGeom prst="rect">
            <a:avLst/>
          </a:prstGeom>
          <a:solidFill>
            <a:srgbClr val="142733"/>
          </a:solidFill>
          <a:ln w="1270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CE7EC"/>
                </a:solidFill>
                <a:latin typeface="Segoe UI"/>
              </a:rPr>
              <a:t>Frontend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3657600"/>
            <a:ext cx="9098280" cy="566928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CE7EC"/>
                </a:solidFill>
                <a:latin typeface="Segoe UI"/>
              </a:rPr>
              <a:t>React + TypeScript · Vite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343400"/>
            <a:ext cx="1828800" cy="566928"/>
          </a:xfrm>
          <a:prstGeom prst="rect">
            <a:avLst/>
          </a:prstGeom>
          <a:solidFill>
            <a:srgbClr val="142733"/>
          </a:solidFill>
          <a:ln w="1270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CE7EC"/>
                </a:solidFill>
                <a:latin typeface="Segoe UI"/>
              </a:rPr>
              <a:t>Ops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4343400"/>
            <a:ext cx="9098280" cy="566928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CE7EC"/>
                </a:solidFill>
                <a:latin typeface="Segoe UI"/>
              </a:rPr>
              <a:t>Docker Compose · GitHub Actions · GHCR · AWS EC2 · OpenTelemetry / Jaeger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3A8B2"/>
                </a:solidFill>
                <a:latin typeface="Segoe UI"/>
              </a:rPr>
              <a:t>Go für schlanke, nebenläufige Services · sqlc = typsichere Queries ohne ORM-Magie · Spec-first: OpenAPI → sqlc → Handler → Tests.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REALISIERUNG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Vorgehen bei der Programmerstellung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1:30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04 · REALISIERUNG &amp; 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19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3200400"/>
            <a:ext cx="1554480" cy="914400"/>
          </a:xfrm>
          <a:prstGeom prst="rect">
            <a:avLst/>
          </a:prstGeom>
          <a:solidFill>
            <a:srgbClr val="0F2830"/>
          </a:solidFill>
          <a:ln w="1524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C4D0"/>
                </a:solidFill>
                <a:latin typeface="Consolas"/>
              </a:rPr>
              <a:t>Source of Truth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1645920"/>
            <a:ext cx="1737360" cy="548640"/>
          </a:xfrm>
          <a:prstGeom prst="rect">
            <a:avLst/>
          </a:prstGeom>
          <a:solidFill>
            <a:srgbClr val="142733"/>
          </a:solidFill>
          <a:ln w="1651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7EC"/>
                </a:solidFill>
                <a:latin typeface="Consolas"/>
              </a:rPr>
              <a:t>Planen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3383280"/>
            <a:ext cx="1737360" cy="548640"/>
          </a:xfrm>
          <a:prstGeom prst="rect">
            <a:avLst/>
          </a:prstGeom>
          <a:solidFill>
            <a:srgbClr val="142733"/>
          </a:solidFill>
          <a:ln w="1651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7EC"/>
                </a:solidFill>
                <a:latin typeface="Consolas"/>
              </a:rPr>
              <a:t>Dokumentieren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5120640"/>
            <a:ext cx="1737360" cy="548640"/>
          </a:xfrm>
          <a:prstGeom prst="rect">
            <a:avLst/>
          </a:prstGeom>
          <a:solidFill>
            <a:srgbClr val="142733"/>
          </a:solidFill>
          <a:ln w="1651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7EC"/>
                </a:solidFill>
                <a:latin typeface="Consolas"/>
              </a:rPr>
              <a:t>Impl. +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" y="3383280"/>
            <a:ext cx="1737360" cy="548640"/>
          </a:xfrm>
          <a:prstGeom prst="rect">
            <a:avLst/>
          </a:prstGeom>
          <a:solidFill>
            <a:srgbClr val="142733"/>
          </a:solidFill>
          <a:ln w="1651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CE7EC"/>
                </a:solidFill>
                <a:latin typeface="Consolas"/>
              </a:rPr>
              <a:t>Doku synchron.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26080" y="1920240"/>
            <a:ext cx="2011680" cy="1737360"/>
          </a:xfrm>
          <a:prstGeom prst="line">
            <a:avLst/>
          </a:prstGeom>
          <a:ln w="15240">
            <a:solidFill>
              <a:srgbClr val="46C4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926080" y="3657600"/>
            <a:ext cx="2011680" cy="1737360"/>
          </a:xfrm>
          <a:prstGeom prst="line">
            <a:avLst/>
          </a:prstGeom>
          <a:ln w="15240">
            <a:solidFill>
              <a:srgbClr val="46C4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914400" y="3657600"/>
            <a:ext cx="2011680" cy="1737360"/>
          </a:xfrm>
          <a:prstGeom prst="line">
            <a:avLst/>
          </a:prstGeom>
          <a:ln w="15240">
            <a:solidFill>
              <a:srgbClr val="46C4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14400" y="1920240"/>
            <a:ext cx="2011680" cy="1737360"/>
          </a:xfrm>
          <a:prstGeom prst="line">
            <a:avLst/>
          </a:prstGeom>
          <a:ln w="15240">
            <a:solidFill>
              <a:srgbClr val="46C4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09360" y="1783080"/>
            <a:ext cx="5303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6C4D0"/>
                </a:solidFill>
                <a:latin typeface="Consolas"/>
              </a:rPr>
              <a:t>DOKU-FIRST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240280"/>
            <a:ext cx="5303520" cy="3200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1" i="0">
                <a:solidFill>
                  <a:srgbClr val="DCE7EC"/>
                </a:solidFill>
                <a:latin typeface="Segoe UI"/>
              </a:rPr>
              <a:t>Source of Truth: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 ARCHITECTURE.md + Service-Docs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1" i="0">
                <a:solidFill>
                  <a:srgbClr val="DCE7EC"/>
                </a:solidFill>
                <a:latin typeface="Segoe UI"/>
              </a:rPr>
              <a:t>Spec-first: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 OpenAPI → sqlc → Handler → Tests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Jedes Feature erst planen, dann bauen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Tests Pflicht: Domain-Unit + Repository-Integration (Testcontainers)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1" i="0">
                <a:solidFill>
                  <a:srgbClr val="E2A33C"/>
                </a:solidFill>
                <a:latin typeface="Consolas"/>
              </a:rPr>
              <a:t>★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REALISIERUNG · 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Agentic Engineering — Herangehensweise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2:00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04 · REALISIERUNG &amp; 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20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0200"/>
            <a:ext cx="3566160" cy="24688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783080"/>
            <a:ext cx="3200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6C4D0"/>
                </a:solidFill>
                <a:latin typeface="Consolas"/>
              </a:rPr>
              <a:t>PHASE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94560"/>
            <a:ext cx="3200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CE7EC"/>
                </a:solidFill>
                <a:latin typeface="Segoe UI"/>
              </a:rPr>
              <a:t>Gemeinsame Planung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788920"/>
            <a:ext cx="320040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8B2"/>
                </a:solidFill>
                <a:latin typeface="Segoe UI"/>
              </a:rPr>
              <a:t>Team + Opus 4.7 zusammen — Komponenten-Zuschnitt schon im Dialog mit dem Modell.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1" y="1600200"/>
            <a:ext cx="3566160" cy="24688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1" y="1783080"/>
            <a:ext cx="3200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6C4D0"/>
                </a:solidFill>
                <a:latin typeface="Consolas"/>
              </a:rPr>
              <a:t>PHASE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1" y="2194560"/>
            <a:ext cx="3200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CE7EC"/>
                </a:solidFill>
                <a:latin typeface="Segoe UI"/>
              </a:rPr>
              <a:t>Architektur vor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1" y="2788920"/>
            <a:ext cx="320040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8B2"/>
                </a:solidFill>
                <a:latin typeface="Segoe UI"/>
              </a:rPr>
              <a:t>Dokument-Stapel (alle Services · Code-Style · Doc-Style · Testing) bevor Code entsteht.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4" y="1600200"/>
            <a:ext cx="3566160" cy="246888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4" y="1783080"/>
            <a:ext cx="3200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6C4D0"/>
                </a:solidFill>
                <a:latin typeface="Consolas"/>
              </a:rPr>
              <a:t>PHASE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4" y="2194560"/>
            <a:ext cx="3200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CE7EC"/>
                </a:solidFill>
                <a:latin typeface="Segoe UI"/>
              </a:rPr>
              <a:t>Feature-Loop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4" y="2788920"/>
            <a:ext cx="320040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8B2"/>
                </a:solidFill>
                <a:latin typeface="Segoe UI"/>
              </a:rPr>
              <a:t>Wiederholtes plan → build → doc.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709160"/>
            <a:ext cx="11045952" cy="914400"/>
          </a:xfrm>
          <a:prstGeom prst="rect">
            <a:avLst/>
          </a:prstGeom>
          <a:solidFill>
            <a:srgbClr val="0F2830"/>
          </a:solidFill>
          <a:ln w="1524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846320"/>
            <a:ext cx="1069848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DCE7EC"/>
                </a:solidFill>
                <a:latin typeface="Segoe UI"/>
              </a:rPr>
              <a:t>„Doku als </a:t>
            </a:r>
            <a:r>
              <a:rPr sz="1800" b="1" i="0">
                <a:solidFill>
                  <a:srgbClr val="46C4D0"/>
                </a:solidFill>
                <a:latin typeface="Segoe UI"/>
              </a:rPr>
              <a:t>Vertrag für den Agent</a:t>
            </a:r>
            <a:r>
              <a:rPr sz="1800" b="0" i="0">
                <a:solidFill>
                  <a:srgbClr val="DCE7EC"/>
                </a:solidFill>
                <a:latin typeface="Segoe UI"/>
              </a:rPr>
              <a:t> — nicht Nachdokumentation.“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1" i="0">
                <a:solidFill>
                  <a:srgbClr val="E2A33C"/>
                </a:solidFill>
                <a:latin typeface="Consolas"/>
              </a:rPr>
              <a:t>★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REALISIERUNG · 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Agentic Engineering — Reflexion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2:30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04 · REALISIERUNG &amp; 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21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0200"/>
            <a:ext cx="5394960" cy="3108960"/>
          </a:xfrm>
          <a:prstGeom prst="rect">
            <a:avLst/>
          </a:prstGeom>
          <a:solidFill>
            <a:srgbClr val="122A22"/>
          </a:solidFill>
          <a:ln w="13970">
            <a:solidFill>
              <a:srgbClr val="4FB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737360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B477"/>
                </a:solidFill>
                <a:latin typeface="Segoe UI"/>
              </a:rPr>
              <a:t>✓ Lief gut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5029200" cy="2377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4FB477"/>
                </a:solidFill>
                <a:latin typeface="Segoe UI"/>
              </a:rPr>
              <a:t>◆  </a:t>
            </a:r>
            <a:r>
              <a:rPr sz="1350" b="0" i="0">
                <a:solidFill>
                  <a:srgbClr val="DCE7EC"/>
                </a:solidFill>
                <a:latin typeface="Segoe UI"/>
              </a:rPr>
              <a:t>Ausführliche Vorab-Doku → direkt gut strukturiertes, funktional relativ vollständiges Grundgerüst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4FB477"/>
                </a:solidFill>
                <a:latin typeface="Segoe UI"/>
              </a:rPr>
              <a:t>◆  </a:t>
            </a:r>
            <a:r>
              <a:rPr sz="1350" b="0" i="0">
                <a:solidFill>
                  <a:srgbClr val="DCE7EC"/>
                </a:solidFill>
                <a:latin typeface="Segoe UI"/>
              </a:rPr>
              <a:t>Struktur erlaubte schnelles Anfügen neuer Features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4FB477"/>
                </a:solidFill>
                <a:latin typeface="Segoe UI"/>
              </a:rPr>
              <a:t>◆  </a:t>
            </a:r>
            <a:r>
              <a:rPr sz="1350" b="0" i="0">
                <a:solidFill>
                  <a:srgbClr val="DCE7EC"/>
                </a:solidFill>
                <a:latin typeface="Segoe UI"/>
              </a:rPr>
              <a:t>Bei regelmäßigem Doku-Update wenige Blind Spots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600200"/>
            <a:ext cx="5440680" cy="3108960"/>
          </a:xfrm>
          <a:prstGeom prst="rect">
            <a:avLst/>
          </a:prstGeom>
          <a:solidFill>
            <a:srgbClr val="2A181A"/>
          </a:solidFill>
          <a:ln w="13970">
            <a:solidFill>
              <a:srgbClr val="E0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737360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06B6B"/>
                </a:solidFill>
                <a:latin typeface="Segoe UI"/>
              </a:rPr>
              <a:t>⚠ Lief nicht so gut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240280"/>
            <a:ext cx="5029200" cy="2377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E06B6B"/>
                </a:solidFill>
                <a:latin typeface="Segoe UI"/>
              </a:rPr>
              <a:t>◆  </a:t>
            </a:r>
            <a:r>
              <a:rPr sz="1350" b="0" i="0">
                <a:solidFill>
                  <a:srgbClr val="DCE7EC"/>
                </a:solidFill>
                <a:latin typeface="Segoe UI"/>
              </a:rPr>
              <a:t>Nach ersten Änderungen viele Blind Spots — Doku oft nicht automatisch mitgezogen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E06B6B"/>
                </a:solidFill>
                <a:latin typeface="Segoe UI"/>
              </a:rPr>
              <a:t>◆  </a:t>
            </a:r>
            <a:r>
              <a:rPr sz="1350" b="0" i="0">
                <a:solidFill>
                  <a:srgbClr val="DCE7EC"/>
                </a:solidFill>
                <a:latin typeface="Segoe UI"/>
              </a:rPr>
              <a:t>Anfangs nur „Quick Solutions“, teils unvermerkt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E06B6B"/>
                </a:solidFill>
                <a:latin typeface="Segoe UI"/>
              </a:rPr>
              <a:t>◆  </a:t>
            </a:r>
            <a:r>
              <a:rPr sz="1350" b="0" i="0">
                <a:solidFill>
                  <a:srgbClr val="DCE7EC"/>
                </a:solidFill>
                <a:latin typeface="Segoe UI"/>
              </a:rPr>
              <a:t>Bei größeren Umstellungen (v. a. Frontend) kommentarlos entfernte Funktionalität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937760"/>
            <a:ext cx="11045952" cy="914400"/>
          </a:xfrm>
          <a:prstGeom prst="rect">
            <a:avLst/>
          </a:prstGeom>
          <a:solidFill>
            <a:srgbClr val="2A2214"/>
          </a:solidFill>
          <a:ln w="1270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029200"/>
            <a:ext cx="10698480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2A33C"/>
                </a:solidFill>
                <a:latin typeface="Segoe UI"/>
              </a:rPr>
              <a:t>Fallstudie Auth: </a:t>
            </a:r>
            <a:r>
              <a:rPr sz="1350" b="0" i="0">
                <a:solidFill>
                  <a:srgbClr val="93A8B2"/>
                </a:solidFill>
                <a:latin typeface="Segoe UI"/>
              </a:rPr>
              <a:t>zu Beginn nur Pseudo-Validierung der Tokens — später aufwendig auf echtes RS256/JWKS nachgezogen. Learning: enge Reviews + Doku-Sync als Disziplin, nicht als Automatismus.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REALISIERUNG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Herausforderungen (jenseits KI)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1:00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04 · REALISIERUNG &amp; 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22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0200"/>
            <a:ext cx="5486400" cy="196596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783080"/>
            <a:ext cx="5120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6C4D0"/>
                </a:solidFill>
                <a:latin typeface="Consolas"/>
              </a:rPr>
              <a:t>Koordination im Monorepo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377440"/>
            <a:ext cx="51206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CE7EC"/>
                </a:solidFill>
                <a:latin typeface="Segoe UI"/>
              </a:rPr>
              <a:t>Mehrere Leute, ein Repo — Event-Schema als geteilter Vertrag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1600200"/>
            <a:ext cx="5486400" cy="196596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783080"/>
            <a:ext cx="5120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6C4D0"/>
                </a:solidFill>
                <a:latin typeface="Consolas"/>
              </a:rPr>
              <a:t>Verteiltes Debugging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377440"/>
            <a:ext cx="51206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CE7EC"/>
                </a:solidFill>
                <a:latin typeface="Segoe UI"/>
              </a:rPr>
              <a:t>Fehler über Service-Grenzen — Trace-ID durch Gateway → Services → RabbitMQ-Header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749040"/>
            <a:ext cx="5486400" cy="196596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931920"/>
            <a:ext cx="5120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6C4D0"/>
                </a:solidFill>
                <a:latin typeface="Consolas"/>
              </a:rPr>
              <a:t>Scope / Zeit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526280"/>
            <a:ext cx="51206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CE7EC"/>
                </a:solidFill>
                <a:latin typeface="Segoe UI"/>
              </a:rPr>
              <a:t>MVP vs. Nice-to-have — härtester Teil; Backlog dokumentiert Ausgelassenes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3749040"/>
            <a:ext cx="5486400" cy="196596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3931920"/>
            <a:ext cx="5120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6C4D0"/>
                </a:solidFill>
                <a:latin typeface="Consolas"/>
              </a:rPr>
              <a:t>Konsistenz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4526280"/>
            <a:ext cx="51206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CE7EC"/>
                </a:solidFill>
                <a:latin typeface="Segoe UI"/>
              </a:rPr>
              <a:t>Eventual Consistency mental modellieren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Deployment — ein Kommando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1:00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05 · DEPLOYMENT &amp;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23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0200"/>
            <a:ext cx="5120640" cy="2103120"/>
          </a:xfrm>
          <a:prstGeom prst="rect">
            <a:avLst/>
          </a:prstGeom>
          <a:solidFill>
            <a:srgbClr val="061016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783080"/>
            <a:ext cx="475488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7C88"/>
                </a:solidFill>
                <a:latin typeface="Consolas"/>
              </a:rPr>
              <a:t># Repo auschecken &amp; hochfahren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FB477"/>
                </a:solidFill>
                <a:latin typeface="Consolas"/>
              </a:rPr>
              <a:t>$ </a:t>
            </a:r>
            <a:r>
              <a:rPr sz="1400" b="0" i="0">
                <a:solidFill>
                  <a:srgbClr val="DCE7EC"/>
                </a:solidFill>
                <a:latin typeface="Consolas"/>
              </a:rPr>
              <a:t>git clone …/MSA-26-TeamBoard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4FB477"/>
                </a:solidFill>
                <a:latin typeface="Consolas"/>
              </a:rPr>
              <a:t>$ </a:t>
            </a:r>
            <a:r>
              <a:rPr sz="1700" b="1" i="0">
                <a:solidFill>
                  <a:srgbClr val="DCE7EC"/>
                </a:solidFill>
                <a:latin typeface="Consolas"/>
              </a:rPr>
              <a:t>make up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47C88"/>
                </a:solidFill>
                <a:latin typeface="Consolas"/>
              </a:rPr>
              <a:t>$ make seed · make logs · make 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886200"/>
            <a:ext cx="51206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3A8B2"/>
                </a:solidFill>
                <a:latin typeface="Segoe UI"/>
              </a:rPr>
              <a:t>Anforderung „ein Kommando“ erfüllt: make up bringt alles hoch.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600200"/>
            <a:ext cx="5669280" cy="105156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1709928"/>
            <a:ext cx="5376672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6C4D0"/>
                </a:solidFill>
                <a:latin typeface="Consolas"/>
              </a:rPr>
              <a:t>LOKAL — DOCKER-COMPOSE-BOX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103120"/>
            <a:ext cx="53035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CE7EC"/>
                </a:solidFill>
                <a:latin typeface="Segoe UI"/>
              </a:rPr>
              <a:t>7 Services + Frontend + Traefik + Postgres/Redis/RabbitMQ/MinIO/Jaeger · Hot-Reload via air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788920"/>
            <a:ext cx="5669280" cy="1188720"/>
          </a:xfrm>
          <a:prstGeom prst="rect">
            <a:avLst/>
          </a:prstGeom>
          <a:solidFill>
            <a:srgbClr val="2A2214"/>
          </a:solidFill>
          <a:ln w="1270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9904" y="2898648"/>
            <a:ext cx="5376672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2A33C"/>
                </a:solidFill>
                <a:latin typeface="Consolas"/>
              </a:rPr>
              <a:t>AWS — GITHUB ACTIONS → GHCR → EC2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291840"/>
            <a:ext cx="5303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CE7EC"/>
                </a:solidFill>
                <a:latin typeface="Segoe UI"/>
              </a:rPr>
              <a:t>Build-Matrix ×8 (SHA+latest) → SSH-Deploy → deploy.sh (flock · .env-Secrets · git reset --hard · compose pull &amp; up -d)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114800"/>
            <a:ext cx="566928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3A8B2"/>
                </a:solidFill>
                <a:latin typeface="Segoe UI"/>
              </a:rPr>
              <a:t>Postgres/Redis/RabbitMQ/MinIO als Container, nicht managed — Auslagern in RDS/ElastiCache/ECS ist niedrig priorisierte Folgearbeit, kein Blocker.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1" i="0">
                <a:solidFill>
                  <a:srgbClr val="E2A33C"/>
                </a:solidFill>
                <a:latin typeface="Consolas"/>
              </a:rPr>
              <a:t>★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Laufendes System — Live-Demo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3:00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05 · DEPLOYMENT &amp;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24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691640"/>
            <a:ext cx="10515600" cy="4114800"/>
          </a:xfrm>
          <a:prstGeom prst="rect">
            <a:avLst/>
          </a:prstGeom>
          <a:solidFill>
            <a:srgbClr val="10202C"/>
          </a:solidFill>
          <a:ln w="19050">
            <a:solidFill>
              <a:srgbClr val="2B495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057400"/>
            <a:ext cx="100584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46C4D0"/>
                </a:solidFill>
                <a:latin typeface="Segoe UI"/>
              </a:rPr>
              <a:t>▶ LIVE-DEMO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63240"/>
            <a:ext cx="6400800" cy="2377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User-Story 02 live nachspielen: Task „In Arbeit“ → „Erledigt“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Zweites Browserfenster für den Realtime-Push (WebSocket)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Wenn Zeit: Runtime-Registrierung eines Board-Typs · make demo-board-types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Screenshots als Fallback bereithalten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17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Realisierter Funktionsumfang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1:00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05 · DEPLOYMENT &amp;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25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60020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B477"/>
                </a:solidFill>
                <a:latin typeface="Consolas"/>
              </a:rPr>
              <a:t>UMGESETZT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11680"/>
            <a:ext cx="5486400" cy="3657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4FB477"/>
                </a:solidFill>
                <a:latin typeface="Consolas"/>
              </a:rPr>
              <a:t>✓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Alle 7 Services + Gateway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4FB477"/>
                </a:solidFill>
                <a:latin typeface="Consolas"/>
              </a:rPr>
              <a:t>✓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Zero-Trust-Auth (RS256/JWKS, Service-Token)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4FB477"/>
                </a:solidFill>
                <a:latin typeface="Consolas"/>
              </a:rPr>
              <a:t>✓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Kanban-Boards: Tasks / Kommentare / Anhänge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4FB477"/>
                </a:solidFill>
                <a:latin typeface="Consolas"/>
              </a:rPr>
              <a:t>✓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Dokument-Versionierung · Realtime-Notifications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4FB477"/>
                </a:solidFill>
                <a:latin typeface="Consolas"/>
              </a:rPr>
              <a:t>✓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Webhooks: Retry / Circuit-Breaker / HMAC / SSRF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4FB477"/>
                </a:solidFill>
                <a:latin typeface="Consolas"/>
              </a:rPr>
              <a:t>✓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Runtime-Board-Typen + Presentation-Spec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4FB477"/>
                </a:solidFill>
                <a:latin typeface="Consolas"/>
              </a:rPr>
              <a:t>✓  </a:t>
            </a:r>
            <a:r>
              <a:rPr sz="1500" b="0" i="0">
                <a:solidFill>
                  <a:srgbClr val="DCE7EC"/>
                </a:solidFill>
                <a:latin typeface="Segoe UI"/>
              </a:rPr>
              <a:t>Ein-Kommando-Deployment + CI/CD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60020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A8B2"/>
                </a:solidFill>
                <a:latin typeface="Consolas"/>
              </a:rPr>
              <a:t>BEWUSST OFFEN · BACKLOG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5486400" cy="3200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47C88"/>
                </a:solidFill>
                <a:latin typeface="Consolas"/>
              </a:rPr>
              <a:t>◦  </a:t>
            </a:r>
            <a:r>
              <a:rPr sz="1500" b="0" i="0">
                <a:solidFill>
                  <a:srgbClr val="93A8B2"/>
                </a:solidFill>
                <a:latin typeface="Segoe UI"/>
              </a:rPr>
              <a:t>Schreib-Authz der Registry (Admin-Rolle)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47C88"/>
                </a:solidFill>
                <a:latin typeface="Consolas"/>
              </a:rPr>
              <a:t>◦  </a:t>
            </a:r>
            <a:r>
              <a:rPr sz="1500" b="0" i="0">
                <a:solidFill>
                  <a:srgbClr val="93A8B2"/>
                </a:solidFill>
                <a:latin typeface="Segoe UI"/>
              </a:rPr>
              <a:t>view:"remote" Micro-Frontends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47C88"/>
                </a:solidFill>
                <a:latin typeface="Consolas"/>
              </a:rPr>
              <a:t>◦  </a:t>
            </a:r>
            <a:r>
              <a:rPr sz="1500" b="0" i="0">
                <a:solidFill>
                  <a:srgbClr val="93A8B2"/>
                </a:solidFill>
                <a:latin typeface="Segoe UI"/>
              </a:rPr>
              <a:t>Per-Board-View-Switch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47C88"/>
                </a:solidFill>
                <a:latin typeface="Consolas"/>
              </a:rPr>
              <a:t>◦  </a:t>
            </a:r>
            <a:r>
              <a:rPr sz="1500" b="0" i="0">
                <a:solidFill>
                  <a:srgbClr val="93A8B2"/>
                </a:solidFill>
                <a:latin typeface="Segoe UI"/>
              </a:rPr>
              <a:t>Inbound-Webhooks + weitere Plugin-Typen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47C88"/>
                </a:solidFill>
                <a:latin typeface="Consolas"/>
              </a:rPr>
              <a:t>◦  </a:t>
            </a:r>
            <a:r>
              <a:rPr sz="1500" b="0" i="0">
                <a:solidFill>
                  <a:srgbClr val="93A8B2"/>
                </a:solidFill>
                <a:latin typeface="Segoe UI"/>
              </a:rPr>
              <a:t>Edge-Observability am Gateway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47C88"/>
                </a:solidFill>
                <a:latin typeface="Consolas"/>
              </a:rPr>
              <a:t>◦  </a:t>
            </a:r>
            <a:r>
              <a:rPr sz="1500" b="0" i="0">
                <a:solidFill>
                  <a:srgbClr val="93A8B2"/>
                </a:solidFill>
                <a:latin typeface="Segoe UI"/>
              </a:rPr>
              <a:t>Managed-AWS-Split (RDS/ElastiCache/ECS)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892040"/>
            <a:ext cx="53035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93A8B2"/>
                </a:solidFill>
                <a:latin typeface="Segoe UI"/>
              </a:rPr>
              <a:t>„Offen“ heißt bewusst priorisiert, nicht vergessen — die Struktur trägt diese Erweiterungen bereits.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ABSCHLUSS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Fazit &amp; Ausblick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1:30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06 · FAZIT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26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0200"/>
            <a:ext cx="5394960" cy="2880360"/>
          </a:xfrm>
          <a:prstGeom prst="rect">
            <a:avLst/>
          </a:prstGeom>
          <a:solidFill>
            <a:srgbClr val="122A22"/>
          </a:solidFill>
          <a:ln w="13970">
            <a:solidFill>
              <a:srgbClr val="4FB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737360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B477"/>
                </a:solidFill>
                <a:latin typeface="Segoe UI"/>
              </a:rPr>
              <a:t>Erreicht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5029200" cy="2103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4FB477"/>
                </a:solidFill>
                <a:latin typeface="Segoe UI"/>
              </a:rPr>
              <a:t>◆  </a:t>
            </a:r>
            <a:r>
              <a:rPr sz="1450" b="0" i="0">
                <a:solidFill>
                  <a:srgbClr val="DCE7EC"/>
                </a:solidFill>
                <a:latin typeface="Segoe UI"/>
              </a:rPr>
              <a:t>Tragfähige Microservice-Architektur entlang Bounded Contexts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4FB477"/>
                </a:solidFill>
                <a:latin typeface="Segoe UI"/>
              </a:rPr>
              <a:t>◆  </a:t>
            </a:r>
            <a:r>
              <a:rPr sz="1450" b="0" i="0">
                <a:solidFill>
                  <a:srgbClr val="DCE7EC"/>
                </a:solidFill>
                <a:latin typeface="Segoe UI"/>
              </a:rPr>
              <a:t>Erweiterbarkeit als First-Class-Konzept (Board Registry, Plugin-Backbone)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4FB477"/>
                </a:solidFill>
                <a:latin typeface="Segoe UI"/>
              </a:rPr>
              <a:t>◆  </a:t>
            </a:r>
            <a:r>
              <a:rPr sz="1450" b="0" i="0">
                <a:solidFill>
                  <a:srgbClr val="DCE7EC"/>
                </a:solidFill>
                <a:latin typeface="Segoe UI"/>
              </a:rPr>
              <a:t>Doku-getriebenes agentisches Vorgehen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600200"/>
            <a:ext cx="5440680" cy="288036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709928"/>
            <a:ext cx="5148072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6C4D0"/>
                </a:solidFill>
                <a:latin typeface="Consolas"/>
              </a:rPr>
              <a:t>NÄCHSTE SCHRITTE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48840"/>
            <a:ext cx="5029200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450" b="0" i="0">
                <a:solidFill>
                  <a:srgbClr val="DCE7EC"/>
                </a:solidFill>
                <a:latin typeface="Segoe UI"/>
              </a:rPr>
              <a:t>Remote-Board-Views (view:"remote")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450" b="0" i="0">
                <a:solidFill>
                  <a:srgbClr val="DCE7EC"/>
                </a:solidFill>
                <a:latin typeface="Segoe UI"/>
              </a:rPr>
              <a:t>Rollen-Authz-Härtung · Managed-Services / ECS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46C4D0"/>
                </a:solidFill>
                <a:latin typeface="Segoe UI"/>
              </a:rPr>
              <a:t>◆  </a:t>
            </a:r>
            <a:r>
              <a:rPr sz="1450" b="0" i="0">
                <a:solidFill>
                  <a:srgbClr val="DCE7EC"/>
                </a:solidFill>
                <a:latin typeface="Segoe UI"/>
              </a:rPr>
              <a:t>Inbound-Integrationen · Edge-Observability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709160"/>
            <a:ext cx="11045952" cy="914400"/>
          </a:xfrm>
          <a:prstGeom prst="rect">
            <a:avLst/>
          </a:prstGeom>
          <a:solidFill>
            <a:srgbClr val="0F2830"/>
          </a:solidFill>
          <a:ln w="15240">
            <a:solidFill>
              <a:srgbClr val="46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846320"/>
            <a:ext cx="1069848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DCE7EC"/>
                </a:solidFill>
                <a:latin typeface="Segoe UI"/>
              </a:rPr>
              <a:t>„Doku-getriebenes </a:t>
            </a:r>
            <a:r>
              <a:rPr sz="1900" b="1" i="0">
                <a:solidFill>
                  <a:srgbClr val="46C4D0"/>
                </a:solidFill>
                <a:latin typeface="Segoe UI"/>
              </a:rPr>
              <a:t>Agentic Engineering</a:t>
            </a:r>
            <a:r>
              <a:rPr sz="1900" b="0" i="0">
                <a:solidFill>
                  <a:srgbClr val="DCE7EC"/>
                </a:solidFill>
                <a:latin typeface="Segoe UI"/>
              </a:rPr>
              <a:t> skaliert — aber nur mit menschlicher Kontrolle.“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5949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71898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7847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796" y="0"/>
            <a:ext cx="2023949" cy="57150"/>
          </a:xfrm>
          <a:prstGeom prst="rect">
            <a:avLst/>
          </a:prstGeom>
          <a:solidFill>
            <a:srgbClr val="24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79745" y="0"/>
            <a:ext cx="2023949" cy="57150"/>
          </a:xfrm>
          <a:prstGeom prst="rect">
            <a:avLst/>
          </a:prstGeom>
          <a:solidFill>
            <a:srgbClr val="4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C4D0"/>
                </a:solidFill>
                <a:latin typeface="Consolas"/>
              </a:rPr>
              <a:t>— </a:t>
            </a:r>
            <a:r>
              <a:rPr sz="1200" b="0" i="0">
                <a:solidFill>
                  <a:srgbClr val="46C4D0"/>
                </a:solidFill>
                <a:latin typeface="Consolas"/>
              </a:rPr>
              <a:t>ABSCHLUSS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6656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CE7EC"/>
                </a:solidFill>
                <a:latin typeface="Segoe UI"/>
              </a:rPr>
              <a:t>Quellenverzeichnis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45720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C88"/>
                </a:solidFill>
                <a:latin typeface="Consolas"/>
              </a:rPr>
              <a:t>0:15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C88"/>
                </a:solidFill>
                <a:latin typeface="Consolas"/>
              </a:rPr>
              <a:t>06 · FAZIT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55664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E7EC"/>
                </a:solidFill>
                <a:latin typeface="Consolas"/>
              </a:rPr>
              <a:t>27</a:t>
            </a:r>
            <a:r>
              <a:rPr sz="1050" b="0" i="0">
                <a:solidFill>
                  <a:srgbClr val="647C88"/>
                </a:solidFill>
                <a:latin typeface="Consolas"/>
              </a:rPr>
              <a:t> /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0200"/>
            <a:ext cx="3566160" cy="320040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709928"/>
            <a:ext cx="3273552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6C4D0"/>
                </a:solidFill>
                <a:latin typeface="Consolas"/>
              </a:rPr>
              <a:t>STANDARDS /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94560"/>
            <a:ext cx="3200400" cy="2468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CE7EC"/>
                </a:solidFill>
                <a:latin typeface="Segoe UI"/>
              </a:rPr>
              <a:t>JSON · OpenAPI / Swagger · AsyncAPI · RabbitMQ · Traefik · sqlc · Google Go Style Guide · RFC 7807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1" y="1600200"/>
            <a:ext cx="3566160" cy="3200400"/>
          </a:xfrm>
          <a:prstGeom prst="rect">
            <a:avLst/>
          </a:prstGeom>
          <a:solidFill>
            <a:srgbClr val="10202C"/>
          </a:solidFill>
          <a:ln w="12700">
            <a:solidFill>
              <a:srgbClr val="2B4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5" y="1709928"/>
            <a:ext cx="3273552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6C4D0"/>
                </a:solidFill>
                <a:latin typeface="Consolas"/>
              </a:rPr>
              <a:t>PROJEKT-INTERN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1" y="2194560"/>
            <a:ext cx="3200400" cy="2468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CE7EC"/>
                </a:solidFill>
                <a:latin typeface="Segoe UI"/>
              </a:rPr>
              <a:t>ARCHITECTURE.md · ADR 0001 / 0002 · Service-Detaildocs · GitHub-Repo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1854" y="1600200"/>
            <a:ext cx="3566160" cy="3200400"/>
          </a:xfrm>
          <a:prstGeom prst="rect">
            <a:avLst/>
          </a:prstGeom>
          <a:solidFill>
            <a:srgbClr val="2A2214"/>
          </a:solidFill>
          <a:ln w="1270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58" y="1709928"/>
            <a:ext cx="3273552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2A33C"/>
                </a:solidFill>
                <a:latin typeface="Consolas"/>
              </a:rPr>
              <a:t>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4" y="2194560"/>
            <a:ext cx="3200400" cy="2468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CE7EC"/>
                </a:solidFill>
                <a:latin typeface="Segoe UI"/>
              </a:rPr>
              <a:t>Eingesetztes Modell: Opus 4.7 + Werkzeugkontext (Claude Code) — durchgängig von Entwurf bis Doku.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